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61" r:id="rId3"/>
    <p:sldId id="265" r:id="rId4"/>
    <p:sldId id="264" r:id="rId5"/>
    <p:sldId id="263" r:id="rId6"/>
    <p:sldId id="266" r:id="rId7"/>
    <p:sldId id="268" r:id="rId8"/>
    <p:sldId id="267" r:id="rId9"/>
    <p:sldId id="269" r:id="rId10"/>
    <p:sldId id="270" r:id="rId11"/>
    <p:sldId id="271" r:id="rId12"/>
    <p:sldId id="272" r:id="rId13"/>
    <p:sldId id="27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6BF6FE8-F662-403E-A3DD-534F4B061CC5}" v="2" dt="2025-12-14T01:54:36.85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6" d="100"/>
          <a:sy n="56" d="100"/>
        </p:scale>
        <p:origin x="1296" y="276"/>
      </p:cViewPr>
      <p:guideLst/>
    </p:cSldViewPr>
  </p:slideViewPr>
  <p:notesTextViewPr>
    <p:cViewPr>
      <p:scale>
        <a:sx n="3" d="2"/>
        <a:sy n="3" d="2"/>
      </p:scale>
      <p:origin x="-6" y="-18"/>
    </p:cViewPr>
  </p:notesText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hn Rolzhausen" userId="f0fced98129e348e" providerId="LiveId" clId="{FAB81778-C2AB-48D5-BA9E-3E19BB729E3D}"/>
    <pc:docChg chg="undo redo custSel addSld delSld modSld sldOrd">
      <pc:chgData name="John Rolzhausen" userId="f0fced98129e348e" providerId="LiveId" clId="{FAB81778-C2AB-48D5-BA9E-3E19BB729E3D}" dt="2025-12-15T21:31:38.931" v="3076" actId="6549"/>
      <pc:docMkLst>
        <pc:docMk/>
      </pc:docMkLst>
      <pc:sldChg chg="modSp mod">
        <pc:chgData name="John Rolzhausen" userId="f0fced98129e348e" providerId="LiveId" clId="{FAB81778-C2AB-48D5-BA9E-3E19BB729E3D}" dt="2025-11-24T17:40:51.941" v="26" actId="207"/>
        <pc:sldMkLst>
          <pc:docMk/>
          <pc:sldMk cId="541631080" sldId="256"/>
        </pc:sldMkLst>
        <pc:spChg chg="mod">
          <ac:chgData name="John Rolzhausen" userId="f0fced98129e348e" providerId="LiveId" clId="{FAB81778-C2AB-48D5-BA9E-3E19BB729E3D}" dt="2025-11-24T17:40:51.941" v="26" actId="207"/>
          <ac:spMkLst>
            <pc:docMk/>
            <pc:sldMk cId="541631080" sldId="256"/>
            <ac:spMk id="2" creationId="{BA1CD438-6906-D9C9-0E77-9F81019FEE87}"/>
          </ac:spMkLst>
        </pc:spChg>
        <pc:spChg chg="mod">
          <ac:chgData name="John Rolzhausen" userId="f0fced98129e348e" providerId="LiveId" clId="{FAB81778-C2AB-48D5-BA9E-3E19BB729E3D}" dt="2025-11-24T17:40:51.452" v="25" actId="114"/>
          <ac:spMkLst>
            <pc:docMk/>
            <pc:sldMk cId="541631080" sldId="256"/>
            <ac:spMk id="3" creationId="{E0BD00E6-CE73-442F-315F-EF02A928A668}"/>
          </ac:spMkLst>
        </pc:spChg>
      </pc:sldChg>
      <pc:sldChg chg="addSp delSp modSp add del mod ord">
        <pc:chgData name="John Rolzhausen" userId="f0fced98129e348e" providerId="LiveId" clId="{FAB81778-C2AB-48D5-BA9E-3E19BB729E3D}" dt="2025-12-15T20:29:27.391" v="3074" actId="6549"/>
        <pc:sldMkLst>
          <pc:docMk/>
          <pc:sldMk cId="343244891" sldId="261"/>
        </pc:sldMkLst>
        <pc:spChg chg="mod">
          <ac:chgData name="John Rolzhausen" userId="f0fced98129e348e" providerId="LiveId" clId="{FAB81778-C2AB-48D5-BA9E-3E19BB729E3D}" dt="2025-11-24T17:57:13.333" v="132" actId="27636"/>
          <ac:spMkLst>
            <pc:docMk/>
            <pc:sldMk cId="343244891" sldId="261"/>
            <ac:spMk id="2" creationId="{A2E3986A-48D7-FE60-326D-5761F00AAF59}"/>
          </ac:spMkLst>
        </pc:spChg>
        <pc:spChg chg="mod">
          <ac:chgData name="John Rolzhausen" userId="f0fced98129e348e" providerId="LiveId" clId="{FAB81778-C2AB-48D5-BA9E-3E19BB729E3D}" dt="2025-11-24T17:57:26.515" v="136" actId="27636"/>
          <ac:spMkLst>
            <pc:docMk/>
            <pc:sldMk cId="343244891" sldId="261"/>
            <ac:spMk id="3" creationId="{7CA2AD9E-B2F2-D73D-E047-C834F9D1EBA2}"/>
          </ac:spMkLst>
        </pc:spChg>
        <pc:spChg chg="mod">
          <ac:chgData name="John Rolzhausen" userId="f0fced98129e348e" providerId="LiveId" clId="{FAB81778-C2AB-48D5-BA9E-3E19BB729E3D}" dt="2025-11-24T18:06:34.501" v="639" actId="1076"/>
          <ac:spMkLst>
            <pc:docMk/>
            <pc:sldMk cId="343244891" sldId="261"/>
            <ac:spMk id="8" creationId="{302A2791-E280-3DB8-2075-BE4D7802D69C}"/>
          </ac:spMkLst>
        </pc:spChg>
        <pc:spChg chg="mod">
          <ac:chgData name="John Rolzhausen" userId="f0fced98129e348e" providerId="LiveId" clId="{FAB81778-C2AB-48D5-BA9E-3E19BB729E3D}" dt="2025-11-24T18:12:54.124" v="680" actId="14100"/>
          <ac:spMkLst>
            <pc:docMk/>
            <pc:sldMk cId="343244891" sldId="261"/>
            <ac:spMk id="9" creationId="{0E2CA347-2964-2DE0-E314-2B0838FBEF5D}"/>
          </ac:spMkLst>
        </pc:spChg>
        <pc:spChg chg="mod">
          <ac:chgData name="John Rolzhausen" userId="f0fced98129e348e" providerId="LiveId" clId="{FAB81778-C2AB-48D5-BA9E-3E19BB729E3D}" dt="2025-11-24T18:06:55.504" v="640" actId="1076"/>
          <ac:spMkLst>
            <pc:docMk/>
            <pc:sldMk cId="343244891" sldId="261"/>
            <ac:spMk id="10" creationId="{2776EADC-8101-1CDE-8FB3-51BAB8DC53DD}"/>
          </ac:spMkLst>
        </pc:spChg>
        <pc:spChg chg="add mod">
          <ac:chgData name="John Rolzhausen" userId="f0fced98129e348e" providerId="LiveId" clId="{FAB81778-C2AB-48D5-BA9E-3E19BB729E3D}" dt="2025-11-24T18:07:11.211" v="643" actId="1076"/>
          <ac:spMkLst>
            <pc:docMk/>
            <pc:sldMk cId="343244891" sldId="261"/>
            <ac:spMk id="15" creationId="{810D0D80-A2FD-A14E-0804-3B74E748D9B5}"/>
          </ac:spMkLst>
        </pc:spChg>
        <pc:spChg chg="add mod">
          <ac:chgData name="John Rolzhausen" userId="f0fced98129e348e" providerId="LiveId" clId="{FAB81778-C2AB-48D5-BA9E-3E19BB729E3D}" dt="2025-11-24T18:07:16.142" v="644" actId="1076"/>
          <ac:spMkLst>
            <pc:docMk/>
            <pc:sldMk cId="343244891" sldId="261"/>
            <ac:spMk id="16" creationId="{E7049CE1-F33B-EF8B-78B7-2C2B06355BC2}"/>
          </ac:spMkLst>
        </pc:spChg>
        <pc:spChg chg="add mod">
          <ac:chgData name="John Rolzhausen" userId="f0fced98129e348e" providerId="LiveId" clId="{FAB81778-C2AB-48D5-BA9E-3E19BB729E3D}" dt="2025-11-24T18:07:19.909" v="645" actId="1076"/>
          <ac:spMkLst>
            <pc:docMk/>
            <pc:sldMk cId="343244891" sldId="261"/>
            <ac:spMk id="19" creationId="{D8372508-5621-45F0-910C-7C7F3B4A7565}"/>
          </ac:spMkLst>
        </pc:spChg>
        <pc:spChg chg="add mod">
          <ac:chgData name="John Rolzhausen" userId="f0fced98129e348e" providerId="LiveId" clId="{FAB81778-C2AB-48D5-BA9E-3E19BB729E3D}" dt="2025-11-24T18:07:24.186" v="646" actId="1076"/>
          <ac:spMkLst>
            <pc:docMk/>
            <pc:sldMk cId="343244891" sldId="261"/>
            <ac:spMk id="22" creationId="{9156B469-5964-F2D6-C637-450F685184A9}"/>
          </ac:spMkLst>
        </pc:spChg>
        <pc:spChg chg="add mod">
          <ac:chgData name="John Rolzhausen" userId="f0fced98129e348e" providerId="LiveId" clId="{FAB81778-C2AB-48D5-BA9E-3E19BB729E3D}" dt="2025-11-24T18:07:31.981" v="647" actId="1076"/>
          <ac:spMkLst>
            <pc:docMk/>
            <pc:sldMk cId="343244891" sldId="261"/>
            <ac:spMk id="23" creationId="{BD902014-8251-1F90-F829-62024CFD390A}"/>
          </ac:spMkLst>
        </pc:spChg>
        <pc:spChg chg="add mod">
          <ac:chgData name="John Rolzhausen" userId="f0fced98129e348e" providerId="LiveId" clId="{FAB81778-C2AB-48D5-BA9E-3E19BB729E3D}" dt="2025-11-24T18:16:59.568" v="702" actId="255"/>
          <ac:spMkLst>
            <pc:docMk/>
            <pc:sldMk cId="343244891" sldId="261"/>
            <ac:spMk id="24" creationId="{FF404100-944B-BAC5-4B07-566CF78F3744}"/>
          </ac:spMkLst>
        </pc:spChg>
        <pc:spChg chg="add mod">
          <ac:chgData name="John Rolzhausen" userId="f0fced98129e348e" providerId="LiveId" clId="{FAB81778-C2AB-48D5-BA9E-3E19BB729E3D}" dt="2025-11-24T18:16:32.047" v="701" actId="255"/>
          <ac:spMkLst>
            <pc:docMk/>
            <pc:sldMk cId="343244891" sldId="261"/>
            <ac:spMk id="25" creationId="{94F1F7EE-EF51-0AA3-C8A0-E6DDED6B6D7A}"/>
          </ac:spMkLst>
        </pc:spChg>
        <pc:spChg chg="add mod">
          <ac:chgData name="John Rolzhausen" userId="f0fced98129e348e" providerId="LiveId" clId="{FAB81778-C2AB-48D5-BA9E-3E19BB729E3D}" dt="2025-12-15T20:29:27.391" v="3074" actId="6549"/>
          <ac:spMkLst>
            <pc:docMk/>
            <pc:sldMk cId="343244891" sldId="261"/>
            <ac:spMk id="26" creationId="{48279DF2-6E3D-1D58-5ADF-052FD9F10DBB}"/>
          </ac:spMkLst>
        </pc:spChg>
        <pc:spChg chg="add mod">
          <ac:chgData name="John Rolzhausen" userId="f0fced98129e348e" providerId="LiveId" clId="{FAB81778-C2AB-48D5-BA9E-3E19BB729E3D}" dt="2025-11-24T18:15:26.171" v="695" actId="20577"/>
          <ac:spMkLst>
            <pc:docMk/>
            <pc:sldMk cId="343244891" sldId="261"/>
            <ac:spMk id="27" creationId="{275C7481-1C7E-4705-B95E-5E02F697ACDA}"/>
          </ac:spMkLst>
        </pc:spChg>
        <pc:spChg chg="add mod">
          <ac:chgData name="John Rolzhausen" userId="f0fced98129e348e" providerId="LiveId" clId="{FAB81778-C2AB-48D5-BA9E-3E19BB729E3D}" dt="2025-11-24T18:15:03.032" v="691" actId="207"/>
          <ac:spMkLst>
            <pc:docMk/>
            <pc:sldMk cId="343244891" sldId="261"/>
            <ac:spMk id="28" creationId="{6EF029DC-3485-6CE3-A3B6-1AEF99B3416D}"/>
          </ac:spMkLst>
        </pc:spChg>
        <pc:spChg chg="add mod">
          <ac:chgData name="John Rolzhausen" userId="f0fced98129e348e" providerId="LiveId" clId="{FAB81778-C2AB-48D5-BA9E-3E19BB729E3D}" dt="2025-11-24T18:15:47.388" v="697"/>
          <ac:spMkLst>
            <pc:docMk/>
            <pc:sldMk cId="343244891" sldId="261"/>
            <ac:spMk id="29" creationId="{E9BEC9F9-CB42-3400-E649-D08AB028A7DE}"/>
          </ac:spMkLst>
        </pc:spChg>
      </pc:sldChg>
      <pc:sldChg chg="addSp delSp modSp add mod ord">
        <pc:chgData name="John Rolzhausen" userId="f0fced98129e348e" providerId="LiveId" clId="{FAB81778-C2AB-48D5-BA9E-3E19BB729E3D}" dt="2025-11-24T19:45:42.769" v="1483"/>
        <pc:sldMkLst>
          <pc:docMk/>
          <pc:sldMk cId="2475428312" sldId="263"/>
        </pc:sldMkLst>
        <pc:spChg chg="mod">
          <ac:chgData name="John Rolzhausen" userId="f0fced98129e348e" providerId="LiveId" clId="{FAB81778-C2AB-48D5-BA9E-3E19BB729E3D}" dt="2025-11-24T19:45:42.769" v="1483"/>
          <ac:spMkLst>
            <pc:docMk/>
            <pc:sldMk cId="2475428312" sldId="263"/>
            <ac:spMk id="2" creationId="{CED8233C-16F7-3326-258E-7CA97ADDD01F}"/>
          </ac:spMkLst>
        </pc:spChg>
        <pc:spChg chg="add mod">
          <ac:chgData name="John Rolzhausen" userId="f0fced98129e348e" providerId="LiveId" clId="{FAB81778-C2AB-48D5-BA9E-3E19BB729E3D}" dt="2025-11-24T18:30:01.668" v="758" actId="6549"/>
          <ac:spMkLst>
            <pc:docMk/>
            <pc:sldMk cId="2475428312" sldId="263"/>
            <ac:spMk id="6" creationId="{C9E13E78-CFC9-839D-F91F-1DE1FCB83D12}"/>
          </ac:spMkLst>
        </pc:spChg>
        <pc:spChg chg="add mod">
          <ac:chgData name="John Rolzhausen" userId="f0fced98129e348e" providerId="LiveId" clId="{FAB81778-C2AB-48D5-BA9E-3E19BB729E3D}" dt="2025-11-24T18:31:23.655" v="773" actId="6549"/>
          <ac:spMkLst>
            <pc:docMk/>
            <pc:sldMk cId="2475428312" sldId="263"/>
            <ac:spMk id="7" creationId="{078CC7FC-5B56-145F-B842-35D8F8B8A2CA}"/>
          </ac:spMkLst>
        </pc:spChg>
        <pc:spChg chg="mod">
          <ac:chgData name="John Rolzhausen" userId="f0fced98129e348e" providerId="LiveId" clId="{FAB81778-C2AB-48D5-BA9E-3E19BB729E3D}" dt="2025-11-24T17:55:13.183" v="119" actId="6549"/>
          <ac:spMkLst>
            <pc:docMk/>
            <pc:sldMk cId="2475428312" sldId="263"/>
            <ac:spMk id="15" creationId="{2478689C-3B96-26E3-A86A-92AF019D2AE3}"/>
          </ac:spMkLst>
        </pc:spChg>
      </pc:sldChg>
      <pc:sldChg chg="addSp delSp modSp add mod ord">
        <pc:chgData name="John Rolzhausen" userId="f0fced98129e348e" providerId="LiveId" clId="{FAB81778-C2AB-48D5-BA9E-3E19BB729E3D}" dt="2025-11-24T19:43:30.540" v="1482" actId="14100"/>
        <pc:sldMkLst>
          <pc:docMk/>
          <pc:sldMk cId="2138627487" sldId="264"/>
        </pc:sldMkLst>
        <pc:spChg chg="mod">
          <ac:chgData name="John Rolzhausen" userId="f0fced98129e348e" providerId="LiveId" clId="{FAB81778-C2AB-48D5-BA9E-3E19BB729E3D}" dt="2025-11-24T18:21:37.366" v="712"/>
          <ac:spMkLst>
            <pc:docMk/>
            <pc:sldMk cId="2138627487" sldId="264"/>
            <ac:spMk id="2" creationId="{890C1BF7-19FF-701F-9848-A29929014BDE}"/>
          </ac:spMkLst>
        </pc:spChg>
        <pc:spChg chg="mod">
          <ac:chgData name="John Rolzhausen" userId="f0fced98129e348e" providerId="LiveId" clId="{FAB81778-C2AB-48D5-BA9E-3E19BB729E3D}" dt="2025-11-24T18:22:04.637" v="714"/>
          <ac:spMkLst>
            <pc:docMk/>
            <pc:sldMk cId="2138627487" sldId="264"/>
            <ac:spMk id="3" creationId="{81AAE640-F765-4BD2-0A2F-E08194238179}"/>
          </ac:spMkLst>
        </pc:spChg>
        <pc:spChg chg="add mod">
          <ac:chgData name="John Rolzhausen" userId="f0fced98129e348e" providerId="LiveId" clId="{FAB81778-C2AB-48D5-BA9E-3E19BB729E3D}" dt="2025-11-24T18:48:36.907" v="1133" actId="1076"/>
          <ac:spMkLst>
            <pc:docMk/>
            <pc:sldMk cId="2138627487" sldId="264"/>
            <ac:spMk id="4" creationId="{B2C2F119-84BA-725E-7A62-70E19321929E}"/>
          </ac:spMkLst>
        </pc:spChg>
        <pc:spChg chg="add mod">
          <ac:chgData name="John Rolzhausen" userId="f0fced98129e348e" providerId="LiveId" clId="{FAB81778-C2AB-48D5-BA9E-3E19BB729E3D}" dt="2025-11-24T18:57:06.315" v="1290" actId="14100"/>
          <ac:spMkLst>
            <pc:docMk/>
            <pc:sldMk cId="2138627487" sldId="264"/>
            <ac:spMk id="7" creationId="{CC1879A4-490F-51E7-DDA5-52A43AFA03A2}"/>
          </ac:spMkLst>
        </pc:spChg>
        <pc:spChg chg="mod">
          <ac:chgData name="John Rolzhausen" userId="f0fced98129e348e" providerId="LiveId" clId="{FAB81778-C2AB-48D5-BA9E-3E19BB729E3D}" dt="2025-11-24T18:23:50.139" v="728" actId="113"/>
          <ac:spMkLst>
            <pc:docMk/>
            <pc:sldMk cId="2138627487" sldId="264"/>
            <ac:spMk id="10" creationId="{426E6AA8-2421-DE34-9484-8E654955EDA3}"/>
          </ac:spMkLst>
        </pc:spChg>
        <pc:spChg chg="add mod">
          <ac:chgData name="John Rolzhausen" userId="f0fced98129e348e" providerId="LiveId" clId="{FAB81778-C2AB-48D5-BA9E-3E19BB729E3D}" dt="2025-11-24T19:36:45.798" v="1344" actId="20577"/>
          <ac:spMkLst>
            <pc:docMk/>
            <pc:sldMk cId="2138627487" sldId="264"/>
            <ac:spMk id="11" creationId="{14BA8CF0-DDF0-3766-D31C-56E409FCCC58}"/>
          </ac:spMkLst>
        </pc:spChg>
        <pc:spChg chg="add mod">
          <ac:chgData name="John Rolzhausen" userId="f0fced98129e348e" providerId="LiveId" clId="{FAB81778-C2AB-48D5-BA9E-3E19BB729E3D}" dt="2025-11-24T19:34:24.295" v="1299" actId="14100"/>
          <ac:spMkLst>
            <pc:docMk/>
            <pc:sldMk cId="2138627487" sldId="264"/>
            <ac:spMk id="14" creationId="{FF59BF29-BE9D-1EB9-F96A-3DDA2FACD374}"/>
          </ac:spMkLst>
        </pc:spChg>
        <pc:spChg chg="add mod">
          <ac:chgData name="John Rolzhausen" userId="f0fced98129e348e" providerId="LiveId" clId="{FAB81778-C2AB-48D5-BA9E-3E19BB729E3D}" dt="2025-11-24T19:35:22.205" v="1340" actId="20577"/>
          <ac:spMkLst>
            <pc:docMk/>
            <pc:sldMk cId="2138627487" sldId="264"/>
            <ac:spMk id="17" creationId="{6EB0D10D-1914-02B7-D6AE-5A78814FD1F0}"/>
          </ac:spMkLst>
        </pc:spChg>
        <pc:spChg chg="add mod">
          <ac:chgData name="John Rolzhausen" userId="f0fced98129e348e" providerId="LiveId" clId="{FAB81778-C2AB-48D5-BA9E-3E19BB729E3D}" dt="2025-11-24T19:39:24.780" v="1383" actId="1076"/>
          <ac:spMkLst>
            <pc:docMk/>
            <pc:sldMk cId="2138627487" sldId="264"/>
            <ac:spMk id="18" creationId="{572FA2C2-019F-8E51-65C4-F6E81F8F9889}"/>
          </ac:spMkLst>
        </pc:spChg>
        <pc:spChg chg="add mod">
          <ac:chgData name="John Rolzhausen" userId="f0fced98129e348e" providerId="LiveId" clId="{FAB81778-C2AB-48D5-BA9E-3E19BB729E3D}" dt="2025-11-24T19:42:44.169" v="1474" actId="207"/>
          <ac:spMkLst>
            <pc:docMk/>
            <pc:sldMk cId="2138627487" sldId="264"/>
            <ac:spMk id="20" creationId="{BEDDC7D8-04A0-C9B9-FB3C-F0D1BFEE808A}"/>
          </ac:spMkLst>
        </pc:spChg>
        <pc:spChg chg="add mod">
          <ac:chgData name="John Rolzhausen" userId="f0fced98129e348e" providerId="LiveId" clId="{FAB81778-C2AB-48D5-BA9E-3E19BB729E3D}" dt="2025-11-24T19:42:09.890" v="1468" actId="207"/>
          <ac:spMkLst>
            <pc:docMk/>
            <pc:sldMk cId="2138627487" sldId="264"/>
            <ac:spMk id="21" creationId="{0AF5FFE1-83DB-5702-6384-2A10AD4CF3E1}"/>
          </ac:spMkLst>
        </pc:spChg>
        <pc:spChg chg="mod">
          <ac:chgData name="John Rolzhausen" userId="f0fced98129e348e" providerId="LiveId" clId="{FAB81778-C2AB-48D5-BA9E-3E19BB729E3D}" dt="2025-11-24T18:29:59.594" v="753" actId="1076"/>
          <ac:spMkLst>
            <pc:docMk/>
            <pc:sldMk cId="2138627487" sldId="264"/>
            <ac:spMk id="24" creationId="{1304F940-26DD-DD49-FBD7-A7329CBD4035}"/>
          </ac:spMkLst>
        </pc:spChg>
        <pc:spChg chg="add mod">
          <ac:chgData name="John Rolzhausen" userId="f0fced98129e348e" providerId="LiveId" clId="{FAB81778-C2AB-48D5-BA9E-3E19BB729E3D}" dt="2025-11-24T19:42:32.065" v="1472" actId="207"/>
          <ac:spMkLst>
            <pc:docMk/>
            <pc:sldMk cId="2138627487" sldId="264"/>
            <ac:spMk id="30" creationId="{7BCCEB63-E92F-8212-B75B-9B6BC685048F}"/>
          </ac:spMkLst>
        </pc:spChg>
        <pc:spChg chg="add mod">
          <ac:chgData name="John Rolzhausen" userId="f0fced98129e348e" providerId="LiveId" clId="{FAB81778-C2AB-48D5-BA9E-3E19BB729E3D}" dt="2025-11-24T19:42:55.074" v="1476" actId="207"/>
          <ac:spMkLst>
            <pc:docMk/>
            <pc:sldMk cId="2138627487" sldId="264"/>
            <ac:spMk id="34" creationId="{71989FE0-94AF-50C2-D90A-30C7DE8665C8}"/>
          </ac:spMkLst>
        </pc:spChg>
        <pc:spChg chg="add mod">
          <ac:chgData name="John Rolzhausen" userId="f0fced98129e348e" providerId="LiveId" clId="{FAB81778-C2AB-48D5-BA9E-3E19BB729E3D}" dt="2025-11-24T19:43:30.540" v="1482" actId="14100"/>
          <ac:spMkLst>
            <pc:docMk/>
            <pc:sldMk cId="2138627487" sldId="264"/>
            <ac:spMk id="36" creationId="{094DA57D-1062-8B4B-0826-D6868C46315D}"/>
          </ac:spMkLst>
        </pc:spChg>
      </pc:sldChg>
      <pc:sldChg chg="modSp add mod ord">
        <pc:chgData name="John Rolzhausen" userId="f0fced98129e348e" providerId="LiveId" clId="{FAB81778-C2AB-48D5-BA9E-3E19BB729E3D}" dt="2025-12-15T21:31:38.931" v="3076" actId="6549"/>
        <pc:sldMkLst>
          <pc:docMk/>
          <pc:sldMk cId="552849500" sldId="265"/>
        </pc:sldMkLst>
        <pc:spChg chg="mod">
          <ac:chgData name="John Rolzhausen" userId="f0fced98129e348e" providerId="LiveId" clId="{FAB81778-C2AB-48D5-BA9E-3E19BB729E3D}" dt="2025-12-14T01:55:59.862" v="3071" actId="20577"/>
          <ac:spMkLst>
            <pc:docMk/>
            <pc:sldMk cId="552849500" sldId="265"/>
            <ac:spMk id="2" creationId="{BB63C44D-230C-B9FA-0CD2-7B5DE8C31032}"/>
          </ac:spMkLst>
        </pc:spChg>
        <pc:spChg chg="mod">
          <ac:chgData name="John Rolzhausen" userId="f0fced98129e348e" providerId="LiveId" clId="{FAB81778-C2AB-48D5-BA9E-3E19BB729E3D}" dt="2025-12-14T01:56:14.777" v="3072" actId="20577"/>
          <ac:spMkLst>
            <pc:docMk/>
            <pc:sldMk cId="552849500" sldId="265"/>
            <ac:spMk id="6" creationId="{51AEFDCA-DF23-6D97-BC93-5DA9496185D9}"/>
          </ac:spMkLst>
        </pc:spChg>
        <pc:spChg chg="mod">
          <ac:chgData name="John Rolzhausen" userId="f0fced98129e348e" providerId="LiveId" clId="{FAB81778-C2AB-48D5-BA9E-3E19BB729E3D}" dt="2025-12-15T21:31:38.931" v="3076" actId="6549"/>
          <ac:spMkLst>
            <pc:docMk/>
            <pc:sldMk cId="552849500" sldId="265"/>
            <ac:spMk id="7" creationId="{40CFB9FF-E8C0-B4DA-F6BB-64E9D5FBC707}"/>
          </ac:spMkLst>
        </pc:spChg>
        <pc:spChg chg="mod">
          <ac:chgData name="John Rolzhausen" userId="f0fced98129e348e" providerId="LiveId" clId="{FAB81778-C2AB-48D5-BA9E-3E19BB729E3D}" dt="2025-12-14T01:54:54.353" v="3069" actId="6549"/>
          <ac:spMkLst>
            <pc:docMk/>
            <pc:sldMk cId="552849500" sldId="265"/>
            <ac:spMk id="15" creationId="{6A7538DD-9580-A6E8-B2B3-533A1151D60A}"/>
          </ac:spMkLst>
        </pc:spChg>
      </pc:sldChg>
      <pc:sldChg chg="delSp modSp add mod">
        <pc:chgData name="John Rolzhausen" userId="f0fced98129e348e" providerId="LiveId" clId="{FAB81778-C2AB-48D5-BA9E-3E19BB729E3D}" dt="2025-11-24T19:45:51.533" v="1488" actId="20577"/>
        <pc:sldMkLst>
          <pc:docMk/>
          <pc:sldMk cId="2972217979" sldId="266"/>
        </pc:sldMkLst>
        <pc:spChg chg="mod">
          <ac:chgData name="John Rolzhausen" userId="f0fced98129e348e" providerId="LiveId" clId="{FAB81778-C2AB-48D5-BA9E-3E19BB729E3D}" dt="2025-11-24T19:45:51.533" v="1488" actId="20577"/>
          <ac:spMkLst>
            <pc:docMk/>
            <pc:sldMk cId="2972217979" sldId="266"/>
            <ac:spMk id="2" creationId="{A0138B88-B804-9B01-0EA9-F0C391AA7B7B}"/>
          </ac:spMkLst>
        </pc:spChg>
        <pc:spChg chg="mod">
          <ac:chgData name="John Rolzhausen" userId="f0fced98129e348e" providerId="LiveId" clId="{FAB81778-C2AB-48D5-BA9E-3E19BB729E3D}" dt="2025-11-24T18:30:51.308" v="765"/>
          <ac:spMkLst>
            <pc:docMk/>
            <pc:sldMk cId="2972217979" sldId="266"/>
            <ac:spMk id="6" creationId="{00CDA56A-EC5F-FFE3-4862-B1A193580CA2}"/>
          </ac:spMkLst>
        </pc:spChg>
        <pc:spChg chg="mod">
          <ac:chgData name="John Rolzhausen" userId="f0fced98129e348e" providerId="LiveId" clId="{FAB81778-C2AB-48D5-BA9E-3E19BB729E3D}" dt="2025-11-24T18:30:57.298" v="766" actId="6549"/>
          <ac:spMkLst>
            <pc:docMk/>
            <pc:sldMk cId="2972217979" sldId="266"/>
            <ac:spMk id="15" creationId="{7A816269-B37A-8A61-6F52-D2D1AFB9C204}"/>
          </ac:spMkLst>
        </pc:spChg>
      </pc:sldChg>
      <pc:sldChg chg="modSp add mod ord">
        <pc:chgData name="John Rolzhausen" userId="f0fced98129e348e" providerId="LiveId" clId="{FAB81778-C2AB-48D5-BA9E-3E19BB729E3D}" dt="2025-11-24T20:36:59.516" v="2336" actId="20577"/>
        <pc:sldMkLst>
          <pc:docMk/>
          <pc:sldMk cId="4147148968" sldId="267"/>
        </pc:sldMkLst>
        <pc:spChg chg="mod">
          <ac:chgData name="John Rolzhausen" userId="f0fced98129e348e" providerId="LiveId" clId="{FAB81778-C2AB-48D5-BA9E-3E19BB729E3D}" dt="2025-11-24T20:36:59.516" v="2336" actId="20577"/>
          <ac:spMkLst>
            <pc:docMk/>
            <pc:sldMk cId="4147148968" sldId="267"/>
            <ac:spMk id="2" creationId="{8DD943B2-E4C7-A63A-B616-C7E6DA67032D}"/>
          </ac:spMkLst>
        </pc:spChg>
        <pc:spChg chg="mod">
          <ac:chgData name="John Rolzhausen" userId="f0fced98129e348e" providerId="LiveId" clId="{FAB81778-C2AB-48D5-BA9E-3E19BB729E3D}" dt="2025-11-24T20:00:46.769" v="1555" actId="6549"/>
          <ac:spMkLst>
            <pc:docMk/>
            <pc:sldMk cId="4147148968" sldId="267"/>
            <ac:spMk id="6" creationId="{496A2199-DA59-D4CC-1BFA-1FD81A16E4CF}"/>
          </ac:spMkLst>
        </pc:spChg>
        <pc:spChg chg="mod">
          <ac:chgData name="John Rolzhausen" userId="f0fced98129e348e" providerId="LiveId" clId="{FAB81778-C2AB-48D5-BA9E-3E19BB729E3D}" dt="2025-11-24T20:00:39.627" v="1554" actId="6549"/>
          <ac:spMkLst>
            <pc:docMk/>
            <pc:sldMk cId="4147148968" sldId="267"/>
            <ac:spMk id="7" creationId="{4F23429C-8464-E77A-5F54-640AE3BF83B5}"/>
          </ac:spMkLst>
        </pc:spChg>
        <pc:spChg chg="mod">
          <ac:chgData name="John Rolzhausen" userId="f0fced98129e348e" providerId="LiveId" clId="{FAB81778-C2AB-48D5-BA9E-3E19BB729E3D}" dt="2025-11-24T20:00:53.496" v="1556" actId="6549"/>
          <ac:spMkLst>
            <pc:docMk/>
            <pc:sldMk cId="4147148968" sldId="267"/>
            <ac:spMk id="15" creationId="{3A052C6C-D6B5-F255-C8D6-04912A39BCF4}"/>
          </ac:spMkLst>
        </pc:spChg>
      </pc:sldChg>
      <pc:sldChg chg="addSp delSp modSp add mod ord">
        <pc:chgData name="John Rolzhausen" userId="f0fced98129e348e" providerId="LiveId" clId="{FAB81778-C2AB-48D5-BA9E-3E19BB729E3D}" dt="2025-11-24T20:32:59.678" v="2334" actId="207"/>
        <pc:sldMkLst>
          <pc:docMk/>
          <pc:sldMk cId="3202500457" sldId="268"/>
        </pc:sldMkLst>
        <pc:spChg chg="mod">
          <ac:chgData name="John Rolzhausen" userId="f0fced98129e348e" providerId="LiveId" clId="{FAB81778-C2AB-48D5-BA9E-3E19BB729E3D}" dt="2025-11-24T19:51:22.932" v="1507"/>
          <ac:spMkLst>
            <pc:docMk/>
            <pc:sldMk cId="3202500457" sldId="268"/>
            <ac:spMk id="2" creationId="{ED95ED6F-A2B6-5E80-B64A-3FEBCC98DEEA}"/>
          </ac:spMkLst>
        </pc:spChg>
        <pc:spChg chg="mod">
          <ac:chgData name="John Rolzhausen" userId="f0fced98129e348e" providerId="LiveId" clId="{FAB81778-C2AB-48D5-BA9E-3E19BB729E3D}" dt="2025-11-24T19:51:33.588" v="1508"/>
          <ac:spMkLst>
            <pc:docMk/>
            <pc:sldMk cId="3202500457" sldId="268"/>
            <ac:spMk id="3" creationId="{235A52CE-C411-21E2-CBD2-FDEEBCDF51AF}"/>
          </ac:spMkLst>
        </pc:spChg>
        <pc:spChg chg="add mod">
          <ac:chgData name="John Rolzhausen" userId="f0fced98129e348e" providerId="LiveId" clId="{FAB81778-C2AB-48D5-BA9E-3E19BB729E3D}" dt="2025-11-24T19:52:44.208" v="1517"/>
          <ac:spMkLst>
            <pc:docMk/>
            <pc:sldMk cId="3202500457" sldId="268"/>
            <ac:spMk id="4" creationId="{DF75FA40-764C-FAF6-1AC7-0C0413DCAEDE}"/>
          </ac:spMkLst>
        </pc:spChg>
        <pc:spChg chg="add mod">
          <ac:chgData name="John Rolzhausen" userId="f0fced98129e348e" providerId="LiveId" clId="{FAB81778-C2AB-48D5-BA9E-3E19BB729E3D}" dt="2025-11-24T20:01:55.762" v="1558" actId="255"/>
          <ac:spMkLst>
            <pc:docMk/>
            <pc:sldMk cId="3202500457" sldId="268"/>
            <ac:spMk id="5" creationId="{D45124F0-4A8D-8DF0-A89C-3FBF703EB9AC}"/>
          </ac:spMkLst>
        </pc:spChg>
        <pc:spChg chg="add mod">
          <ac:chgData name="John Rolzhausen" userId="f0fced98129e348e" providerId="LiveId" clId="{FAB81778-C2AB-48D5-BA9E-3E19BB729E3D}" dt="2025-11-24T20:31:07.775" v="2204" actId="1076"/>
          <ac:spMkLst>
            <pc:docMk/>
            <pc:sldMk cId="3202500457" sldId="268"/>
            <ac:spMk id="6" creationId="{2FD6C8D6-594A-818A-0F29-8C7F267739DD}"/>
          </ac:spMkLst>
        </pc:spChg>
        <pc:spChg chg="add mod">
          <ac:chgData name="John Rolzhausen" userId="f0fced98129e348e" providerId="LiveId" clId="{FAB81778-C2AB-48D5-BA9E-3E19BB729E3D}" dt="2025-11-24T20:30:27.651" v="2201"/>
          <ac:spMkLst>
            <pc:docMk/>
            <pc:sldMk cId="3202500457" sldId="268"/>
            <ac:spMk id="7" creationId="{9EB3D627-ECB4-2461-1B49-7F2197A3FA98}"/>
          </ac:spMkLst>
        </pc:spChg>
        <pc:spChg chg="add del">
          <ac:chgData name="John Rolzhausen" userId="f0fced98129e348e" providerId="LiveId" clId="{FAB81778-C2AB-48D5-BA9E-3E19BB729E3D}" dt="2025-11-24T19:54:58.196" v="1531" actId="478"/>
          <ac:spMkLst>
            <pc:docMk/>
            <pc:sldMk cId="3202500457" sldId="268"/>
            <ac:spMk id="9" creationId="{8C97591C-9864-8571-FF01-1ED83225DB5E}"/>
          </ac:spMkLst>
        </pc:spChg>
        <pc:spChg chg="mod">
          <ac:chgData name="John Rolzhausen" userId="f0fced98129e348e" providerId="LiveId" clId="{FAB81778-C2AB-48D5-BA9E-3E19BB729E3D}" dt="2025-11-24T20:31:33.395" v="2253" actId="20577"/>
          <ac:spMkLst>
            <pc:docMk/>
            <pc:sldMk cId="3202500457" sldId="268"/>
            <ac:spMk id="27" creationId="{1C913FD1-729C-7931-300F-91503AEA35B4}"/>
          </ac:spMkLst>
        </pc:spChg>
        <pc:spChg chg="mod">
          <ac:chgData name="John Rolzhausen" userId="f0fced98129e348e" providerId="LiveId" clId="{FAB81778-C2AB-48D5-BA9E-3E19BB729E3D}" dt="2025-11-24T20:32:42.267" v="2332" actId="207"/>
          <ac:spMkLst>
            <pc:docMk/>
            <pc:sldMk cId="3202500457" sldId="268"/>
            <ac:spMk id="28" creationId="{19A159EA-54C6-553F-F114-A801249DB896}"/>
          </ac:spMkLst>
        </pc:spChg>
        <pc:spChg chg="mod">
          <ac:chgData name="John Rolzhausen" userId="f0fced98129e348e" providerId="LiveId" clId="{FAB81778-C2AB-48D5-BA9E-3E19BB729E3D}" dt="2025-11-24T20:32:59.678" v="2334" actId="207"/>
          <ac:spMkLst>
            <pc:docMk/>
            <pc:sldMk cId="3202500457" sldId="268"/>
            <ac:spMk id="29" creationId="{5BB8D49B-6DA8-156D-D532-408512DD6474}"/>
          </ac:spMkLst>
        </pc:spChg>
      </pc:sldChg>
      <pc:sldChg chg="modSp add mod">
        <pc:chgData name="John Rolzhausen" userId="f0fced98129e348e" providerId="LiveId" clId="{FAB81778-C2AB-48D5-BA9E-3E19BB729E3D}" dt="2025-11-24T20:37:05.259" v="2337"/>
        <pc:sldMkLst>
          <pc:docMk/>
          <pc:sldMk cId="2446892681" sldId="269"/>
        </pc:sldMkLst>
        <pc:spChg chg="mod">
          <ac:chgData name="John Rolzhausen" userId="f0fced98129e348e" providerId="LiveId" clId="{FAB81778-C2AB-48D5-BA9E-3E19BB729E3D}" dt="2025-11-24T20:37:05.259" v="2337"/>
          <ac:spMkLst>
            <pc:docMk/>
            <pc:sldMk cId="2446892681" sldId="269"/>
            <ac:spMk id="2" creationId="{782EA5C5-C952-6157-1767-1BB075CAA40D}"/>
          </ac:spMkLst>
        </pc:spChg>
        <pc:spChg chg="mod">
          <ac:chgData name="John Rolzhausen" userId="f0fced98129e348e" providerId="LiveId" clId="{FAB81778-C2AB-48D5-BA9E-3E19BB729E3D}" dt="2025-11-24T20:00:29.587" v="1553" actId="6549"/>
          <ac:spMkLst>
            <pc:docMk/>
            <pc:sldMk cId="2446892681" sldId="269"/>
            <ac:spMk id="6" creationId="{955C02CC-2E65-81B7-ABA4-A59BAD67B658}"/>
          </ac:spMkLst>
        </pc:spChg>
        <pc:spChg chg="mod">
          <ac:chgData name="John Rolzhausen" userId="f0fced98129e348e" providerId="LiveId" clId="{FAB81778-C2AB-48D5-BA9E-3E19BB729E3D}" dt="2025-11-24T20:00:06.132" v="1549"/>
          <ac:spMkLst>
            <pc:docMk/>
            <pc:sldMk cId="2446892681" sldId="269"/>
            <ac:spMk id="7" creationId="{6FE7CCCC-5DC9-2839-8F53-2CA21094EF38}"/>
          </ac:spMkLst>
        </pc:spChg>
        <pc:spChg chg="mod">
          <ac:chgData name="John Rolzhausen" userId="f0fced98129e348e" providerId="LiveId" clId="{FAB81778-C2AB-48D5-BA9E-3E19BB729E3D}" dt="2025-11-24T20:00:23.348" v="1552" actId="20577"/>
          <ac:spMkLst>
            <pc:docMk/>
            <pc:sldMk cId="2446892681" sldId="269"/>
            <ac:spMk id="15" creationId="{E9FDC450-1E80-8C01-E27D-5D4321C62185}"/>
          </ac:spMkLst>
        </pc:spChg>
      </pc:sldChg>
      <pc:sldChg chg="addSp delSp modSp add mod ord">
        <pc:chgData name="John Rolzhausen" userId="f0fced98129e348e" providerId="LiveId" clId="{FAB81778-C2AB-48D5-BA9E-3E19BB729E3D}" dt="2025-11-24T22:09:07.440" v="2967" actId="20577"/>
        <pc:sldMkLst>
          <pc:docMk/>
          <pc:sldMk cId="1376577602" sldId="270"/>
        </pc:sldMkLst>
        <pc:spChg chg="mod">
          <ac:chgData name="John Rolzhausen" userId="f0fced98129e348e" providerId="LiveId" clId="{FAB81778-C2AB-48D5-BA9E-3E19BB729E3D}" dt="2025-11-24T22:09:07.440" v="2967" actId="20577"/>
          <ac:spMkLst>
            <pc:docMk/>
            <pc:sldMk cId="1376577602" sldId="270"/>
            <ac:spMk id="2" creationId="{AE81CF5B-4568-1FB2-365B-B9FD2BBCC0D1}"/>
          </ac:spMkLst>
        </pc:spChg>
        <pc:spChg chg="mod">
          <ac:chgData name="John Rolzhausen" userId="f0fced98129e348e" providerId="LiveId" clId="{FAB81778-C2AB-48D5-BA9E-3E19BB729E3D}" dt="2025-11-24T21:22:27.015" v="2342"/>
          <ac:spMkLst>
            <pc:docMk/>
            <pc:sldMk cId="1376577602" sldId="270"/>
            <ac:spMk id="3" creationId="{6D9960A2-5414-6F48-082B-535CF5B863E7}"/>
          </ac:spMkLst>
        </pc:spChg>
        <pc:spChg chg="add del mod">
          <ac:chgData name="John Rolzhausen" userId="f0fced98129e348e" providerId="LiveId" clId="{FAB81778-C2AB-48D5-BA9E-3E19BB729E3D}" dt="2025-11-24T22:08:22.733" v="2939"/>
          <ac:spMkLst>
            <pc:docMk/>
            <pc:sldMk cId="1376577602" sldId="270"/>
            <ac:spMk id="4" creationId="{B16725CC-F8F7-C7B9-1DB4-EBCCF8E72449}"/>
          </ac:spMkLst>
        </pc:spChg>
        <pc:spChg chg="add mod">
          <ac:chgData name="John Rolzhausen" userId="f0fced98129e348e" providerId="LiveId" clId="{FAB81778-C2AB-48D5-BA9E-3E19BB729E3D}" dt="2025-11-24T22:04:48.819" v="2915" actId="1076"/>
          <ac:spMkLst>
            <pc:docMk/>
            <pc:sldMk cId="1376577602" sldId="270"/>
            <ac:spMk id="5" creationId="{64595316-0CEF-6E07-FDE2-3134DBBBCB27}"/>
          </ac:spMkLst>
        </pc:spChg>
        <pc:spChg chg="mod">
          <ac:chgData name="John Rolzhausen" userId="f0fced98129e348e" providerId="LiveId" clId="{FAB81778-C2AB-48D5-BA9E-3E19BB729E3D}" dt="2025-11-24T21:23:05.558" v="2346" actId="113"/>
          <ac:spMkLst>
            <pc:docMk/>
            <pc:sldMk cId="1376577602" sldId="270"/>
            <ac:spMk id="10" creationId="{EEA281A1-0E77-084B-5368-307C0C5A65A8}"/>
          </ac:spMkLst>
        </pc:spChg>
        <pc:spChg chg="add mod">
          <ac:chgData name="John Rolzhausen" userId="f0fced98129e348e" providerId="LiveId" clId="{FAB81778-C2AB-48D5-BA9E-3E19BB729E3D}" dt="2025-11-24T22:06:53.708" v="2929" actId="14100"/>
          <ac:spMkLst>
            <pc:docMk/>
            <pc:sldMk cId="1376577602" sldId="270"/>
            <ac:spMk id="12" creationId="{0593CE96-467E-FA2B-C2E6-6CACFAD301D6}"/>
          </ac:spMkLst>
        </pc:spChg>
        <pc:spChg chg="mod">
          <ac:chgData name="John Rolzhausen" userId="f0fced98129e348e" providerId="LiveId" clId="{FAB81778-C2AB-48D5-BA9E-3E19BB729E3D}" dt="2025-11-24T22:04:43.282" v="2914" actId="14100"/>
          <ac:spMkLst>
            <pc:docMk/>
            <pc:sldMk cId="1376577602" sldId="270"/>
            <ac:spMk id="24" creationId="{3AA7BB41-61DC-42F8-6132-BAEA1AE157B9}"/>
          </ac:spMkLst>
        </pc:spChg>
        <pc:spChg chg="add mod">
          <ac:chgData name="John Rolzhausen" userId="f0fced98129e348e" providerId="LiveId" clId="{FAB81778-C2AB-48D5-BA9E-3E19BB729E3D}" dt="2025-11-24T22:08:55.424" v="2947" actId="1076"/>
          <ac:spMkLst>
            <pc:docMk/>
            <pc:sldMk cId="1376577602" sldId="270"/>
            <ac:spMk id="38" creationId="{E36431D6-D897-4DE6-956F-AE8DFA805328}"/>
          </ac:spMkLst>
        </pc:spChg>
      </pc:sldChg>
      <pc:sldChg chg="modSp add mod ord">
        <pc:chgData name="John Rolzhausen" userId="f0fced98129e348e" providerId="LiveId" clId="{FAB81778-C2AB-48D5-BA9E-3E19BB729E3D}" dt="2025-11-24T22:13:46.165" v="3059" actId="6549"/>
        <pc:sldMkLst>
          <pc:docMk/>
          <pc:sldMk cId="1743887525" sldId="271"/>
        </pc:sldMkLst>
        <pc:spChg chg="mod">
          <ac:chgData name="John Rolzhausen" userId="f0fced98129e348e" providerId="LiveId" clId="{FAB81778-C2AB-48D5-BA9E-3E19BB729E3D}" dt="2025-11-24T21:26:52.963" v="2399" actId="20577"/>
          <ac:spMkLst>
            <pc:docMk/>
            <pc:sldMk cId="1743887525" sldId="271"/>
            <ac:spMk id="2" creationId="{E6C1EDEF-44B3-08CC-9427-E0D338B46C46}"/>
          </ac:spMkLst>
        </pc:spChg>
        <pc:spChg chg="mod">
          <ac:chgData name="John Rolzhausen" userId="f0fced98129e348e" providerId="LiveId" clId="{FAB81778-C2AB-48D5-BA9E-3E19BB729E3D}" dt="2025-11-24T22:13:13.240" v="3053" actId="6549"/>
          <ac:spMkLst>
            <pc:docMk/>
            <pc:sldMk cId="1743887525" sldId="271"/>
            <ac:spMk id="6" creationId="{8D018180-BF40-A6C7-759C-2CDA5A4F3E0D}"/>
          </ac:spMkLst>
        </pc:spChg>
        <pc:spChg chg="mod">
          <ac:chgData name="John Rolzhausen" userId="f0fced98129e348e" providerId="LiveId" clId="{FAB81778-C2AB-48D5-BA9E-3E19BB729E3D}" dt="2025-11-24T22:13:46.165" v="3059" actId="6549"/>
          <ac:spMkLst>
            <pc:docMk/>
            <pc:sldMk cId="1743887525" sldId="271"/>
            <ac:spMk id="7" creationId="{8B1E53AF-3A74-3BC3-F30B-AED5EC90EC5C}"/>
          </ac:spMkLst>
        </pc:spChg>
        <pc:spChg chg="mod">
          <ac:chgData name="John Rolzhausen" userId="f0fced98129e348e" providerId="LiveId" clId="{FAB81778-C2AB-48D5-BA9E-3E19BB729E3D}" dt="2025-11-24T22:13:00.233" v="3052" actId="6549"/>
          <ac:spMkLst>
            <pc:docMk/>
            <pc:sldMk cId="1743887525" sldId="271"/>
            <ac:spMk id="15" creationId="{7BBC2A6F-1A57-A43E-E1E4-7174E78E2A2C}"/>
          </ac:spMkLst>
        </pc:spChg>
      </pc:sldChg>
      <pc:sldChg chg="modSp add mod">
        <pc:chgData name="John Rolzhausen" userId="f0fced98129e348e" providerId="LiveId" clId="{FAB81778-C2AB-48D5-BA9E-3E19BB729E3D}" dt="2025-11-24T21:32:52.001" v="2423" actId="20577"/>
        <pc:sldMkLst>
          <pc:docMk/>
          <pc:sldMk cId="2796696429" sldId="272"/>
        </pc:sldMkLst>
        <pc:spChg chg="mod">
          <ac:chgData name="John Rolzhausen" userId="f0fced98129e348e" providerId="LiveId" clId="{FAB81778-C2AB-48D5-BA9E-3E19BB729E3D}" dt="2025-11-24T21:32:52.001" v="2423" actId="20577"/>
          <ac:spMkLst>
            <pc:docMk/>
            <pc:sldMk cId="2796696429" sldId="272"/>
            <ac:spMk id="2" creationId="{332C4B7D-64CF-4BEF-97E0-B30F6016E02C}"/>
          </ac:spMkLst>
        </pc:spChg>
        <pc:spChg chg="mod">
          <ac:chgData name="John Rolzhausen" userId="f0fced98129e348e" providerId="LiveId" clId="{FAB81778-C2AB-48D5-BA9E-3E19BB729E3D}" dt="2025-11-24T21:32:29.534" v="2418" actId="6549"/>
          <ac:spMkLst>
            <pc:docMk/>
            <pc:sldMk cId="2796696429" sldId="272"/>
            <ac:spMk id="6" creationId="{0ADE661B-AA78-0056-3CEE-46C48F51723E}"/>
          </ac:spMkLst>
        </pc:spChg>
        <pc:spChg chg="mod">
          <ac:chgData name="John Rolzhausen" userId="f0fced98129e348e" providerId="LiveId" clId="{FAB81778-C2AB-48D5-BA9E-3E19BB729E3D}" dt="2025-11-24T21:32:46.695" v="2419" actId="6549"/>
          <ac:spMkLst>
            <pc:docMk/>
            <pc:sldMk cId="2796696429" sldId="272"/>
            <ac:spMk id="7" creationId="{47AF8441-3E77-85F1-F99D-DB8C4167DFA4}"/>
          </ac:spMkLst>
        </pc:spChg>
        <pc:spChg chg="mod">
          <ac:chgData name="John Rolzhausen" userId="f0fced98129e348e" providerId="LiveId" clId="{FAB81778-C2AB-48D5-BA9E-3E19BB729E3D}" dt="2025-11-24T21:32:17.078" v="2417" actId="6549"/>
          <ac:spMkLst>
            <pc:docMk/>
            <pc:sldMk cId="2796696429" sldId="272"/>
            <ac:spMk id="15" creationId="{DF7ECA42-F903-1577-911C-3F24F9CDD864}"/>
          </ac:spMkLst>
        </pc:spChg>
      </pc:sldChg>
      <pc:sldChg chg="modSp add mod">
        <pc:chgData name="John Rolzhausen" userId="f0fced98129e348e" providerId="LiveId" clId="{FAB81778-C2AB-48D5-BA9E-3E19BB729E3D}" dt="2025-11-24T21:34:10.140" v="2435" actId="20577"/>
        <pc:sldMkLst>
          <pc:docMk/>
          <pc:sldMk cId="4228114308" sldId="273"/>
        </pc:sldMkLst>
        <pc:spChg chg="mod">
          <ac:chgData name="John Rolzhausen" userId="f0fced98129e348e" providerId="LiveId" clId="{FAB81778-C2AB-48D5-BA9E-3E19BB729E3D}" dt="2025-11-24T21:34:10.140" v="2435" actId="20577"/>
          <ac:spMkLst>
            <pc:docMk/>
            <pc:sldMk cId="4228114308" sldId="273"/>
            <ac:spMk id="2" creationId="{7D67203C-5189-4A80-B47E-6E062C3CA4DA}"/>
          </ac:spMkLst>
        </pc:spChg>
        <pc:spChg chg="mod">
          <ac:chgData name="John Rolzhausen" userId="f0fced98129e348e" providerId="LiveId" clId="{FAB81778-C2AB-48D5-BA9E-3E19BB729E3D}" dt="2025-11-24T21:32:01.630" v="2415" actId="6549"/>
          <ac:spMkLst>
            <pc:docMk/>
            <pc:sldMk cId="4228114308" sldId="273"/>
            <ac:spMk id="6" creationId="{8BAC7D8C-A905-DC22-7E8D-8A9BDC0992F8}"/>
          </ac:spMkLst>
        </pc:spChg>
        <pc:spChg chg="mod">
          <ac:chgData name="John Rolzhausen" userId="f0fced98129e348e" providerId="LiveId" clId="{FAB81778-C2AB-48D5-BA9E-3E19BB729E3D}" dt="2025-11-24T21:31:56.049" v="2414"/>
          <ac:spMkLst>
            <pc:docMk/>
            <pc:sldMk cId="4228114308" sldId="273"/>
            <ac:spMk id="7" creationId="{E78F0590-A9B3-5D0C-5168-8B9B39321C68}"/>
          </ac:spMkLst>
        </pc:spChg>
        <pc:spChg chg="mod">
          <ac:chgData name="John Rolzhausen" userId="f0fced98129e348e" providerId="LiveId" clId="{FAB81778-C2AB-48D5-BA9E-3E19BB729E3D}" dt="2025-11-24T21:32:07.096" v="2416" actId="6549"/>
          <ac:spMkLst>
            <pc:docMk/>
            <pc:sldMk cId="4228114308" sldId="273"/>
            <ac:spMk id="15" creationId="{669EFCDB-9446-19C6-396A-5CAB53C7F306}"/>
          </ac:spMkLst>
        </pc:spChg>
      </pc:sldChg>
      <pc:sldChg chg="add del">
        <pc:chgData name="John Rolzhausen" userId="f0fced98129e348e" providerId="LiveId" clId="{FAB81778-C2AB-48D5-BA9E-3E19BB729E3D}" dt="2025-12-14T01:59:02.789" v="3073" actId="47"/>
        <pc:sldMkLst>
          <pc:docMk/>
          <pc:sldMk cId="987467116" sldId="274"/>
        </pc:sldMkLst>
      </pc:sldChg>
      <pc:sldChg chg="add del">
        <pc:chgData name="John Rolzhausen" userId="f0fced98129e348e" providerId="LiveId" clId="{FAB81778-C2AB-48D5-BA9E-3E19BB729E3D}" dt="2025-12-14T01:37:44.328" v="3063" actId="47"/>
        <pc:sldMkLst>
          <pc:docMk/>
          <pc:sldMk cId="1936046896" sldId="27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571194-8E21-4113-AD09-7A20562102BE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C782EF-3126-49E3-9D22-B519B28552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838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782EF-3126-49E3-9D22-B519B285522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1216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4480560"/>
          </a:xfrm>
        </p:spPr>
        <p:txBody>
          <a:bodyPr/>
          <a:lstStyle/>
          <a:p>
            <a:r>
              <a:rPr lang="en-US" sz="1200" dirty="0"/>
              <a:t>NOTES:</a:t>
            </a:r>
          </a:p>
          <a:p>
            <a:endParaRPr lang="en-US" sz="1200" dirty="0"/>
          </a:p>
          <a:p>
            <a:r>
              <a:rPr lang="en-US" sz="1200" dirty="0"/>
              <a:t>Data Source:</a:t>
            </a:r>
          </a:p>
          <a:p>
            <a:r>
              <a:rPr lang="en-US" sz="1200" dirty="0"/>
              <a:t>- </a:t>
            </a:r>
            <a:r>
              <a:rPr lang="en-US" sz="1200" dirty="0" err="1"/>
              <a:t>tbl_VolumeSubmissions</a:t>
            </a:r>
            <a:endParaRPr lang="en-US" sz="1200" dirty="0"/>
          </a:p>
          <a:p>
            <a:r>
              <a:rPr lang="en-US" sz="1200" dirty="0"/>
              <a:t>- Filter: </a:t>
            </a:r>
            <a:r>
              <a:rPr lang="en-US" sz="1200" dirty="0" err="1"/>
              <a:t>CountryID</a:t>
            </a:r>
            <a:r>
              <a:rPr lang="en-US" sz="1200" dirty="0"/>
              <a:t> = User's assigned country</a:t>
            </a:r>
          </a:p>
          <a:p>
            <a:r>
              <a:rPr lang="en-US" sz="1200" dirty="0"/>
              <a:t>- Order by: </a:t>
            </a:r>
            <a:r>
              <a:rPr lang="en-US" sz="1200" dirty="0" err="1"/>
              <a:t>SubmittedDate</a:t>
            </a:r>
            <a:r>
              <a:rPr lang="en-US" sz="1200" dirty="0"/>
              <a:t> DESC (most recent first)</a:t>
            </a:r>
          </a:p>
          <a:p>
            <a:r>
              <a:rPr lang="en-US" sz="1200" dirty="0"/>
              <a:t>- Include: All statuses except </a:t>
            </a:r>
            <a:r>
              <a:rPr lang="en-US" sz="1200" dirty="0" err="1"/>
              <a:t>IsDeleted</a:t>
            </a:r>
            <a:r>
              <a:rPr lang="en-US" sz="1200" dirty="0"/>
              <a:t> = Yes</a:t>
            </a:r>
          </a:p>
          <a:p>
            <a:endParaRPr lang="en-US" sz="1200" dirty="0"/>
          </a:p>
          <a:p>
            <a:r>
              <a:rPr lang="en-US" sz="1200" dirty="0"/>
              <a:t>Table Columns:</a:t>
            </a:r>
          </a:p>
          <a:p>
            <a:r>
              <a:rPr lang="en-US" sz="1200" dirty="0"/>
              <a:t>- Submission ID: Title field from </a:t>
            </a:r>
            <a:r>
              <a:rPr lang="en-US" sz="1200" dirty="0" err="1"/>
              <a:t>tbl_VolumeSubmissions</a:t>
            </a:r>
            <a:endParaRPr lang="en-US" sz="1200" dirty="0"/>
          </a:p>
          <a:p>
            <a:r>
              <a:rPr lang="en-US" sz="1200" dirty="0"/>
              <a:t>- Month: </a:t>
            </a:r>
            <a:r>
              <a:rPr lang="en-US" sz="1200" dirty="0" err="1"/>
              <a:t>SubmissionMonth</a:t>
            </a:r>
            <a:r>
              <a:rPr lang="en-US" sz="1200" dirty="0"/>
              <a:t> (displayed as "Month Year")</a:t>
            </a:r>
          </a:p>
          <a:p>
            <a:r>
              <a:rPr lang="en-US" sz="1200" dirty="0"/>
              <a:t>- Submitted: </a:t>
            </a:r>
            <a:r>
              <a:rPr lang="en-US" sz="1200" dirty="0" err="1"/>
              <a:t>SubmittedDate</a:t>
            </a:r>
            <a:r>
              <a:rPr lang="en-US" sz="1200" dirty="0"/>
              <a:t> (formatted as MM/DD/YY)</a:t>
            </a:r>
          </a:p>
          <a:p>
            <a:r>
              <a:rPr lang="en-US" sz="1200" dirty="0"/>
              <a:t>- Test Types: Count of distinct </a:t>
            </a:r>
            <a:r>
              <a:rPr lang="en-US" sz="1200" dirty="0" err="1"/>
              <a:t>TestTypeIDs</a:t>
            </a:r>
            <a:r>
              <a:rPr lang="en-US" sz="1200" dirty="0"/>
              <a:t> in submission</a:t>
            </a:r>
          </a:p>
          <a:p>
            <a:r>
              <a:rPr lang="en-US" sz="1200" dirty="0"/>
              <a:t>- Status: Current workflow status</a:t>
            </a:r>
          </a:p>
          <a:p>
            <a:r>
              <a:rPr lang="en-US" sz="1200" dirty="0"/>
              <a:t>- Actions: Dynamic buttons based on status</a:t>
            </a:r>
          </a:p>
          <a:p>
            <a:endParaRPr lang="en-US" sz="1200" dirty="0"/>
          </a:p>
          <a:p>
            <a:r>
              <a:rPr lang="en-US" sz="1200" dirty="0"/>
              <a:t>Filter Logic:</a:t>
            </a:r>
          </a:p>
          <a:p>
            <a:r>
              <a:rPr lang="en-US" sz="1200" dirty="0"/>
              <a:t>- Month dropdown: Populated from distinct </a:t>
            </a:r>
            <a:r>
              <a:rPr lang="en-US" sz="1200" dirty="0" err="1"/>
              <a:t>SubmissionMonth</a:t>
            </a:r>
            <a:r>
              <a:rPr lang="en-US" sz="1200" dirty="0"/>
              <a:t> values</a:t>
            </a:r>
          </a:p>
          <a:p>
            <a:r>
              <a:rPr lang="en-US" sz="1200" dirty="0"/>
              <a:t>- Status dropdown: Approved, Validated, Flagged, Submitted, Draft</a:t>
            </a:r>
          </a:p>
          <a:p>
            <a:r>
              <a:rPr lang="en-US" sz="1200" dirty="0"/>
              <a:t>- Year dropdown: Populated from distinct years in data</a:t>
            </a:r>
          </a:p>
          <a:p>
            <a:r>
              <a:rPr lang="en-US" sz="1200" dirty="0"/>
              <a:t>- Filters apply in combination (AND logic)</a:t>
            </a:r>
          </a:p>
          <a:p>
            <a:r>
              <a:rPr lang="en-US" sz="1200" dirty="0"/>
              <a:t>- Search: Searches Submission ID and Month fields</a:t>
            </a:r>
          </a:p>
          <a:p>
            <a:endParaRPr lang="en-US" sz="1200" dirty="0"/>
          </a:p>
          <a:p>
            <a:r>
              <a:rPr lang="en-US" sz="1200" dirty="0"/>
              <a:t>Status Display:</a:t>
            </a:r>
          </a:p>
          <a:p>
            <a:r>
              <a:rPr lang="en-US" sz="1200" dirty="0"/>
              <a:t>- Use colored badges for visual scanning</a:t>
            </a:r>
          </a:p>
          <a:p>
            <a:r>
              <a:rPr lang="en-US" sz="1200" dirty="0"/>
              <a:t>- Approved: Green</a:t>
            </a:r>
          </a:p>
          <a:p>
            <a:r>
              <a:rPr lang="en-US" sz="1200" dirty="0"/>
              <a:t>- Validated: Yellow</a:t>
            </a:r>
          </a:p>
          <a:p>
            <a:r>
              <a:rPr lang="en-US" sz="1200" dirty="0"/>
              <a:t>- Flagged: Orange/Red</a:t>
            </a:r>
          </a:p>
          <a:p>
            <a:r>
              <a:rPr lang="en-US" sz="1200" dirty="0"/>
              <a:t>- Submitted: Blue</a:t>
            </a:r>
          </a:p>
          <a:p>
            <a:r>
              <a:rPr lang="en-US" sz="1200" dirty="0"/>
              <a:t>- Draft: Gray</a:t>
            </a:r>
          </a:p>
          <a:p>
            <a:endParaRPr lang="en-US" sz="1200" dirty="0"/>
          </a:p>
          <a:p>
            <a:r>
              <a:rPr lang="en-US" sz="1200" dirty="0"/>
              <a:t>Action Buttons (Context-Sensitive):</a:t>
            </a:r>
          </a:p>
          <a:p>
            <a:r>
              <a:rPr lang="en-US" sz="1200" dirty="0"/>
              <a:t>1. [View]: Always available</a:t>
            </a:r>
          </a:p>
          <a:p>
            <a:r>
              <a:rPr lang="en-US" sz="1200" dirty="0"/>
              <a:t>   - Opens read-only detail view</a:t>
            </a:r>
          </a:p>
          <a:p>
            <a:r>
              <a:rPr lang="en-US" sz="1200" dirty="0"/>
              <a:t>   - Shows same info as confirmation screen</a:t>
            </a:r>
          </a:p>
          <a:p>
            <a:r>
              <a:rPr lang="en-US" sz="1200" dirty="0"/>
              <a:t>   </a:t>
            </a:r>
          </a:p>
          <a:p>
            <a:r>
              <a:rPr lang="en-US" sz="1200" dirty="0"/>
              <a:t>2. [Download]: Available for Approved/Validated</a:t>
            </a:r>
          </a:p>
          <a:p>
            <a:r>
              <a:rPr lang="en-US" sz="1200" dirty="0"/>
              <a:t>   - Downloads PDF receipt</a:t>
            </a:r>
          </a:p>
          <a:p>
            <a:r>
              <a:rPr lang="en-US" sz="1200" dirty="0"/>
              <a:t>   - Same PDF as confirmation screen</a:t>
            </a:r>
          </a:p>
          <a:p>
            <a:r>
              <a:rPr lang="en-US" sz="1200" dirty="0"/>
              <a:t>3. [Resolve]: Available for Flagged only</a:t>
            </a:r>
          </a:p>
          <a:p>
            <a:r>
              <a:rPr lang="en-US" sz="1200" dirty="0"/>
              <a:t>   - Shows flag details</a:t>
            </a:r>
          </a:p>
          <a:p>
            <a:r>
              <a:rPr lang="en-US" sz="1200" dirty="0"/>
              <a:t>   - Allows coordinator to add response/clarification</a:t>
            </a:r>
          </a:p>
          <a:p>
            <a:r>
              <a:rPr lang="en-US" sz="1200" dirty="0"/>
              <a:t>   - Sends notification to analyst</a:t>
            </a:r>
          </a:p>
          <a:p>
            <a:endParaRPr lang="en-US" sz="1200" dirty="0"/>
          </a:p>
          <a:p>
            <a:r>
              <a:rPr lang="en-US" sz="1200" dirty="0"/>
              <a:t>Row Click Behavior:</a:t>
            </a:r>
          </a:p>
          <a:p>
            <a:r>
              <a:rPr lang="en-US" sz="1200" dirty="0"/>
              <a:t>- Click anywhere on row (except buttons) → View details</a:t>
            </a:r>
          </a:p>
          <a:p>
            <a:r>
              <a:rPr lang="en-US" sz="1200" dirty="0"/>
              <a:t>- Hover effect to show it's clickable</a:t>
            </a:r>
          </a:p>
          <a:p>
            <a:endParaRPr lang="en-US" sz="1200" dirty="0"/>
          </a:p>
          <a:p>
            <a:r>
              <a:rPr lang="en-US" sz="1200" dirty="0"/>
              <a:t>Pagination:</a:t>
            </a:r>
          </a:p>
          <a:p>
            <a:r>
              <a:rPr lang="en-US" sz="1200" dirty="0"/>
              <a:t>- Show 5-10 rows per page</a:t>
            </a:r>
          </a:p>
          <a:p>
            <a:r>
              <a:rPr lang="en-US" sz="1200" dirty="0"/>
              <a:t>- Calculate total pages</a:t>
            </a:r>
          </a:p>
          <a:p>
            <a:r>
              <a:rPr lang="en-US" sz="1200" dirty="0"/>
              <a:t>- Enable Previous/Next buttons based on current page</a:t>
            </a:r>
          </a:p>
          <a:p>
            <a:r>
              <a:rPr lang="en-US" sz="1200" dirty="0"/>
              <a:t>- Option: "Show All" for power users</a:t>
            </a:r>
          </a:p>
          <a:p>
            <a:endParaRPr lang="en-US" sz="1200" dirty="0"/>
          </a:p>
          <a:p>
            <a:r>
              <a:rPr lang="en-US" sz="1200" dirty="0"/>
              <a:t>Empty State:</a:t>
            </a:r>
          </a:p>
          <a:p>
            <a:r>
              <a:rPr lang="en-US" sz="1200" dirty="0"/>
              <a:t>- Shown when Filter() returns no results</a:t>
            </a:r>
          </a:p>
          <a:p>
            <a:r>
              <a:rPr lang="en-US" sz="1200" dirty="0"/>
              <a:t>- Friendly message encouraging first submission</a:t>
            </a:r>
          </a:p>
          <a:p>
            <a:r>
              <a:rPr lang="en-US" sz="1200" dirty="0"/>
              <a:t>- Clear call-to-action button</a:t>
            </a:r>
          </a:p>
          <a:p>
            <a:endParaRPr lang="en-US" sz="1200" dirty="0"/>
          </a:p>
          <a:p>
            <a:r>
              <a:rPr lang="en-US" sz="1200" dirty="0"/>
              <a:t>Export to Excel:</a:t>
            </a:r>
          </a:p>
          <a:p>
            <a:r>
              <a:rPr lang="en-US" sz="1200" dirty="0"/>
              <a:t>- Exports currently filtered/visible data</a:t>
            </a:r>
          </a:p>
          <a:p>
            <a:r>
              <a:rPr lang="en-US" sz="1200" dirty="0"/>
              <a:t>- Includes: ID, Month, Submitted Date, Status</a:t>
            </a:r>
          </a:p>
          <a:p>
            <a:r>
              <a:rPr lang="en-US" sz="1200" dirty="0"/>
              <a:t>- Filename: "</a:t>
            </a:r>
            <a:r>
              <a:rPr lang="en-US" sz="1200" dirty="0" err="1"/>
              <a:t>SubmissionHistory</a:t>
            </a:r>
            <a:r>
              <a:rPr lang="en-US" sz="1200" dirty="0"/>
              <a:t>_[</a:t>
            </a:r>
            <a:r>
              <a:rPr lang="en-US" sz="1200" dirty="0" err="1"/>
              <a:t>CountryCode</a:t>
            </a:r>
            <a:r>
              <a:rPr lang="en-US" sz="1200" dirty="0"/>
              <a:t>]_[Date].xlsx"</a:t>
            </a:r>
          </a:p>
          <a:p>
            <a:r>
              <a:rPr lang="en-US" sz="1200" dirty="0"/>
              <a:t>- Opens save dialog or auto-downloads</a:t>
            </a:r>
          </a:p>
          <a:p>
            <a:endParaRPr lang="en-US" sz="1200" dirty="0"/>
          </a:p>
          <a:p>
            <a:r>
              <a:rPr lang="en-US" sz="1200" dirty="0"/>
              <a:t>Submit New Volumes Button:</a:t>
            </a:r>
          </a:p>
          <a:p>
            <a:r>
              <a:rPr lang="en-US" sz="1200" dirty="0"/>
              <a:t>- Navigates to Screen 2 (Submission Form)</a:t>
            </a:r>
          </a:p>
          <a:p>
            <a:r>
              <a:rPr lang="en-US" sz="1200" dirty="0"/>
              <a:t>- Pre-selects current month if not already submitted</a:t>
            </a:r>
          </a:p>
          <a:p>
            <a:r>
              <a:rPr lang="en-US" sz="1200" dirty="0"/>
              <a:t>- Most common action from history screen</a:t>
            </a:r>
          </a:p>
          <a:p>
            <a:endParaRPr lang="en-US" sz="1200" dirty="0"/>
          </a:p>
          <a:p>
            <a:r>
              <a:rPr lang="en-US" sz="1200" dirty="0"/>
              <a:t>Performance Considerations:</a:t>
            </a:r>
          </a:p>
          <a:p>
            <a:r>
              <a:rPr lang="en-US" sz="1200" dirty="0"/>
              <a:t>- For users with 100+ submissions:</a:t>
            </a:r>
          </a:p>
          <a:p>
            <a:r>
              <a:rPr lang="en-US" sz="1200" dirty="0"/>
              <a:t>  - Default to last 12 months</a:t>
            </a:r>
          </a:p>
          <a:p>
            <a:r>
              <a:rPr lang="en-US" sz="1200" dirty="0"/>
              <a:t>  - Pagination is critical</a:t>
            </a:r>
          </a:p>
          <a:p>
            <a:r>
              <a:rPr lang="en-US" sz="1200" dirty="0"/>
              <a:t>  - Consider delegable queries</a:t>
            </a:r>
          </a:p>
          <a:p>
            <a:r>
              <a:rPr lang="en-US" sz="1200" dirty="0"/>
              <a:t>  - Load additional data on demand</a:t>
            </a:r>
          </a:p>
          <a:p>
            <a:endParaRPr lang="en-US" sz="1200" dirty="0"/>
          </a:p>
          <a:p>
            <a:r>
              <a:rPr lang="en-US" sz="1200" dirty="0"/>
              <a:t>Power Apps Implementation:</a:t>
            </a:r>
          </a:p>
          <a:p>
            <a:r>
              <a:rPr lang="en-US" sz="1200" dirty="0"/>
              <a:t>- Gallery control with Items = Filter(</a:t>
            </a:r>
            <a:r>
              <a:rPr lang="en-US" sz="1200" dirty="0" err="1"/>
              <a:t>tbl_VolumeSubmissions</a:t>
            </a:r>
            <a:r>
              <a:rPr lang="en-US" sz="1200" dirty="0"/>
              <a:t>...)</a:t>
            </a:r>
          </a:p>
          <a:p>
            <a:r>
              <a:rPr lang="en-US" sz="1200" dirty="0"/>
              <a:t>- Sort(Filter(...), </a:t>
            </a:r>
            <a:r>
              <a:rPr lang="en-US" sz="1200" dirty="0" err="1"/>
              <a:t>SubmittedDate</a:t>
            </a:r>
            <a:r>
              <a:rPr lang="en-US" sz="1200" dirty="0"/>
              <a:t>, Descending)</a:t>
            </a:r>
          </a:p>
          <a:p>
            <a:r>
              <a:rPr lang="en-US" sz="1200" dirty="0"/>
              <a:t>- Use delegation-friendly operators</a:t>
            </a:r>
          </a:p>
          <a:p>
            <a:r>
              <a:rPr lang="en-US" sz="1200" dirty="0"/>
              <a:t>- Cache filtered results in collection if needed</a:t>
            </a:r>
          </a:p>
          <a:p>
            <a:r>
              <a:rPr lang="en-US" sz="1200" dirty="0"/>
              <a:t>- Combo boxes for filter dropdowns</a:t>
            </a:r>
          </a:p>
          <a:p>
            <a:endParaRPr lang="en-US" sz="1200" dirty="0"/>
          </a:p>
          <a:p>
            <a:r>
              <a:rPr lang="en-US" sz="1200" dirty="0"/>
              <a:t>Navigation:</a:t>
            </a:r>
          </a:p>
          <a:p>
            <a:r>
              <a:rPr lang="en-US" sz="1200" dirty="0"/>
              <a:t>- View button: Navigate(</a:t>
            </a:r>
            <a:r>
              <a:rPr lang="en-US" sz="1200" dirty="0" err="1"/>
              <a:t>DetailScreen</a:t>
            </a:r>
            <a:r>
              <a:rPr lang="en-US" sz="1200" dirty="0"/>
              <a:t>, </a:t>
            </a:r>
            <a:r>
              <a:rPr lang="en-US" sz="1200" dirty="0" err="1"/>
              <a:t>ScreenTransition.None</a:t>
            </a:r>
            <a:r>
              <a:rPr lang="en-US" sz="1200" dirty="0"/>
              <a:t>, {</a:t>
            </a:r>
            <a:r>
              <a:rPr lang="en-US" sz="1200" dirty="0" err="1"/>
              <a:t>SelectedSubmission</a:t>
            </a:r>
            <a:r>
              <a:rPr lang="en-US" sz="1200" dirty="0"/>
              <a:t>: </a:t>
            </a:r>
            <a:r>
              <a:rPr lang="en-US" sz="1200" dirty="0" err="1"/>
              <a:t>ThisItem</a:t>
            </a:r>
            <a:r>
              <a:rPr lang="en-US" sz="1200" dirty="0"/>
              <a:t>})</a:t>
            </a:r>
          </a:p>
          <a:p>
            <a:r>
              <a:rPr lang="en-US" sz="1200" dirty="0"/>
              <a:t>- Submit New: Navigate(</a:t>
            </a:r>
            <a:r>
              <a:rPr lang="en-US" sz="1200" dirty="0" err="1"/>
              <a:t>SubmissionFormScreen</a:t>
            </a:r>
            <a:r>
              <a:rPr lang="en-US" sz="1200" dirty="0"/>
              <a:t>)</a:t>
            </a:r>
          </a:p>
          <a:p>
            <a:r>
              <a:rPr lang="en-US" sz="1200" dirty="0"/>
              <a:t>- Back: Navigate(</a:t>
            </a:r>
            <a:r>
              <a:rPr lang="en-US" sz="1200" dirty="0" err="1"/>
              <a:t>WelcomeScreen</a:t>
            </a:r>
            <a:r>
              <a:rPr lang="en-US" sz="1200" dirty="0"/>
              <a:t>)</a:t>
            </a:r>
          </a:p>
          <a:p>
            <a:endParaRPr lang="en-US" sz="1200" dirty="0"/>
          </a:p>
          <a:p>
            <a:r>
              <a:rPr lang="en-US" sz="1200" dirty="0"/>
              <a:t>Mobile Considerations:</a:t>
            </a:r>
          </a:p>
          <a:p>
            <a:r>
              <a:rPr lang="en-US" sz="1200" dirty="0"/>
              <a:t>- Table becomes vertical cards on narrow screens</a:t>
            </a:r>
          </a:p>
          <a:p>
            <a:r>
              <a:rPr lang="en-US" sz="1200" dirty="0"/>
              <a:t>- Fewer columns visible</a:t>
            </a:r>
          </a:p>
          <a:p>
            <a:r>
              <a:rPr lang="en-US" sz="1200" dirty="0"/>
              <a:t>- Swipe for actions instead of buttons</a:t>
            </a:r>
          </a:p>
          <a:p>
            <a:r>
              <a:rPr lang="en-US" sz="1200" dirty="0"/>
              <a:t>- Filter panel collapses to dropdown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782EF-3126-49E3-9D22-B519B285522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8887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266AF-146E-9A25-AB58-9FFB80390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1AE760-951A-49B7-3C0A-09803DFAB3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F152D8-F0AF-5002-452D-F6A72925ED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4480560"/>
          </a:xfrm>
        </p:spPr>
        <p:txBody>
          <a:bodyPr/>
          <a:lstStyle/>
          <a:p>
            <a:r>
              <a:rPr lang="en-US" sz="1200" dirty="0"/>
              <a:t>NOTES:</a:t>
            </a:r>
          </a:p>
          <a:p>
            <a:endParaRPr lang="en-US" sz="1200" dirty="0"/>
          </a:p>
          <a:p>
            <a:r>
              <a:rPr lang="en-US" sz="1200" dirty="0"/>
              <a:t>Data Source:</a:t>
            </a:r>
          </a:p>
          <a:p>
            <a:r>
              <a:rPr lang="en-US" sz="1200" dirty="0"/>
              <a:t>- </a:t>
            </a:r>
            <a:r>
              <a:rPr lang="en-US" sz="1200" dirty="0" err="1"/>
              <a:t>tbl_VolumeSubmissions</a:t>
            </a:r>
            <a:endParaRPr lang="en-US" sz="1200" dirty="0"/>
          </a:p>
          <a:p>
            <a:r>
              <a:rPr lang="en-US" sz="1200" dirty="0"/>
              <a:t>- Filter: </a:t>
            </a:r>
            <a:r>
              <a:rPr lang="en-US" sz="1200" dirty="0" err="1"/>
              <a:t>CountryID</a:t>
            </a:r>
            <a:r>
              <a:rPr lang="en-US" sz="1200" dirty="0"/>
              <a:t> = User's assigned country</a:t>
            </a:r>
          </a:p>
          <a:p>
            <a:r>
              <a:rPr lang="en-US" sz="1200" dirty="0"/>
              <a:t>- Order by: </a:t>
            </a:r>
            <a:r>
              <a:rPr lang="en-US" sz="1200" dirty="0" err="1"/>
              <a:t>SubmittedDate</a:t>
            </a:r>
            <a:r>
              <a:rPr lang="en-US" sz="1200" dirty="0"/>
              <a:t> DESC (most recent first)</a:t>
            </a:r>
          </a:p>
          <a:p>
            <a:r>
              <a:rPr lang="en-US" sz="1200" dirty="0"/>
              <a:t>- Include: All statuses except </a:t>
            </a:r>
            <a:r>
              <a:rPr lang="en-US" sz="1200" dirty="0" err="1"/>
              <a:t>IsDeleted</a:t>
            </a:r>
            <a:r>
              <a:rPr lang="en-US" sz="1200" dirty="0"/>
              <a:t> = Yes</a:t>
            </a:r>
          </a:p>
          <a:p>
            <a:endParaRPr lang="en-US" sz="1200" dirty="0"/>
          </a:p>
          <a:p>
            <a:r>
              <a:rPr lang="en-US" sz="1200" dirty="0"/>
              <a:t>Table Columns:</a:t>
            </a:r>
          </a:p>
          <a:p>
            <a:r>
              <a:rPr lang="en-US" sz="1200" dirty="0"/>
              <a:t>- Submission ID: Title field from </a:t>
            </a:r>
            <a:r>
              <a:rPr lang="en-US" sz="1200" dirty="0" err="1"/>
              <a:t>tbl_VolumeSubmissions</a:t>
            </a:r>
            <a:endParaRPr lang="en-US" sz="1200" dirty="0"/>
          </a:p>
          <a:p>
            <a:r>
              <a:rPr lang="en-US" sz="1200" dirty="0"/>
              <a:t>- Month: </a:t>
            </a:r>
            <a:r>
              <a:rPr lang="en-US" sz="1200" dirty="0" err="1"/>
              <a:t>SubmissionMonth</a:t>
            </a:r>
            <a:r>
              <a:rPr lang="en-US" sz="1200" dirty="0"/>
              <a:t> (displayed as "Month Year")</a:t>
            </a:r>
          </a:p>
          <a:p>
            <a:r>
              <a:rPr lang="en-US" sz="1200" dirty="0"/>
              <a:t>- Submitted: </a:t>
            </a:r>
            <a:r>
              <a:rPr lang="en-US" sz="1200" dirty="0" err="1"/>
              <a:t>SubmittedDate</a:t>
            </a:r>
            <a:r>
              <a:rPr lang="en-US" sz="1200" dirty="0"/>
              <a:t> (formatted as MM/DD/YY)</a:t>
            </a:r>
          </a:p>
          <a:p>
            <a:r>
              <a:rPr lang="en-US" sz="1200" dirty="0"/>
              <a:t>- Test Types: Count of distinct </a:t>
            </a:r>
            <a:r>
              <a:rPr lang="en-US" sz="1200" dirty="0" err="1"/>
              <a:t>TestTypeIDs</a:t>
            </a:r>
            <a:r>
              <a:rPr lang="en-US" sz="1200" dirty="0"/>
              <a:t> in submission</a:t>
            </a:r>
          </a:p>
          <a:p>
            <a:r>
              <a:rPr lang="en-US" sz="1200" dirty="0"/>
              <a:t>- Status: Current workflow status</a:t>
            </a:r>
          </a:p>
          <a:p>
            <a:r>
              <a:rPr lang="en-US" sz="1200" dirty="0"/>
              <a:t>- Actions: Dynamic buttons based on status</a:t>
            </a:r>
          </a:p>
          <a:p>
            <a:endParaRPr lang="en-US" sz="1200" dirty="0"/>
          </a:p>
          <a:p>
            <a:r>
              <a:rPr lang="en-US" sz="1200" dirty="0"/>
              <a:t>Filter Logic:</a:t>
            </a:r>
          </a:p>
          <a:p>
            <a:r>
              <a:rPr lang="en-US" sz="1200" dirty="0"/>
              <a:t>- Month dropdown: Populated from distinct </a:t>
            </a:r>
            <a:r>
              <a:rPr lang="en-US" sz="1200" dirty="0" err="1"/>
              <a:t>SubmissionMonth</a:t>
            </a:r>
            <a:r>
              <a:rPr lang="en-US" sz="1200" dirty="0"/>
              <a:t> values</a:t>
            </a:r>
          </a:p>
          <a:p>
            <a:r>
              <a:rPr lang="en-US" sz="1200" dirty="0"/>
              <a:t>- Status dropdown: Approved, Validated, Flagged, Submitted, Draft</a:t>
            </a:r>
          </a:p>
          <a:p>
            <a:r>
              <a:rPr lang="en-US" sz="1200" dirty="0"/>
              <a:t>- Year dropdown: Populated from distinct years in data</a:t>
            </a:r>
          </a:p>
          <a:p>
            <a:r>
              <a:rPr lang="en-US" sz="1200" dirty="0"/>
              <a:t>- Filters apply in combination (AND logic)</a:t>
            </a:r>
          </a:p>
          <a:p>
            <a:r>
              <a:rPr lang="en-US" sz="1200" dirty="0"/>
              <a:t>- Search: Searches Submission ID and Month fields</a:t>
            </a:r>
          </a:p>
          <a:p>
            <a:endParaRPr lang="en-US" sz="1200" dirty="0"/>
          </a:p>
          <a:p>
            <a:r>
              <a:rPr lang="en-US" sz="1200" dirty="0"/>
              <a:t>Status Display:</a:t>
            </a:r>
          </a:p>
          <a:p>
            <a:r>
              <a:rPr lang="en-US" sz="1200" dirty="0"/>
              <a:t>- Use colored badges for visual scanning</a:t>
            </a:r>
          </a:p>
          <a:p>
            <a:r>
              <a:rPr lang="en-US" sz="1200" dirty="0"/>
              <a:t>- Approved: Green</a:t>
            </a:r>
          </a:p>
          <a:p>
            <a:r>
              <a:rPr lang="en-US" sz="1200" dirty="0"/>
              <a:t>- Validated: Yellow</a:t>
            </a:r>
          </a:p>
          <a:p>
            <a:r>
              <a:rPr lang="en-US" sz="1200" dirty="0"/>
              <a:t>- Flagged: Orange/Red</a:t>
            </a:r>
          </a:p>
          <a:p>
            <a:r>
              <a:rPr lang="en-US" sz="1200" dirty="0"/>
              <a:t>- Submitted: Blue</a:t>
            </a:r>
          </a:p>
          <a:p>
            <a:r>
              <a:rPr lang="en-US" sz="1200" dirty="0"/>
              <a:t>- Draft: Gray</a:t>
            </a:r>
          </a:p>
          <a:p>
            <a:endParaRPr lang="en-US" sz="1200" dirty="0"/>
          </a:p>
          <a:p>
            <a:r>
              <a:rPr lang="en-US" sz="1200" dirty="0"/>
              <a:t>Action Buttons (Context-Sensitive):</a:t>
            </a:r>
          </a:p>
          <a:p>
            <a:r>
              <a:rPr lang="en-US" sz="1200" dirty="0"/>
              <a:t>1. [View]: Always available</a:t>
            </a:r>
          </a:p>
          <a:p>
            <a:r>
              <a:rPr lang="en-US" sz="1200" dirty="0"/>
              <a:t>   - Opens read-only detail view</a:t>
            </a:r>
          </a:p>
          <a:p>
            <a:r>
              <a:rPr lang="en-US" sz="1200" dirty="0"/>
              <a:t>   - Shows same info as confirmation screen</a:t>
            </a:r>
          </a:p>
          <a:p>
            <a:r>
              <a:rPr lang="en-US" sz="1200" dirty="0"/>
              <a:t>   </a:t>
            </a:r>
          </a:p>
          <a:p>
            <a:r>
              <a:rPr lang="en-US" sz="1200" dirty="0"/>
              <a:t>2. [Download]: Available for Approved/Validated</a:t>
            </a:r>
          </a:p>
          <a:p>
            <a:r>
              <a:rPr lang="en-US" sz="1200" dirty="0"/>
              <a:t>   - Downloads PDF receipt</a:t>
            </a:r>
          </a:p>
          <a:p>
            <a:r>
              <a:rPr lang="en-US" sz="1200" dirty="0"/>
              <a:t>   - Same PDF as confirmation screen</a:t>
            </a:r>
          </a:p>
          <a:p>
            <a:r>
              <a:rPr lang="en-US" sz="1200" dirty="0"/>
              <a:t>3. [Resolve]: Available for Flagged only</a:t>
            </a:r>
          </a:p>
          <a:p>
            <a:r>
              <a:rPr lang="en-US" sz="1200" dirty="0"/>
              <a:t>   - Shows flag details</a:t>
            </a:r>
          </a:p>
          <a:p>
            <a:r>
              <a:rPr lang="en-US" sz="1200" dirty="0"/>
              <a:t>   - Allows coordinator to add response/clarification</a:t>
            </a:r>
          </a:p>
          <a:p>
            <a:r>
              <a:rPr lang="en-US" sz="1200" dirty="0"/>
              <a:t>   - Sends notification to analyst</a:t>
            </a:r>
          </a:p>
          <a:p>
            <a:endParaRPr lang="en-US" sz="1200" dirty="0"/>
          </a:p>
          <a:p>
            <a:r>
              <a:rPr lang="en-US" sz="1200" dirty="0"/>
              <a:t>Row Click Behavior:</a:t>
            </a:r>
          </a:p>
          <a:p>
            <a:r>
              <a:rPr lang="en-US" sz="1200" dirty="0"/>
              <a:t>- Click anywhere on row (except buttons) → View details</a:t>
            </a:r>
          </a:p>
          <a:p>
            <a:r>
              <a:rPr lang="en-US" sz="1200" dirty="0"/>
              <a:t>- Hover effect to show it's clickable</a:t>
            </a:r>
          </a:p>
          <a:p>
            <a:endParaRPr lang="en-US" sz="1200" dirty="0"/>
          </a:p>
          <a:p>
            <a:r>
              <a:rPr lang="en-US" sz="1200" dirty="0"/>
              <a:t>Pagination:</a:t>
            </a:r>
          </a:p>
          <a:p>
            <a:r>
              <a:rPr lang="en-US" sz="1200" dirty="0"/>
              <a:t>- Show 5-10 rows per page</a:t>
            </a:r>
          </a:p>
          <a:p>
            <a:r>
              <a:rPr lang="en-US" sz="1200" dirty="0"/>
              <a:t>- Calculate total pages</a:t>
            </a:r>
          </a:p>
          <a:p>
            <a:r>
              <a:rPr lang="en-US" sz="1200" dirty="0"/>
              <a:t>- Enable Previous/Next buttons based on current page</a:t>
            </a:r>
          </a:p>
          <a:p>
            <a:r>
              <a:rPr lang="en-US" sz="1200" dirty="0"/>
              <a:t>- Option: "Show All" for power users</a:t>
            </a:r>
          </a:p>
          <a:p>
            <a:endParaRPr lang="en-US" sz="1200" dirty="0"/>
          </a:p>
          <a:p>
            <a:r>
              <a:rPr lang="en-US" sz="1200" dirty="0"/>
              <a:t>Empty State:</a:t>
            </a:r>
          </a:p>
          <a:p>
            <a:r>
              <a:rPr lang="en-US" sz="1200" dirty="0"/>
              <a:t>- Shown when Filter() returns no results</a:t>
            </a:r>
          </a:p>
          <a:p>
            <a:r>
              <a:rPr lang="en-US" sz="1200" dirty="0"/>
              <a:t>- Friendly message encouraging first submission</a:t>
            </a:r>
          </a:p>
          <a:p>
            <a:r>
              <a:rPr lang="en-US" sz="1200" dirty="0"/>
              <a:t>- Clear call-to-action button</a:t>
            </a:r>
          </a:p>
          <a:p>
            <a:endParaRPr lang="en-US" sz="1200" dirty="0"/>
          </a:p>
          <a:p>
            <a:r>
              <a:rPr lang="en-US" sz="1200" dirty="0"/>
              <a:t>Export to Excel:</a:t>
            </a:r>
          </a:p>
          <a:p>
            <a:r>
              <a:rPr lang="en-US" sz="1200" dirty="0"/>
              <a:t>- Exports currently filtered/visible data</a:t>
            </a:r>
          </a:p>
          <a:p>
            <a:r>
              <a:rPr lang="en-US" sz="1200" dirty="0"/>
              <a:t>- Includes: ID, Month, Submitted Date, Status</a:t>
            </a:r>
          </a:p>
          <a:p>
            <a:r>
              <a:rPr lang="en-US" sz="1200" dirty="0"/>
              <a:t>- Filename: "</a:t>
            </a:r>
            <a:r>
              <a:rPr lang="en-US" sz="1200" dirty="0" err="1"/>
              <a:t>SubmissionHistory</a:t>
            </a:r>
            <a:r>
              <a:rPr lang="en-US" sz="1200" dirty="0"/>
              <a:t>_[</a:t>
            </a:r>
            <a:r>
              <a:rPr lang="en-US" sz="1200" dirty="0" err="1"/>
              <a:t>CountryCode</a:t>
            </a:r>
            <a:r>
              <a:rPr lang="en-US" sz="1200" dirty="0"/>
              <a:t>]_[Date].xlsx"</a:t>
            </a:r>
          </a:p>
          <a:p>
            <a:r>
              <a:rPr lang="en-US" sz="1200" dirty="0"/>
              <a:t>- Opens save dialog or auto-downloads</a:t>
            </a:r>
          </a:p>
          <a:p>
            <a:endParaRPr lang="en-US" sz="1200" dirty="0"/>
          </a:p>
          <a:p>
            <a:r>
              <a:rPr lang="en-US" sz="1200" dirty="0"/>
              <a:t>Submit New Volumes Button:</a:t>
            </a:r>
          </a:p>
          <a:p>
            <a:r>
              <a:rPr lang="en-US" sz="1200" dirty="0"/>
              <a:t>- Navigates to Screen 2 (Submission Form)</a:t>
            </a:r>
          </a:p>
          <a:p>
            <a:r>
              <a:rPr lang="en-US" sz="1200" dirty="0"/>
              <a:t>- Pre-selects current month if not already submitted</a:t>
            </a:r>
          </a:p>
          <a:p>
            <a:r>
              <a:rPr lang="en-US" sz="1200" dirty="0"/>
              <a:t>- Most common action from history screen</a:t>
            </a:r>
          </a:p>
          <a:p>
            <a:endParaRPr lang="en-US" sz="1200" dirty="0"/>
          </a:p>
          <a:p>
            <a:r>
              <a:rPr lang="en-US" sz="1200" dirty="0"/>
              <a:t>Performance Considerations:</a:t>
            </a:r>
          </a:p>
          <a:p>
            <a:r>
              <a:rPr lang="en-US" sz="1200" dirty="0"/>
              <a:t>- For users with 100+ submissions:</a:t>
            </a:r>
          </a:p>
          <a:p>
            <a:r>
              <a:rPr lang="en-US" sz="1200" dirty="0"/>
              <a:t>  - Default to last 12 months</a:t>
            </a:r>
          </a:p>
          <a:p>
            <a:r>
              <a:rPr lang="en-US" sz="1200" dirty="0"/>
              <a:t>  - Pagination is critical</a:t>
            </a:r>
          </a:p>
          <a:p>
            <a:r>
              <a:rPr lang="en-US" sz="1200" dirty="0"/>
              <a:t>  - Consider delegable queries</a:t>
            </a:r>
          </a:p>
          <a:p>
            <a:r>
              <a:rPr lang="en-US" sz="1200" dirty="0"/>
              <a:t>  - Load additional data on demand</a:t>
            </a:r>
          </a:p>
          <a:p>
            <a:endParaRPr lang="en-US" sz="1200" dirty="0"/>
          </a:p>
          <a:p>
            <a:r>
              <a:rPr lang="en-US" sz="1200" dirty="0"/>
              <a:t>Power Apps Implementation:</a:t>
            </a:r>
          </a:p>
          <a:p>
            <a:r>
              <a:rPr lang="en-US" sz="1200" dirty="0"/>
              <a:t>- Gallery control with Items = Filter(</a:t>
            </a:r>
            <a:r>
              <a:rPr lang="en-US" sz="1200" dirty="0" err="1"/>
              <a:t>tbl_VolumeSubmissions</a:t>
            </a:r>
            <a:r>
              <a:rPr lang="en-US" sz="1200" dirty="0"/>
              <a:t>...)</a:t>
            </a:r>
          </a:p>
          <a:p>
            <a:r>
              <a:rPr lang="en-US" sz="1200" dirty="0"/>
              <a:t>- Sort(Filter(...), </a:t>
            </a:r>
            <a:r>
              <a:rPr lang="en-US" sz="1200" dirty="0" err="1"/>
              <a:t>SubmittedDate</a:t>
            </a:r>
            <a:r>
              <a:rPr lang="en-US" sz="1200" dirty="0"/>
              <a:t>, Descending)</a:t>
            </a:r>
          </a:p>
          <a:p>
            <a:r>
              <a:rPr lang="en-US" sz="1200" dirty="0"/>
              <a:t>- Use delegation-friendly operators</a:t>
            </a:r>
          </a:p>
          <a:p>
            <a:r>
              <a:rPr lang="en-US" sz="1200" dirty="0"/>
              <a:t>- Cache filtered results in collection if needed</a:t>
            </a:r>
          </a:p>
          <a:p>
            <a:r>
              <a:rPr lang="en-US" sz="1200" dirty="0"/>
              <a:t>- Combo boxes for filter dropdowns</a:t>
            </a:r>
          </a:p>
          <a:p>
            <a:endParaRPr lang="en-US" sz="1200" dirty="0"/>
          </a:p>
          <a:p>
            <a:r>
              <a:rPr lang="en-US" sz="1200" dirty="0"/>
              <a:t>Navigation:</a:t>
            </a:r>
          </a:p>
          <a:p>
            <a:r>
              <a:rPr lang="en-US" sz="1200" dirty="0"/>
              <a:t>- View button: Navigate(</a:t>
            </a:r>
            <a:r>
              <a:rPr lang="en-US" sz="1200" dirty="0" err="1"/>
              <a:t>DetailScreen</a:t>
            </a:r>
            <a:r>
              <a:rPr lang="en-US" sz="1200" dirty="0"/>
              <a:t>, </a:t>
            </a:r>
            <a:r>
              <a:rPr lang="en-US" sz="1200" dirty="0" err="1"/>
              <a:t>ScreenTransition.None</a:t>
            </a:r>
            <a:r>
              <a:rPr lang="en-US" sz="1200" dirty="0"/>
              <a:t>, {</a:t>
            </a:r>
            <a:r>
              <a:rPr lang="en-US" sz="1200" dirty="0" err="1"/>
              <a:t>SelectedSubmission</a:t>
            </a:r>
            <a:r>
              <a:rPr lang="en-US" sz="1200" dirty="0"/>
              <a:t>: </a:t>
            </a:r>
            <a:r>
              <a:rPr lang="en-US" sz="1200" dirty="0" err="1"/>
              <a:t>ThisItem</a:t>
            </a:r>
            <a:r>
              <a:rPr lang="en-US" sz="1200" dirty="0"/>
              <a:t>})</a:t>
            </a:r>
          </a:p>
          <a:p>
            <a:r>
              <a:rPr lang="en-US" sz="1200" dirty="0"/>
              <a:t>- Submit New: Navigate(</a:t>
            </a:r>
            <a:r>
              <a:rPr lang="en-US" sz="1200" dirty="0" err="1"/>
              <a:t>SubmissionFormScreen</a:t>
            </a:r>
            <a:r>
              <a:rPr lang="en-US" sz="1200" dirty="0"/>
              <a:t>)</a:t>
            </a:r>
          </a:p>
          <a:p>
            <a:r>
              <a:rPr lang="en-US" sz="1200" dirty="0"/>
              <a:t>- Back: Navigate(</a:t>
            </a:r>
            <a:r>
              <a:rPr lang="en-US" sz="1200" dirty="0" err="1"/>
              <a:t>WelcomeScreen</a:t>
            </a:r>
            <a:r>
              <a:rPr lang="en-US" sz="1200" dirty="0"/>
              <a:t>)</a:t>
            </a:r>
          </a:p>
          <a:p>
            <a:endParaRPr lang="en-US" sz="1200" dirty="0"/>
          </a:p>
          <a:p>
            <a:r>
              <a:rPr lang="en-US" sz="1200" dirty="0"/>
              <a:t>Mobile Considerations:</a:t>
            </a:r>
          </a:p>
          <a:p>
            <a:r>
              <a:rPr lang="en-US" sz="1200" dirty="0"/>
              <a:t>- Table becomes vertical cards on narrow screens</a:t>
            </a:r>
          </a:p>
          <a:p>
            <a:r>
              <a:rPr lang="en-US" sz="1200" dirty="0"/>
              <a:t>- Fewer columns visible</a:t>
            </a:r>
          </a:p>
          <a:p>
            <a:r>
              <a:rPr lang="en-US" sz="1200" dirty="0"/>
              <a:t>- Swipe for actions instead of buttons</a:t>
            </a:r>
          </a:p>
          <a:p>
            <a:r>
              <a:rPr lang="en-US" sz="1200" dirty="0"/>
              <a:t>- Filter panel collapses to dropdown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020A14-27BA-9B03-25F3-4B36A32A00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782EF-3126-49E3-9D22-B519B285522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9610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C5A7C-D8B5-90A1-852E-227E0C688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C603B9-36E5-E59E-9DF9-67A50CBC75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BBF857-BDE2-7AE0-1960-8162621399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4480560"/>
          </a:xfrm>
        </p:spPr>
        <p:txBody>
          <a:bodyPr/>
          <a:lstStyle/>
          <a:p>
            <a:r>
              <a:rPr lang="en-US" sz="1200" dirty="0"/>
              <a:t>NOTES:</a:t>
            </a:r>
          </a:p>
          <a:p>
            <a:endParaRPr lang="en-US" sz="1200" dirty="0"/>
          </a:p>
          <a:p>
            <a:r>
              <a:rPr lang="en-US" sz="1200" dirty="0"/>
              <a:t>Data Source:</a:t>
            </a:r>
          </a:p>
          <a:p>
            <a:r>
              <a:rPr lang="en-US" sz="1200" dirty="0"/>
              <a:t>- </a:t>
            </a:r>
            <a:r>
              <a:rPr lang="en-US" sz="1200" dirty="0" err="1"/>
              <a:t>tbl_VolumeSubmissions</a:t>
            </a:r>
            <a:endParaRPr lang="en-US" sz="1200" dirty="0"/>
          </a:p>
          <a:p>
            <a:r>
              <a:rPr lang="en-US" sz="1200" dirty="0"/>
              <a:t>- Filter: </a:t>
            </a:r>
            <a:r>
              <a:rPr lang="en-US" sz="1200" dirty="0" err="1"/>
              <a:t>CountryID</a:t>
            </a:r>
            <a:r>
              <a:rPr lang="en-US" sz="1200" dirty="0"/>
              <a:t> = User's assigned country</a:t>
            </a:r>
          </a:p>
          <a:p>
            <a:r>
              <a:rPr lang="en-US" sz="1200" dirty="0"/>
              <a:t>- Order by: </a:t>
            </a:r>
            <a:r>
              <a:rPr lang="en-US" sz="1200" dirty="0" err="1"/>
              <a:t>SubmittedDate</a:t>
            </a:r>
            <a:r>
              <a:rPr lang="en-US" sz="1200" dirty="0"/>
              <a:t> DESC (most recent first)</a:t>
            </a:r>
          </a:p>
          <a:p>
            <a:r>
              <a:rPr lang="en-US" sz="1200" dirty="0"/>
              <a:t>- Include: All statuses except </a:t>
            </a:r>
            <a:r>
              <a:rPr lang="en-US" sz="1200" dirty="0" err="1"/>
              <a:t>IsDeleted</a:t>
            </a:r>
            <a:r>
              <a:rPr lang="en-US" sz="1200" dirty="0"/>
              <a:t> = Yes</a:t>
            </a:r>
          </a:p>
          <a:p>
            <a:endParaRPr lang="en-US" sz="1200" dirty="0"/>
          </a:p>
          <a:p>
            <a:r>
              <a:rPr lang="en-US" sz="1200" dirty="0"/>
              <a:t>Table Columns:</a:t>
            </a:r>
          </a:p>
          <a:p>
            <a:r>
              <a:rPr lang="en-US" sz="1200" dirty="0"/>
              <a:t>- Submission ID: Title field from </a:t>
            </a:r>
            <a:r>
              <a:rPr lang="en-US" sz="1200" dirty="0" err="1"/>
              <a:t>tbl_VolumeSubmissions</a:t>
            </a:r>
            <a:endParaRPr lang="en-US" sz="1200" dirty="0"/>
          </a:p>
          <a:p>
            <a:r>
              <a:rPr lang="en-US" sz="1200" dirty="0"/>
              <a:t>- Month: </a:t>
            </a:r>
            <a:r>
              <a:rPr lang="en-US" sz="1200" dirty="0" err="1"/>
              <a:t>SubmissionMonth</a:t>
            </a:r>
            <a:r>
              <a:rPr lang="en-US" sz="1200" dirty="0"/>
              <a:t> (displayed as "Month Year")</a:t>
            </a:r>
          </a:p>
          <a:p>
            <a:r>
              <a:rPr lang="en-US" sz="1200" dirty="0"/>
              <a:t>- Submitted: </a:t>
            </a:r>
            <a:r>
              <a:rPr lang="en-US" sz="1200" dirty="0" err="1"/>
              <a:t>SubmittedDate</a:t>
            </a:r>
            <a:r>
              <a:rPr lang="en-US" sz="1200" dirty="0"/>
              <a:t> (formatted as MM/DD/YY)</a:t>
            </a:r>
          </a:p>
          <a:p>
            <a:r>
              <a:rPr lang="en-US" sz="1200" dirty="0"/>
              <a:t>- Test Types: Count of distinct </a:t>
            </a:r>
            <a:r>
              <a:rPr lang="en-US" sz="1200" dirty="0" err="1"/>
              <a:t>TestTypeIDs</a:t>
            </a:r>
            <a:r>
              <a:rPr lang="en-US" sz="1200" dirty="0"/>
              <a:t> in submission</a:t>
            </a:r>
          </a:p>
          <a:p>
            <a:r>
              <a:rPr lang="en-US" sz="1200" dirty="0"/>
              <a:t>- Status: Current workflow status</a:t>
            </a:r>
          </a:p>
          <a:p>
            <a:r>
              <a:rPr lang="en-US" sz="1200" dirty="0"/>
              <a:t>- Actions: Dynamic buttons based on status</a:t>
            </a:r>
          </a:p>
          <a:p>
            <a:endParaRPr lang="en-US" sz="1200" dirty="0"/>
          </a:p>
          <a:p>
            <a:r>
              <a:rPr lang="en-US" sz="1200" dirty="0"/>
              <a:t>Filter Logic:</a:t>
            </a:r>
          </a:p>
          <a:p>
            <a:r>
              <a:rPr lang="en-US" sz="1200" dirty="0"/>
              <a:t>- Month dropdown: Populated from distinct </a:t>
            </a:r>
            <a:r>
              <a:rPr lang="en-US" sz="1200" dirty="0" err="1"/>
              <a:t>SubmissionMonth</a:t>
            </a:r>
            <a:r>
              <a:rPr lang="en-US" sz="1200" dirty="0"/>
              <a:t> values</a:t>
            </a:r>
          </a:p>
          <a:p>
            <a:r>
              <a:rPr lang="en-US" sz="1200" dirty="0"/>
              <a:t>- Status dropdown: Approved, Validated, Flagged, Submitted, Draft</a:t>
            </a:r>
          </a:p>
          <a:p>
            <a:r>
              <a:rPr lang="en-US" sz="1200" dirty="0"/>
              <a:t>- Year dropdown: Populated from distinct years in data</a:t>
            </a:r>
          </a:p>
          <a:p>
            <a:r>
              <a:rPr lang="en-US" sz="1200" dirty="0"/>
              <a:t>- Filters apply in combination (AND logic)</a:t>
            </a:r>
          </a:p>
          <a:p>
            <a:r>
              <a:rPr lang="en-US" sz="1200" dirty="0"/>
              <a:t>- Search: Searches Submission ID and Month fields</a:t>
            </a:r>
          </a:p>
          <a:p>
            <a:endParaRPr lang="en-US" sz="1200" dirty="0"/>
          </a:p>
          <a:p>
            <a:r>
              <a:rPr lang="en-US" sz="1200" dirty="0"/>
              <a:t>Status Display:</a:t>
            </a:r>
          </a:p>
          <a:p>
            <a:r>
              <a:rPr lang="en-US" sz="1200" dirty="0"/>
              <a:t>- Use colored badges for visual scanning</a:t>
            </a:r>
          </a:p>
          <a:p>
            <a:r>
              <a:rPr lang="en-US" sz="1200" dirty="0"/>
              <a:t>- Approved: Green</a:t>
            </a:r>
          </a:p>
          <a:p>
            <a:r>
              <a:rPr lang="en-US" sz="1200" dirty="0"/>
              <a:t>- Validated: Yellow</a:t>
            </a:r>
          </a:p>
          <a:p>
            <a:r>
              <a:rPr lang="en-US" sz="1200" dirty="0"/>
              <a:t>- Flagged: Orange/Red</a:t>
            </a:r>
          </a:p>
          <a:p>
            <a:r>
              <a:rPr lang="en-US" sz="1200" dirty="0"/>
              <a:t>- Submitted: Blue</a:t>
            </a:r>
          </a:p>
          <a:p>
            <a:r>
              <a:rPr lang="en-US" sz="1200" dirty="0"/>
              <a:t>- Draft: Gray</a:t>
            </a:r>
          </a:p>
          <a:p>
            <a:endParaRPr lang="en-US" sz="1200" dirty="0"/>
          </a:p>
          <a:p>
            <a:r>
              <a:rPr lang="en-US" sz="1200" dirty="0"/>
              <a:t>Action Buttons (Context-Sensitive):</a:t>
            </a:r>
          </a:p>
          <a:p>
            <a:r>
              <a:rPr lang="en-US" sz="1200" dirty="0"/>
              <a:t>1. [View]: Always available</a:t>
            </a:r>
          </a:p>
          <a:p>
            <a:r>
              <a:rPr lang="en-US" sz="1200" dirty="0"/>
              <a:t>   - Opens read-only detail view</a:t>
            </a:r>
          </a:p>
          <a:p>
            <a:r>
              <a:rPr lang="en-US" sz="1200" dirty="0"/>
              <a:t>   - Shows same info as confirmation screen</a:t>
            </a:r>
          </a:p>
          <a:p>
            <a:r>
              <a:rPr lang="en-US" sz="1200" dirty="0"/>
              <a:t>   </a:t>
            </a:r>
          </a:p>
          <a:p>
            <a:r>
              <a:rPr lang="en-US" sz="1200" dirty="0"/>
              <a:t>2. [Download]: Available for Approved/Validated</a:t>
            </a:r>
          </a:p>
          <a:p>
            <a:r>
              <a:rPr lang="en-US" sz="1200" dirty="0"/>
              <a:t>   - Downloads PDF receipt</a:t>
            </a:r>
          </a:p>
          <a:p>
            <a:r>
              <a:rPr lang="en-US" sz="1200" dirty="0"/>
              <a:t>   - Same PDF as confirmation screen</a:t>
            </a:r>
          </a:p>
          <a:p>
            <a:r>
              <a:rPr lang="en-US" sz="1200" dirty="0"/>
              <a:t>3. [Resolve]: Available for Flagged only</a:t>
            </a:r>
          </a:p>
          <a:p>
            <a:r>
              <a:rPr lang="en-US" sz="1200" dirty="0"/>
              <a:t>   - Shows flag details</a:t>
            </a:r>
          </a:p>
          <a:p>
            <a:r>
              <a:rPr lang="en-US" sz="1200" dirty="0"/>
              <a:t>   - Allows coordinator to add response/clarification</a:t>
            </a:r>
          </a:p>
          <a:p>
            <a:r>
              <a:rPr lang="en-US" sz="1200" dirty="0"/>
              <a:t>   - Sends notification to analyst</a:t>
            </a:r>
          </a:p>
          <a:p>
            <a:endParaRPr lang="en-US" sz="1200" dirty="0"/>
          </a:p>
          <a:p>
            <a:r>
              <a:rPr lang="en-US" sz="1200" dirty="0"/>
              <a:t>Row Click Behavior:</a:t>
            </a:r>
          </a:p>
          <a:p>
            <a:r>
              <a:rPr lang="en-US" sz="1200" dirty="0"/>
              <a:t>- Click anywhere on row (except buttons) → View details</a:t>
            </a:r>
          </a:p>
          <a:p>
            <a:r>
              <a:rPr lang="en-US" sz="1200" dirty="0"/>
              <a:t>- Hover effect to show it's clickable</a:t>
            </a:r>
          </a:p>
          <a:p>
            <a:endParaRPr lang="en-US" sz="1200" dirty="0"/>
          </a:p>
          <a:p>
            <a:r>
              <a:rPr lang="en-US" sz="1200" dirty="0"/>
              <a:t>Pagination:</a:t>
            </a:r>
          </a:p>
          <a:p>
            <a:r>
              <a:rPr lang="en-US" sz="1200" dirty="0"/>
              <a:t>- Show 5-10 rows per page</a:t>
            </a:r>
          </a:p>
          <a:p>
            <a:r>
              <a:rPr lang="en-US" sz="1200" dirty="0"/>
              <a:t>- Calculate total pages</a:t>
            </a:r>
          </a:p>
          <a:p>
            <a:r>
              <a:rPr lang="en-US" sz="1200" dirty="0"/>
              <a:t>- Enable Previous/Next buttons based on current page</a:t>
            </a:r>
          </a:p>
          <a:p>
            <a:r>
              <a:rPr lang="en-US" sz="1200" dirty="0"/>
              <a:t>- Option: "Show All" for power users</a:t>
            </a:r>
          </a:p>
          <a:p>
            <a:endParaRPr lang="en-US" sz="1200" dirty="0"/>
          </a:p>
          <a:p>
            <a:r>
              <a:rPr lang="en-US" sz="1200" dirty="0"/>
              <a:t>Empty State:</a:t>
            </a:r>
          </a:p>
          <a:p>
            <a:r>
              <a:rPr lang="en-US" sz="1200" dirty="0"/>
              <a:t>- Shown when Filter() returns no results</a:t>
            </a:r>
          </a:p>
          <a:p>
            <a:r>
              <a:rPr lang="en-US" sz="1200" dirty="0"/>
              <a:t>- Friendly message encouraging first submission</a:t>
            </a:r>
          </a:p>
          <a:p>
            <a:r>
              <a:rPr lang="en-US" sz="1200" dirty="0"/>
              <a:t>- Clear call-to-action button</a:t>
            </a:r>
          </a:p>
          <a:p>
            <a:endParaRPr lang="en-US" sz="1200" dirty="0"/>
          </a:p>
          <a:p>
            <a:r>
              <a:rPr lang="en-US" sz="1200" dirty="0"/>
              <a:t>Export to Excel:</a:t>
            </a:r>
          </a:p>
          <a:p>
            <a:r>
              <a:rPr lang="en-US" sz="1200" dirty="0"/>
              <a:t>- Exports currently filtered/visible data</a:t>
            </a:r>
          </a:p>
          <a:p>
            <a:r>
              <a:rPr lang="en-US" sz="1200" dirty="0"/>
              <a:t>- Includes: ID, Month, Submitted Date, Status</a:t>
            </a:r>
          </a:p>
          <a:p>
            <a:r>
              <a:rPr lang="en-US" sz="1200" dirty="0"/>
              <a:t>- Filename: "</a:t>
            </a:r>
            <a:r>
              <a:rPr lang="en-US" sz="1200" dirty="0" err="1"/>
              <a:t>SubmissionHistory</a:t>
            </a:r>
            <a:r>
              <a:rPr lang="en-US" sz="1200" dirty="0"/>
              <a:t>_[</a:t>
            </a:r>
            <a:r>
              <a:rPr lang="en-US" sz="1200" dirty="0" err="1"/>
              <a:t>CountryCode</a:t>
            </a:r>
            <a:r>
              <a:rPr lang="en-US" sz="1200" dirty="0"/>
              <a:t>]_[Date].xlsx"</a:t>
            </a:r>
          </a:p>
          <a:p>
            <a:r>
              <a:rPr lang="en-US" sz="1200" dirty="0"/>
              <a:t>- Opens save dialog or auto-downloads</a:t>
            </a:r>
          </a:p>
          <a:p>
            <a:endParaRPr lang="en-US" sz="1200" dirty="0"/>
          </a:p>
          <a:p>
            <a:r>
              <a:rPr lang="en-US" sz="1200" dirty="0"/>
              <a:t>Submit New Volumes Button:</a:t>
            </a:r>
          </a:p>
          <a:p>
            <a:r>
              <a:rPr lang="en-US" sz="1200" dirty="0"/>
              <a:t>- Navigates to Screen 2 (Submission Form)</a:t>
            </a:r>
          </a:p>
          <a:p>
            <a:r>
              <a:rPr lang="en-US" sz="1200" dirty="0"/>
              <a:t>- Pre-selects current month if not already submitted</a:t>
            </a:r>
          </a:p>
          <a:p>
            <a:r>
              <a:rPr lang="en-US" sz="1200" dirty="0"/>
              <a:t>- Most common action from history screen</a:t>
            </a:r>
          </a:p>
          <a:p>
            <a:endParaRPr lang="en-US" sz="1200" dirty="0"/>
          </a:p>
          <a:p>
            <a:r>
              <a:rPr lang="en-US" sz="1200" dirty="0"/>
              <a:t>Performance Considerations:</a:t>
            </a:r>
          </a:p>
          <a:p>
            <a:r>
              <a:rPr lang="en-US" sz="1200" dirty="0"/>
              <a:t>- For users with 100+ submissions:</a:t>
            </a:r>
          </a:p>
          <a:p>
            <a:r>
              <a:rPr lang="en-US" sz="1200" dirty="0"/>
              <a:t>  - Default to last 12 months</a:t>
            </a:r>
          </a:p>
          <a:p>
            <a:r>
              <a:rPr lang="en-US" sz="1200" dirty="0"/>
              <a:t>  - Pagination is critical</a:t>
            </a:r>
          </a:p>
          <a:p>
            <a:r>
              <a:rPr lang="en-US" sz="1200" dirty="0"/>
              <a:t>  - Consider delegable queries</a:t>
            </a:r>
          </a:p>
          <a:p>
            <a:r>
              <a:rPr lang="en-US" sz="1200" dirty="0"/>
              <a:t>  - Load additional data on demand</a:t>
            </a:r>
          </a:p>
          <a:p>
            <a:endParaRPr lang="en-US" sz="1200" dirty="0"/>
          </a:p>
          <a:p>
            <a:r>
              <a:rPr lang="en-US" sz="1200" dirty="0"/>
              <a:t>Power Apps Implementation:</a:t>
            </a:r>
          </a:p>
          <a:p>
            <a:r>
              <a:rPr lang="en-US" sz="1200" dirty="0"/>
              <a:t>- Gallery control with Items = Filter(</a:t>
            </a:r>
            <a:r>
              <a:rPr lang="en-US" sz="1200" dirty="0" err="1"/>
              <a:t>tbl_VolumeSubmissions</a:t>
            </a:r>
            <a:r>
              <a:rPr lang="en-US" sz="1200" dirty="0"/>
              <a:t>...)</a:t>
            </a:r>
          </a:p>
          <a:p>
            <a:r>
              <a:rPr lang="en-US" sz="1200" dirty="0"/>
              <a:t>- Sort(Filter(...), </a:t>
            </a:r>
            <a:r>
              <a:rPr lang="en-US" sz="1200" dirty="0" err="1"/>
              <a:t>SubmittedDate</a:t>
            </a:r>
            <a:r>
              <a:rPr lang="en-US" sz="1200" dirty="0"/>
              <a:t>, Descending)</a:t>
            </a:r>
          </a:p>
          <a:p>
            <a:r>
              <a:rPr lang="en-US" sz="1200" dirty="0"/>
              <a:t>- Use delegation-friendly operators</a:t>
            </a:r>
          </a:p>
          <a:p>
            <a:r>
              <a:rPr lang="en-US" sz="1200" dirty="0"/>
              <a:t>- Cache filtered results in collection if needed</a:t>
            </a:r>
          </a:p>
          <a:p>
            <a:r>
              <a:rPr lang="en-US" sz="1200" dirty="0"/>
              <a:t>- Combo boxes for filter dropdowns</a:t>
            </a:r>
          </a:p>
          <a:p>
            <a:endParaRPr lang="en-US" sz="1200" dirty="0"/>
          </a:p>
          <a:p>
            <a:r>
              <a:rPr lang="en-US" sz="1200" dirty="0"/>
              <a:t>Navigation:</a:t>
            </a:r>
          </a:p>
          <a:p>
            <a:r>
              <a:rPr lang="en-US" sz="1200" dirty="0"/>
              <a:t>- View button: Navigate(</a:t>
            </a:r>
            <a:r>
              <a:rPr lang="en-US" sz="1200" dirty="0" err="1"/>
              <a:t>DetailScreen</a:t>
            </a:r>
            <a:r>
              <a:rPr lang="en-US" sz="1200" dirty="0"/>
              <a:t>, </a:t>
            </a:r>
            <a:r>
              <a:rPr lang="en-US" sz="1200" dirty="0" err="1"/>
              <a:t>ScreenTransition.None</a:t>
            </a:r>
            <a:r>
              <a:rPr lang="en-US" sz="1200" dirty="0"/>
              <a:t>, {</a:t>
            </a:r>
            <a:r>
              <a:rPr lang="en-US" sz="1200" dirty="0" err="1"/>
              <a:t>SelectedSubmission</a:t>
            </a:r>
            <a:r>
              <a:rPr lang="en-US" sz="1200" dirty="0"/>
              <a:t>: </a:t>
            </a:r>
            <a:r>
              <a:rPr lang="en-US" sz="1200" dirty="0" err="1"/>
              <a:t>ThisItem</a:t>
            </a:r>
            <a:r>
              <a:rPr lang="en-US" sz="1200" dirty="0"/>
              <a:t>})</a:t>
            </a:r>
          </a:p>
          <a:p>
            <a:r>
              <a:rPr lang="en-US" sz="1200" dirty="0"/>
              <a:t>- Submit New: Navigate(</a:t>
            </a:r>
            <a:r>
              <a:rPr lang="en-US" sz="1200" dirty="0" err="1"/>
              <a:t>SubmissionFormScreen</a:t>
            </a:r>
            <a:r>
              <a:rPr lang="en-US" sz="1200" dirty="0"/>
              <a:t>)</a:t>
            </a:r>
          </a:p>
          <a:p>
            <a:r>
              <a:rPr lang="en-US" sz="1200" dirty="0"/>
              <a:t>- Back: Navigate(</a:t>
            </a:r>
            <a:r>
              <a:rPr lang="en-US" sz="1200" dirty="0" err="1"/>
              <a:t>WelcomeScreen</a:t>
            </a:r>
            <a:r>
              <a:rPr lang="en-US" sz="1200" dirty="0"/>
              <a:t>)</a:t>
            </a:r>
          </a:p>
          <a:p>
            <a:endParaRPr lang="en-US" sz="1200" dirty="0"/>
          </a:p>
          <a:p>
            <a:r>
              <a:rPr lang="en-US" sz="1200" dirty="0"/>
              <a:t>Mobile Considerations:</a:t>
            </a:r>
          </a:p>
          <a:p>
            <a:r>
              <a:rPr lang="en-US" sz="1200" dirty="0"/>
              <a:t>- Table becomes vertical cards on narrow screens</a:t>
            </a:r>
          </a:p>
          <a:p>
            <a:r>
              <a:rPr lang="en-US" sz="1200" dirty="0"/>
              <a:t>- Fewer columns visible</a:t>
            </a:r>
          </a:p>
          <a:p>
            <a:r>
              <a:rPr lang="en-US" sz="1200" dirty="0"/>
              <a:t>- Swipe for actions instead of buttons</a:t>
            </a:r>
          </a:p>
          <a:p>
            <a:r>
              <a:rPr lang="en-US" sz="1200" dirty="0"/>
              <a:t>- Filter panel collapses to dropdown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D96EA1-F735-A080-E0D3-7A4076F06F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782EF-3126-49E3-9D22-B519B285522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6856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A0DEE-6613-B3CD-D3A8-C8CFC1535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D25DD2-F04A-F3F2-FEF5-EA2BEEC2B0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FF81C5-AA0D-B2F0-63F2-184C573D3A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4480560"/>
          </a:xfrm>
        </p:spPr>
        <p:txBody>
          <a:bodyPr/>
          <a:lstStyle/>
          <a:p>
            <a:r>
              <a:rPr lang="en-US" sz="1200" dirty="0"/>
              <a:t>NOTES:</a:t>
            </a:r>
          </a:p>
          <a:p>
            <a:endParaRPr lang="en-US" sz="1200" dirty="0"/>
          </a:p>
          <a:p>
            <a:r>
              <a:rPr lang="en-US" sz="1200" dirty="0"/>
              <a:t>Data Source:</a:t>
            </a:r>
          </a:p>
          <a:p>
            <a:r>
              <a:rPr lang="en-US" sz="1200" dirty="0"/>
              <a:t>- </a:t>
            </a:r>
            <a:r>
              <a:rPr lang="en-US" sz="1200" dirty="0" err="1"/>
              <a:t>tbl_VolumeSubmissions</a:t>
            </a:r>
            <a:endParaRPr lang="en-US" sz="1200" dirty="0"/>
          </a:p>
          <a:p>
            <a:r>
              <a:rPr lang="en-US" sz="1200" dirty="0"/>
              <a:t>- Filter: </a:t>
            </a:r>
            <a:r>
              <a:rPr lang="en-US" sz="1200" dirty="0" err="1"/>
              <a:t>CountryID</a:t>
            </a:r>
            <a:r>
              <a:rPr lang="en-US" sz="1200" dirty="0"/>
              <a:t> = User's assigned country</a:t>
            </a:r>
          </a:p>
          <a:p>
            <a:r>
              <a:rPr lang="en-US" sz="1200" dirty="0"/>
              <a:t>- Order by: </a:t>
            </a:r>
            <a:r>
              <a:rPr lang="en-US" sz="1200" dirty="0" err="1"/>
              <a:t>SubmittedDate</a:t>
            </a:r>
            <a:r>
              <a:rPr lang="en-US" sz="1200" dirty="0"/>
              <a:t> DESC (most recent first)</a:t>
            </a:r>
          </a:p>
          <a:p>
            <a:r>
              <a:rPr lang="en-US" sz="1200" dirty="0"/>
              <a:t>- Include: All statuses except </a:t>
            </a:r>
            <a:r>
              <a:rPr lang="en-US" sz="1200" dirty="0" err="1"/>
              <a:t>IsDeleted</a:t>
            </a:r>
            <a:r>
              <a:rPr lang="en-US" sz="1200" dirty="0"/>
              <a:t> = Yes</a:t>
            </a:r>
          </a:p>
          <a:p>
            <a:endParaRPr lang="en-US" sz="1200" dirty="0"/>
          </a:p>
          <a:p>
            <a:r>
              <a:rPr lang="en-US" sz="1200" dirty="0"/>
              <a:t>Table Columns:</a:t>
            </a:r>
          </a:p>
          <a:p>
            <a:r>
              <a:rPr lang="en-US" sz="1200" dirty="0"/>
              <a:t>- Submission ID: Title field from </a:t>
            </a:r>
            <a:r>
              <a:rPr lang="en-US" sz="1200" dirty="0" err="1"/>
              <a:t>tbl_VolumeSubmissions</a:t>
            </a:r>
            <a:endParaRPr lang="en-US" sz="1200" dirty="0"/>
          </a:p>
          <a:p>
            <a:r>
              <a:rPr lang="en-US" sz="1200" dirty="0"/>
              <a:t>- Month: </a:t>
            </a:r>
            <a:r>
              <a:rPr lang="en-US" sz="1200" dirty="0" err="1"/>
              <a:t>SubmissionMonth</a:t>
            </a:r>
            <a:r>
              <a:rPr lang="en-US" sz="1200" dirty="0"/>
              <a:t> (displayed as "Month Year")</a:t>
            </a:r>
          </a:p>
          <a:p>
            <a:r>
              <a:rPr lang="en-US" sz="1200" dirty="0"/>
              <a:t>- Submitted: </a:t>
            </a:r>
            <a:r>
              <a:rPr lang="en-US" sz="1200" dirty="0" err="1"/>
              <a:t>SubmittedDate</a:t>
            </a:r>
            <a:r>
              <a:rPr lang="en-US" sz="1200" dirty="0"/>
              <a:t> (formatted as MM/DD/YY)</a:t>
            </a:r>
          </a:p>
          <a:p>
            <a:r>
              <a:rPr lang="en-US" sz="1200" dirty="0"/>
              <a:t>- Test Types: Count of distinct </a:t>
            </a:r>
            <a:r>
              <a:rPr lang="en-US" sz="1200" dirty="0" err="1"/>
              <a:t>TestTypeIDs</a:t>
            </a:r>
            <a:r>
              <a:rPr lang="en-US" sz="1200" dirty="0"/>
              <a:t> in submission</a:t>
            </a:r>
          </a:p>
          <a:p>
            <a:r>
              <a:rPr lang="en-US" sz="1200" dirty="0"/>
              <a:t>- Status: Current workflow status</a:t>
            </a:r>
          </a:p>
          <a:p>
            <a:r>
              <a:rPr lang="en-US" sz="1200" dirty="0"/>
              <a:t>- Actions: Dynamic buttons based on status</a:t>
            </a:r>
          </a:p>
          <a:p>
            <a:endParaRPr lang="en-US" sz="1200" dirty="0"/>
          </a:p>
          <a:p>
            <a:r>
              <a:rPr lang="en-US" sz="1200" dirty="0"/>
              <a:t>Filter Logic:</a:t>
            </a:r>
          </a:p>
          <a:p>
            <a:r>
              <a:rPr lang="en-US" sz="1200" dirty="0"/>
              <a:t>- Month dropdown: Populated from distinct </a:t>
            </a:r>
            <a:r>
              <a:rPr lang="en-US" sz="1200" dirty="0" err="1"/>
              <a:t>SubmissionMonth</a:t>
            </a:r>
            <a:r>
              <a:rPr lang="en-US" sz="1200" dirty="0"/>
              <a:t> values</a:t>
            </a:r>
          </a:p>
          <a:p>
            <a:r>
              <a:rPr lang="en-US" sz="1200" dirty="0"/>
              <a:t>- Status dropdown: Approved, Validated, Flagged, Submitted, Draft</a:t>
            </a:r>
          </a:p>
          <a:p>
            <a:r>
              <a:rPr lang="en-US" sz="1200" dirty="0"/>
              <a:t>- Year dropdown: Populated from distinct years in data</a:t>
            </a:r>
          </a:p>
          <a:p>
            <a:r>
              <a:rPr lang="en-US" sz="1200" dirty="0"/>
              <a:t>- Filters apply in combination (AND logic)</a:t>
            </a:r>
          </a:p>
          <a:p>
            <a:r>
              <a:rPr lang="en-US" sz="1200" dirty="0"/>
              <a:t>- Search: Searches Submission ID and Month fields</a:t>
            </a:r>
          </a:p>
          <a:p>
            <a:endParaRPr lang="en-US" sz="1200" dirty="0"/>
          </a:p>
          <a:p>
            <a:r>
              <a:rPr lang="en-US" sz="1200" dirty="0"/>
              <a:t>Status Display:</a:t>
            </a:r>
          </a:p>
          <a:p>
            <a:r>
              <a:rPr lang="en-US" sz="1200" dirty="0"/>
              <a:t>- Use colored badges for visual scanning</a:t>
            </a:r>
          </a:p>
          <a:p>
            <a:r>
              <a:rPr lang="en-US" sz="1200" dirty="0"/>
              <a:t>- Approved: Green</a:t>
            </a:r>
          </a:p>
          <a:p>
            <a:r>
              <a:rPr lang="en-US" sz="1200" dirty="0"/>
              <a:t>- Validated: Yellow</a:t>
            </a:r>
          </a:p>
          <a:p>
            <a:r>
              <a:rPr lang="en-US" sz="1200" dirty="0"/>
              <a:t>- Flagged: Orange/Red</a:t>
            </a:r>
          </a:p>
          <a:p>
            <a:r>
              <a:rPr lang="en-US" sz="1200" dirty="0"/>
              <a:t>- Submitted: Blue</a:t>
            </a:r>
          </a:p>
          <a:p>
            <a:r>
              <a:rPr lang="en-US" sz="1200" dirty="0"/>
              <a:t>- Draft: Gray</a:t>
            </a:r>
          </a:p>
          <a:p>
            <a:endParaRPr lang="en-US" sz="1200" dirty="0"/>
          </a:p>
          <a:p>
            <a:r>
              <a:rPr lang="en-US" sz="1200" dirty="0"/>
              <a:t>Action Buttons (Context-Sensitive):</a:t>
            </a:r>
          </a:p>
          <a:p>
            <a:r>
              <a:rPr lang="en-US" sz="1200" dirty="0"/>
              <a:t>1. [View]: Always available</a:t>
            </a:r>
          </a:p>
          <a:p>
            <a:r>
              <a:rPr lang="en-US" sz="1200" dirty="0"/>
              <a:t>   - Opens read-only detail view</a:t>
            </a:r>
          </a:p>
          <a:p>
            <a:r>
              <a:rPr lang="en-US" sz="1200" dirty="0"/>
              <a:t>   - Shows same info as confirmation screen</a:t>
            </a:r>
          </a:p>
          <a:p>
            <a:r>
              <a:rPr lang="en-US" sz="1200" dirty="0"/>
              <a:t>   </a:t>
            </a:r>
          </a:p>
          <a:p>
            <a:r>
              <a:rPr lang="en-US" sz="1200" dirty="0"/>
              <a:t>2. [Download]: Available for Approved/Validated</a:t>
            </a:r>
          </a:p>
          <a:p>
            <a:r>
              <a:rPr lang="en-US" sz="1200" dirty="0"/>
              <a:t>   - Downloads PDF receipt</a:t>
            </a:r>
          </a:p>
          <a:p>
            <a:r>
              <a:rPr lang="en-US" sz="1200" dirty="0"/>
              <a:t>   - Same PDF as confirmation screen</a:t>
            </a:r>
          </a:p>
          <a:p>
            <a:r>
              <a:rPr lang="en-US" sz="1200" dirty="0"/>
              <a:t>3. [Resolve]: Available for Flagged only</a:t>
            </a:r>
          </a:p>
          <a:p>
            <a:r>
              <a:rPr lang="en-US" sz="1200" dirty="0"/>
              <a:t>   - Shows flag details</a:t>
            </a:r>
          </a:p>
          <a:p>
            <a:r>
              <a:rPr lang="en-US" sz="1200" dirty="0"/>
              <a:t>   - Allows coordinator to add response/clarification</a:t>
            </a:r>
          </a:p>
          <a:p>
            <a:r>
              <a:rPr lang="en-US" sz="1200" dirty="0"/>
              <a:t>   - Sends notification to analyst</a:t>
            </a:r>
          </a:p>
          <a:p>
            <a:endParaRPr lang="en-US" sz="1200" dirty="0"/>
          </a:p>
          <a:p>
            <a:r>
              <a:rPr lang="en-US" sz="1200" dirty="0"/>
              <a:t>Row Click Behavior:</a:t>
            </a:r>
          </a:p>
          <a:p>
            <a:r>
              <a:rPr lang="en-US" sz="1200" dirty="0"/>
              <a:t>- Click anywhere on row (except buttons) → View details</a:t>
            </a:r>
          </a:p>
          <a:p>
            <a:r>
              <a:rPr lang="en-US" sz="1200" dirty="0"/>
              <a:t>- Hover effect to show it's clickable</a:t>
            </a:r>
          </a:p>
          <a:p>
            <a:endParaRPr lang="en-US" sz="1200" dirty="0"/>
          </a:p>
          <a:p>
            <a:r>
              <a:rPr lang="en-US" sz="1200" dirty="0"/>
              <a:t>Pagination:</a:t>
            </a:r>
          </a:p>
          <a:p>
            <a:r>
              <a:rPr lang="en-US" sz="1200" dirty="0"/>
              <a:t>- Show 5-10 rows per page</a:t>
            </a:r>
          </a:p>
          <a:p>
            <a:r>
              <a:rPr lang="en-US" sz="1200" dirty="0"/>
              <a:t>- Calculate total pages</a:t>
            </a:r>
          </a:p>
          <a:p>
            <a:r>
              <a:rPr lang="en-US" sz="1200" dirty="0"/>
              <a:t>- Enable Previous/Next buttons based on current page</a:t>
            </a:r>
          </a:p>
          <a:p>
            <a:r>
              <a:rPr lang="en-US" sz="1200" dirty="0"/>
              <a:t>- Option: "Show All" for power users</a:t>
            </a:r>
          </a:p>
          <a:p>
            <a:endParaRPr lang="en-US" sz="1200" dirty="0"/>
          </a:p>
          <a:p>
            <a:r>
              <a:rPr lang="en-US" sz="1200" dirty="0"/>
              <a:t>Empty State:</a:t>
            </a:r>
          </a:p>
          <a:p>
            <a:r>
              <a:rPr lang="en-US" sz="1200" dirty="0"/>
              <a:t>- Shown when Filter() returns no results</a:t>
            </a:r>
          </a:p>
          <a:p>
            <a:r>
              <a:rPr lang="en-US" sz="1200" dirty="0"/>
              <a:t>- Friendly message encouraging first submission</a:t>
            </a:r>
          </a:p>
          <a:p>
            <a:r>
              <a:rPr lang="en-US" sz="1200" dirty="0"/>
              <a:t>- Clear call-to-action button</a:t>
            </a:r>
          </a:p>
          <a:p>
            <a:endParaRPr lang="en-US" sz="1200" dirty="0"/>
          </a:p>
          <a:p>
            <a:r>
              <a:rPr lang="en-US" sz="1200" dirty="0"/>
              <a:t>Export to Excel:</a:t>
            </a:r>
          </a:p>
          <a:p>
            <a:r>
              <a:rPr lang="en-US" sz="1200" dirty="0"/>
              <a:t>- Exports currently filtered/visible data</a:t>
            </a:r>
          </a:p>
          <a:p>
            <a:r>
              <a:rPr lang="en-US" sz="1200" dirty="0"/>
              <a:t>- Includes: ID, Month, Submitted Date, Status</a:t>
            </a:r>
          </a:p>
          <a:p>
            <a:r>
              <a:rPr lang="en-US" sz="1200" dirty="0"/>
              <a:t>- Filename: "</a:t>
            </a:r>
            <a:r>
              <a:rPr lang="en-US" sz="1200" dirty="0" err="1"/>
              <a:t>SubmissionHistory</a:t>
            </a:r>
            <a:r>
              <a:rPr lang="en-US" sz="1200" dirty="0"/>
              <a:t>_[</a:t>
            </a:r>
            <a:r>
              <a:rPr lang="en-US" sz="1200" dirty="0" err="1"/>
              <a:t>CountryCode</a:t>
            </a:r>
            <a:r>
              <a:rPr lang="en-US" sz="1200" dirty="0"/>
              <a:t>]_[Date].xlsx"</a:t>
            </a:r>
          </a:p>
          <a:p>
            <a:r>
              <a:rPr lang="en-US" sz="1200" dirty="0"/>
              <a:t>- Opens save dialog or auto-downloads</a:t>
            </a:r>
          </a:p>
          <a:p>
            <a:endParaRPr lang="en-US" sz="1200" dirty="0"/>
          </a:p>
          <a:p>
            <a:r>
              <a:rPr lang="en-US" sz="1200" dirty="0"/>
              <a:t>Submit New Volumes Button:</a:t>
            </a:r>
          </a:p>
          <a:p>
            <a:r>
              <a:rPr lang="en-US" sz="1200" dirty="0"/>
              <a:t>- Navigates to Screen 2 (Submission Form)</a:t>
            </a:r>
          </a:p>
          <a:p>
            <a:r>
              <a:rPr lang="en-US" sz="1200" dirty="0"/>
              <a:t>- Pre-selects current month if not already submitted</a:t>
            </a:r>
          </a:p>
          <a:p>
            <a:r>
              <a:rPr lang="en-US" sz="1200" dirty="0"/>
              <a:t>- Most common action from history screen</a:t>
            </a:r>
          </a:p>
          <a:p>
            <a:endParaRPr lang="en-US" sz="1200" dirty="0"/>
          </a:p>
          <a:p>
            <a:r>
              <a:rPr lang="en-US" sz="1200" dirty="0"/>
              <a:t>Performance Considerations:</a:t>
            </a:r>
          </a:p>
          <a:p>
            <a:r>
              <a:rPr lang="en-US" sz="1200" dirty="0"/>
              <a:t>- For users with 100+ submissions:</a:t>
            </a:r>
          </a:p>
          <a:p>
            <a:r>
              <a:rPr lang="en-US" sz="1200" dirty="0"/>
              <a:t>  - Default to last 12 months</a:t>
            </a:r>
          </a:p>
          <a:p>
            <a:r>
              <a:rPr lang="en-US" sz="1200" dirty="0"/>
              <a:t>  - Pagination is critical</a:t>
            </a:r>
          </a:p>
          <a:p>
            <a:r>
              <a:rPr lang="en-US" sz="1200" dirty="0"/>
              <a:t>  - Consider delegable queries</a:t>
            </a:r>
          </a:p>
          <a:p>
            <a:r>
              <a:rPr lang="en-US" sz="1200" dirty="0"/>
              <a:t>  - Load additional data on demand</a:t>
            </a:r>
          </a:p>
          <a:p>
            <a:endParaRPr lang="en-US" sz="1200" dirty="0"/>
          </a:p>
          <a:p>
            <a:r>
              <a:rPr lang="en-US" sz="1200" dirty="0"/>
              <a:t>Power Apps Implementation:</a:t>
            </a:r>
          </a:p>
          <a:p>
            <a:r>
              <a:rPr lang="en-US" sz="1200" dirty="0"/>
              <a:t>- Gallery control with Items = Filter(</a:t>
            </a:r>
            <a:r>
              <a:rPr lang="en-US" sz="1200" dirty="0" err="1"/>
              <a:t>tbl_VolumeSubmissions</a:t>
            </a:r>
            <a:r>
              <a:rPr lang="en-US" sz="1200" dirty="0"/>
              <a:t>...)</a:t>
            </a:r>
          </a:p>
          <a:p>
            <a:r>
              <a:rPr lang="en-US" sz="1200" dirty="0"/>
              <a:t>- Sort(Filter(...), </a:t>
            </a:r>
            <a:r>
              <a:rPr lang="en-US" sz="1200" dirty="0" err="1"/>
              <a:t>SubmittedDate</a:t>
            </a:r>
            <a:r>
              <a:rPr lang="en-US" sz="1200" dirty="0"/>
              <a:t>, Descending)</a:t>
            </a:r>
          </a:p>
          <a:p>
            <a:r>
              <a:rPr lang="en-US" sz="1200" dirty="0"/>
              <a:t>- Use delegation-friendly operators</a:t>
            </a:r>
          </a:p>
          <a:p>
            <a:r>
              <a:rPr lang="en-US" sz="1200" dirty="0"/>
              <a:t>- Cache filtered results in collection if needed</a:t>
            </a:r>
          </a:p>
          <a:p>
            <a:r>
              <a:rPr lang="en-US" sz="1200" dirty="0"/>
              <a:t>- Combo boxes for filter dropdowns</a:t>
            </a:r>
          </a:p>
          <a:p>
            <a:endParaRPr lang="en-US" sz="1200" dirty="0"/>
          </a:p>
          <a:p>
            <a:r>
              <a:rPr lang="en-US" sz="1200" dirty="0"/>
              <a:t>Navigation:</a:t>
            </a:r>
          </a:p>
          <a:p>
            <a:r>
              <a:rPr lang="en-US" sz="1200" dirty="0"/>
              <a:t>- View button: Navigate(</a:t>
            </a:r>
            <a:r>
              <a:rPr lang="en-US" sz="1200" dirty="0" err="1"/>
              <a:t>DetailScreen</a:t>
            </a:r>
            <a:r>
              <a:rPr lang="en-US" sz="1200" dirty="0"/>
              <a:t>, </a:t>
            </a:r>
            <a:r>
              <a:rPr lang="en-US" sz="1200" dirty="0" err="1"/>
              <a:t>ScreenTransition.None</a:t>
            </a:r>
            <a:r>
              <a:rPr lang="en-US" sz="1200" dirty="0"/>
              <a:t>, {</a:t>
            </a:r>
            <a:r>
              <a:rPr lang="en-US" sz="1200" dirty="0" err="1"/>
              <a:t>SelectedSubmission</a:t>
            </a:r>
            <a:r>
              <a:rPr lang="en-US" sz="1200" dirty="0"/>
              <a:t>: </a:t>
            </a:r>
            <a:r>
              <a:rPr lang="en-US" sz="1200" dirty="0" err="1"/>
              <a:t>ThisItem</a:t>
            </a:r>
            <a:r>
              <a:rPr lang="en-US" sz="1200" dirty="0"/>
              <a:t>})</a:t>
            </a:r>
          </a:p>
          <a:p>
            <a:r>
              <a:rPr lang="en-US" sz="1200" dirty="0"/>
              <a:t>- Submit New: Navigate(</a:t>
            </a:r>
            <a:r>
              <a:rPr lang="en-US" sz="1200" dirty="0" err="1"/>
              <a:t>SubmissionFormScreen</a:t>
            </a:r>
            <a:r>
              <a:rPr lang="en-US" sz="1200" dirty="0"/>
              <a:t>)</a:t>
            </a:r>
          </a:p>
          <a:p>
            <a:r>
              <a:rPr lang="en-US" sz="1200" dirty="0"/>
              <a:t>- Back: Navigate(</a:t>
            </a:r>
            <a:r>
              <a:rPr lang="en-US" sz="1200" dirty="0" err="1"/>
              <a:t>WelcomeScreen</a:t>
            </a:r>
            <a:r>
              <a:rPr lang="en-US" sz="1200" dirty="0"/>
              <a:t>)</a:t>
            </a:r>
          </a:p>
          <a:p>
            <a:endParaRPr lang="en-US" sz="1200" dirty="0"/>
          </a:p>
          <a:p>
            <a:r>
              <a:rPr lang="en-US" sz="1200" dirty="0"/>
              <a:t>Mobile Considerations:</a:t>
            </a:r>
          </a:p>
          <a:p>
            <a:r>
              <a:rPr lang="en-US" sz="1200" dirty="0"/>
              <a:t>- Table becomes vertical cards on narrow screens</a:t>
            </a:r>
          </a:p>
          <a:p>
            <a:r>
              <a:rPr lang="en-US" sz="1200" dirty="0"/>
              <a:t>- Fewer columns visible</a:t>
            </a:r>
          </a:p>
          <a:p>
            <a:r>
              <a:rPr lang="en-US" sz="1200" dirty="0"/>
              <a:t>- Swipe for actions instead of buttons</a:t>
            </a:r>
          </a:p>
          <a:p>
            <a:r>
              <a:rPr lang="en-US" sz="1200" dirty="0"/>
              <a:t>- Filter panel collapses to dropdown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E79237-0816-8EA8-D939-7DCAF46D7F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782EF-3126-49E3-9D22-B519B285522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3177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A2DAB-4FB3-9042-C1D4-50BE30E58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723E2A-B072-ADC5-09B9-124031C06A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FE9FB6-F128-B058-C1B5-F393671EA7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4480560"/>
          </a:xfrm>
        </p:spPr>
        <p:txBody>
          <a:bodyPr/>
          <a:lstStyle/>
          <a:p>
            <a:r>
              <a:rPr lang="en-US" sz="1200" dirty="0"/>
              <a:t>NOTES:</a:t>
            </a:r>
          </a:p>
          <a:p>
            <a:endParaRPr lang="en-US" sz="1200" dirty="0"/>
          </a:p>
          <a:p>
            <a:r>
              <a:rPr lang="en-US" sz="1200" dirty="0"/>
              <a:t>Data Source:</a:t>
            </a:r>
          </a:p>
          <a:p>
            <a:r>
              <a:rPr lang="en-US" sz="1200" dirty="0"/>
              <a:t>- </a:t>
            </a:r>
            <a:r>
              <a:rPr lang="en-US" sz="1200" dirty="0" err="1"/>
              <a:t>tbl_VolumeSubmissions</a:t>
            </a:r>
            <a:endParaRPr lang="en-US" sz="1200" dirty="0"/>
          </a:p>
          <a:p>
            <a:r>
              <a:rPr lang="en-US" sz="1200" dirty="0"/>
              <a:t>- Filter: </a:t>
            </a:r>
            <a:r>
              <a:rPr lang="en-US" sz="1200" dirty="0" err="1"/>
              <a:t>CountryID</a:t>
            </a:r>
            <a:r>
              <a:rPr lang="en-US" sz="1200" dirty="0"/>
              <a:t> = User's assigned country</a:t>
            </a:r>
          </a:p>
          <a:p>
            <a:r>
              <a:rPr lang="en-US" sz="1200" dirty="0"/>
              <a:t>- Order by: </a:t>
            </a:r>
            <a:r>
              <a:rPr lang="en-US" sz="1200" dirty="0" err="1"/>
              <a:t>SubmittedDate</a:t>
            </a:r>
            <a:r>
              <a:rPr lang="en-US" sz="1200" dirty="0"/>
              <a:t> DESC (most recent first)</a:t>
            </a:r>
          </a:p>
          <a:p>
            <a:r>
              <a:rPr lang="en-US" sz="1200" dirty="0"/>
              <a:t>- Include: All statuses except </a:t>
            </a:r>
            <a:r>
              <a:rPr lang="en-US" sz="1200" dirty="0" err="1"/>
              <a:t>IsDeleted</a:t>
            </a:r>
            <a:r>
              <a:rPr lang="en-US" sz="1200" dirty="0"/>
              <a:t> = Yes</a:t>
            </a:r>
          </a:p>
          <a:p>
            <a:endParaRPr lang="en-US" sz="1200" dirty="0"/>
          </a:p>
          <a:p>
            <a:r>
              <a:rPr lang="en-US" sz="1200" dirty="0"/>
              <a:t>Table Columns:</a:t>
            </a:r>
          </a:p>
          <a:p>
            <a:r>
              <a:rPr lang="en-US" sz="1200" dirty="0"/>
              <a:t>- Submission ID: Title field from </a:t>
            </a:r>
            <a:r>
              <a:rPr lang="en-US" sz="1200" dirty="0" err="1"/>
              <a:t>tbl_VolumeSubmissions</a:t>
            </a:r>
            <a:endParaRPr lang="en-US" sz="1200" dirty="0"/>
          </a:p>
          <a:p>
            <a:r>
              <a:rPr lang="en-US" sz="1200" dirty="0"/>
              <a:t>- Month: </a:t>
            </a:r>
            <a:r>
              <a:rPr lang="en-US" sz="1200" dirty="0" err="1"/>
              <a:t>SubmissionMonth</a:t>
            </a:r>
            <a:r>
              <a:rPr lang="en-US" sz="1200" dirty="0"/>
              <a:t> (displayed as "Month Year")</a:t>
            </a:r>
          </a:p>
          <a:p>
            <a:r>
              <a:rPr lang="en-US" sz="1200" dirty="0"/>
              <a:t>- Submitted: </a:t>
            </a:r>
            <a:r>
              <a:rPr lang="en-US" sz="1200" dirty="0" err="1"/>
              <a:t>SubmittedDate</a:t>
            </a:r>
            <a:r>
              <a:rPr lang="en-US" sz="1200" dirty="0"/>
              <a:t> (formatted as MM/DD/YY)</a:t>
            </a:r>
          </a:p>
          <a:p>
            <a:r>
              <a:rPr lang="en-US" sz="1200" dirty="0"/>
              <a:t>- Test Types: Count of distinct </a:t>
            </a:r>
            <a:r>
              <a:rPr lang="en-US" sz="1200" dirty="0" err="1"/>
              <a:t>TestTypeIDs</a:t>
            </a:r>
            <a:r>
              <a:rPr lang="en-US" sz="1200" dirty="0"/>
              <a:t> in submission</a:t>
            </a:r>
          </a:p>
          <a:p>
            <a:r>
              <a:rPr lang="en-US" sz="1200" dirty="0"/>
              <a:t>- Status: Current workflow status</a:t>
            </a:r>
          </a:p>
          <a:p>
            <a:r>
              <a:rPr lang="en-US" sz="1200" dirty="0"/>
              <a:t>- Actions: Dynamic buttons based on status</a:t>
            </a:r>
          </a:p>
          <a:p>
            <a:endParaRPr lang="en-US" sz="1200" dirty="0"/>
          </a:p>
          <a:p>
            <a:r>
              <a:rPr lang="en-US" sz="1200" dirty="0"/>
              <a:t>Filter Logic:</a:t>
            </a:r>
          </a:p>
          <a:p>
            <a:r>
              <a:rPr lang="en-US" sz="1200" dirty="0"/>
              <a:t>- Month dropdown: Populated from distinct </a:t>
            </a:r>
            <a:r>
              <a:rPr lang="en-US" sz="1200" dirty="0" err="1"/>
              <a:t>SubmissionMonth</a:t>
            </a:r>
            <a:r>
              <a:rPr lang="en-US" sz="1200" dirty="0"/>
              <a:t> values</a:t>
            </a:r>
          </a:p>
          <a:p>
            <a:r>
              <a:rPr lang="en-US" sz="1200" dirty="0"/>
              <a:t>- Status dropdown: Approved, Validated, Flagged, Submitted, Draft</a:t>
            </a:r>
          </a:p>
          <a:p>
            <a:r>
              <a:rPr lang="en-US" sz="1200" dirty="0"/>
              <a:t>- Year dropdown: Populated from distinct years in data</a:t>
            </a:r>
          </a:p>
          <a:p>
            <a:r>
              <a:rPr lang="en-US" sz="1200" dirty="0"/>
              <a:t>- Filters apply in combination (AND logic)</a:t>
            </a:r>
          </a:p>
          <a:p>
            <a:r>
              <a:rPr lang="en-US" sz="1200" dirty="0"/>
              <a:t>- Search: Searches Submission ID and Month fields</a:t>
            </a:r>
          </a:p>
          <a:p>
            <a:endParaRPr lang="en-US" sz="1200" dirty="0"/>
          </a:p>
          <a:p>
            <a:r>
              <a:rPr lang="en-US" sz="1200" dirty="0"/>
              <a:t>Status Display:</a:t>
            </a:r>
          </a:p>
          <a:p>
            <a:r>
              <a:rPr lang="en-US" sz="1200" dirty="0"/>
              <a:t>- Use colored badges for visual scanning</a:t>
            </a:r>
          </a:p>
          <a:p>
            <a:r>
              <a:rPr lang="en-US" sz="1200" dirty="0"/>
              <a:t>- Approved: Green</a:t>
            </a:r>
          </a:p>
          <a:p>
            <a:r>
              <a:rPr lang="en-US" sz="1200" dirty="0"/>
              <a:t>- Validated: Yellow</a:t>
            </a:r>
          </a:p>
          <a:p>
            <a:r>
              <a:rPr lang="en-US" sz="1200" dirty="0"/>
              <a:t>- Flagged: Orange/Red</a:t>
            </a:r>
          </a:p>
          <a:p>
            <a:r>
              <a:rPr lang="en-US" sz="1200" dirty="0"/>
              <a:t>- Submitted: Blue</a:t>
            </a:r>
          </a:p>
          <a:p>
            <a:r>
              <a:rPr lang="en-US" sz="1200" dirty="0"/>
              <a:t>- Draft: Gray</a:t>
            </a:r>
          </a:p>
          <a:p>
            <a:endParaRPr lang="en-US" sz="1200" dirty="0"/>
          </a:p>
          <a:p>
            <a:r>
              <a:rPr lang="en-US" sz="1200" dirty="0"/>
              <a:t>Action Buttons (Context-Sensitive):</a:t>
            </a:r>
          </a:p>
          <a:p>
            <a:r>
              <a:rPr lang="en-US" sz="1200" dirty="0"/>
              <a:t>1. [View]: Always available</a:t>
            </a:r>
          </a:p>
          <a:p>
            <a:r>
              <a:rPr lang="en-US" sz="1200" dirty="0"/>
              <a:t>   - Opens read-only detail view</a:t>
            </a:r>
          </a:p>
          <a:p>
            <a:r>
              <a:rPr lang="en-US" sz="1200" dirty="0"/>
              <a:t>   - Shows same info as confirmation screen</a:t>
            </a:r>
          </a:p>
          <a:p>
            <a:r>
              <a:rPr lang="en-US" sz="1200" dirty="0"/>
              <a:t>   </a:t>
            </a:r>
          </a:p>
          <a:p>
            <a:r>
              <a:rPr lang="en-US" sz="1200" dirty="0"/>
              <a:t>2. [Download]: Available for Approved/Validated</a:t>
            </a:r>
          </a:p>
          <a:p>
            <a:r>
              <a:rPr lang="en-US" sz="1200" dirty="0"/>
              <a:t>   - Downloads PDF receipt</a:t>
            </a:r>
          </a:p>
          <a:p>
            <a:r>
              <a:rPr lang="en-US" sz="1200" dirty="0"/>
              <a:t>   - Same PDF as confirmation screen</a:t>
            </a:r>
          </a:p>
          <a:p>
            <a:r>
              <a:rPr lang="en-US" sz="1200" dirty="0"/>
              <a:t>3. [Resolve]: Available for Flagged only</a:t>
            </a:r>
          </a:p>
          <a:p>
            <a:r>
              <a:rPr lang="en-US" sz="1200" dirty="0"/>
              <a:t>   - Shows flag details</a:t>
            </a:r>
          </a:p>
          <a:p>
            <a:r>
              <a:rPr lang="en-US" sz="1200" dirty="0"/>
              <a:t>   - Allows coordinator to add response/clarification</a:t>
            </a:r>
          </a:p>
          <a:p>
            <a:r>
              <a:rPr lang="en-US" sz="1200" dirty="0"/>
              <a:t>   - Sends notification to analyst</a:t>
            </a:r>
          </a:p>
          <a:p>
            <a:endParaRPr lang="en-US" sz="1200" dirty="0"/>
          </a:p>
          <a:p>
            <a:r>
              <a:rPr lang="en-US" sz="1200" dirty="0"/>
              <a:t>Row Click Behavior:</a:t>
            </a:r>
          </a:p>
          <a:p>
            <a:r>
              <a:rPr lang="en-US" sz="1200" dirty="0"/>
              <a:t>- Click anywhere on row (except buttons) → View details</a:t>
            </a:r>
          </a:p>
          <a:p>
            <a:r>
              <a:rPr lang="en-US" sz="1200" dirty="0"/>
              <a:t>- Hover effect to show it's clickable</a:t>
            </a:r>
          </a:p>
          <a:p>
            <a:endParaRPr lang="en-US" sz="1200" dirty="0"/>
          </a:p>
          <a:p>
            <a:r>
              <a:rPr lang="en-US" sz="1200" dirty="0"/>
              <a:t>Pagination:</a:t>
            </a:r>
          </a:p>
          <a:p>
            <a:r>
              <a:rPr lang="en-US" sz="1200" dirty="0"/>
              <a:t>- Show 5-10 rows per page</a:t>
            </a:r>
          </a:p>
          <a:p>
            <a:r>
              <a:rPr lang="en-US" sz="1200" dirty="0"/>
              <a:t>- Calculate total pages</a:t>
            </a:r>
          </a:p>
          <a:p>
            <a:r>
              <a:rPr lang="en-US" sz="1200" dirty="0"/>
              <a:t>- Enable Previous/Next buttons based on current page</a:t>
            </a:r>
          </a:p>
          <a:p>
            <a:r>
              <a:rPr lang="en-US" sz="1200" dirty="0"/>
              <a:t>- Option: "Show All" for power users</a:t>
            </a:r>
          </a:p>
          <a:p>
            <a:endParaRPr lang="en-US" sz="1200" dirty="0"/>
          </a:p>
          <a:p>
            <a:r>
              <a:rPr lang="en-US" sz="1200" dirty="0"/>
              <a:t>Empty State:</a:t>
            </a:r>
          </a:p>
          <a:p>
            <a:r>
              <a:rPr lang="en-US" sz="1200" dirty="0"/>
              <a:t>- Shown when Filter() returns no results</a:t>
            </a:r>
          </a:p>
          <a:p>
            <a:r>
              <a:rPr lang="en-US" sz="1200" dirty="0"/>
              <a:t>- Friendly message encouraging first submission</a:t>
            </a:r>
          </a:p>
          <a:p>
            <a:r>
              <a:rPr lang="en-US" sz="1200" dirty="0"/>
              <a:t>- Clear call-to-action button</a:t>
            </a:r>
          </a:p>
          <a:p>
            <a:endParaRPr lang="en-US" sz="1200" dirty="0"/>
          </a:p>
          <a:p>
            <a:r>
              <a:rPr lang="en-US" sz="1200" dirty="0"/>
              <a:t>Export to Excel:</a:t>
            </a:r>
          </a:p>
          <a:p>
            <a:r>
              <a:rPr lang="en-US" sz="1200" dirty="0"/>
              <a:t>- Exports currently filtered/visible data</a:t>
            </a:r>
          </a:p>
          <a:p>
            <a:r>
              <a:rPr lang="en-US" sz="1200" dirty="0"/>
              <a:t>- Includes: ID, Month, Submitted Date, Status</a:t>
            </a:r>
          </a:p>
          <a:p>
            <a:r>
              <a:rPr lang="en-US" sz="1200" dirty="0"/>
              <a:t>- Filename: "</a:t>
            </a:r>
            <a:r>
              <a:rPr lang="en-US" sz="1200" dirty="0" err="1"/>
              <a:t>SubmissionHistory</a:t>
            </a:r>
            <a:r>
              <a:rPr lang="en-US" sz="1200" dirty="0"/>
              <a:t>_[</a:t>
            </a:r>
            <a:r>
              <a:rPr lang="en-US" sz="1200" dirty="0" err="1"/>
              <a:t>CountryCode</a:t>
            </a:r>
            <a:r>
              <a:rPr lang="en-US" sz="1200" dirty="0"/>
              <a:t>]_[Date].xlsx"</a:t>
            </a:r>
          </a:p>
          <a:p>
            <a:r>
              <a:rPr lang="en-US" sz="1200" dirty="0"/>
              <a:t>- Opens save dialog or auto-downloads</a:t>
            </a:r>
          </a:p>
          <a:p>
            <a:endParaRPr lang="en-US" sz="1200" dirty="0"/>
          </a:p>
          <a:p>
            <a:r>
              <a:rPr lang="en-US" sz="1200" dirty="0"/>
              <a:t>Submit New Volumes Button:</a:t>
            </a:r>
          </a:p>
          <a:p>
            <a:r>
              <a:rPr lang="en-US" sz="1200" dirty="0"/>
              <a:t>- Navigates to Screen 2 (Submission Form)</a:t>
            </a:r>
          </a:p>
          <a:p>
            <a:r>
              <a:rPr lang="en-US" sz="1200" dirty="0"/>
              <a:t>- Pre-selects current month if not already submitted</a:t>
            </a:r>
          </a:p>
          <a:p>
            <a:r>
              <a:rPr lang="en-US" sz="1200" dirty="0"/>
              <a:t>- Most common action from history screen</a:t>
            </a:r>
          </a:p>
          <a:p>
            <a:endParaRPr lang="en-US" sz="1200" dirty="0"/>
          </a:p>
          <a:p>
            <a:r>
              <a:rPr lang="en-US" sz="1200" dirty="0"/>
              <a:t>Performance Considerations:</a:t>
            </a:r>
          </a:p>
          <a:p>
            <a:r>
              <a:rPr lang="en-US" sz="1200" dirty="0"/>
              <a:t>- For users with 100+ submissions:</a:t>
            </a:r>
          </a:p>
          <a:p>
            <a:r>
              <a:rPr lang="en-US" sz="1200" dirty="0"/>
              <a:t>  - Default to last 12 months</a:t>
            </a:r>
          </a:p>
          <a:p>
            <a:r>
              <a:rPr lang="en-US" sz="1200" dirty="0"/>
              <a:t>  - Pagination is critical</a:t>
            </a:r>
          </a:p>
          <a:p>
            <a:r>
              <a:rPr lang="en-US" sz="1200" dirty="0"/>
              <a:t>  - Consider delegable queries</a:t>
            </a:r>
          </a:p>
          <a:p>
            <a:r>
              <a:rPr lang="en-US" sz="1200" dirty="0"/>
              <a:t>  - Load additional data on demand</a:t>
            </a:r>
          </a:p>
          <a:p>
            <a:endParaRPr lang="en-US" sz="1200" dirty="0"/>
          </a:p>
          <a:p>
            <a:r>
              <a:rPr lang="en-US" sz="1200" dirty="0"/>
              <a:t>Power Apps Implementation:</a:t>
            </a:r>
          </a:p>
          <a:p>
            <a:r>
              <a:rPr lang="en-US" sz="1200" dirty="0"/>
              <a:t>- Gallery control with Items = Filter(</a:t>
            </a:r>
            <a:r>
              <a:rPr lang="en-US" sz="1200" dirty="0" err="1"/>
              <a:t>tbl_VolumeSubmissions</a:t>
            </a:r>
            <a:r>
              <a:rPr lang="en-US" sz="1200" dirty="0"/>
              <a:t>...)</a:t>
            </a:r>
          </a:p>
          <a:p>
            <a:r>
              <a:rPr lang="en-US" sz="1200" dirty="0"/>
              <a:t>- Sort(Filter(...), </a:t>
            </a:r>
            <a:r>
              <a:rPr lang="en-US" sz="1200" dirty="0" err="1"/>
              <a:t>SubmittedDate</a:t>
            </a:r>
            <a:r>
              <a:rPr lang="en-US" sz="1200" dirty="0"/>
              <a:t>, Descending)</a:t>
            </a:r>
          </a:p>
          <a:p>
            <a:r>
              <a:rPr lang="en-US" sz="1200" dirty="0"/>
              <a:t>- Use delegation-friendly operators</a:t>
            </a:r>
          </a:p>
          <a:p>
            <a:r>
              <a:rPr lang="en-US" sz="1200" dirty="0"/>
              <a:t>- Cache filtered results in collection if needed</a:t>
            </a:r>
          </a:p>
          <a:p>
            <a:r>
              <a:rPr lang="en-US" sz="1200" dirty="0"/>
              <a:t>- Combo boxes for filter dropdowns</a:t>
            </a:r>
          </a:p>
          <a:p>
            <a:endParaRPr lang="en-US" sz="1200" dirty="0"/>
          </a:p>
          <a:p>
            <a:r>
              <a:rPr lang="en-US" sz="1200" dirty="0"/>
              <a:t>Navigation:</a:t>
            </a:r>
          </a:p>
          <a:p>
            <a:r>
              <a:rPr lang="en-US" sz="1200" dirty="0"/>
              <a:t>- View button: Navigate(</a:t>
            </a:r>
            <a:r>
              <a:rPr lang="en-US" sz="1200" dirty="0" err="1"/>
              <a:t>DetailScreen</a:t>
            </a:r>
            <a:r>
              <a:rPr lang="en-US" sz="1200" dirty="0"/>
              <a:t>, </a:t>
            </a:r>
            <a:r>
              <a:rPr lang="en-US" sz="1200" dirty="0" err="1"/>
              <a:t>ScreenTransition.None</a:t>
            </a:r>
            <a:r>
              <a:rPr lang="en-US" sz="1200" dirty="0"/>
              <a:t>, {</a:t>
            </a:r>
            <a:r>
              <a:rPr lang="en-US" sz="1200" dirty="0" err="1"/>
              <a:t>SelectedSubmission</a:t>
            </a:r>
            <a:r>
              <a:rPr lang="en-US" sz="1200" dirty="0"/>
              <a:t>: </a:t>
            </a:r>
            <a:r>
              <a:rPr lang="en-US" sz="1200" dirty="0" err="1"/>
              <a:t>ThisItem</a:t>
            </a:r>
            <a:r>
              <a:rPr lang="en-US" sz="1200" dirty="0"/>
              <a:t>})</a:t>
            </a:r>
          </a:p>
          <a:p>
            <a:r>
              <a:rPr lang="en-US" sz="1200" dirty="0"/>
              <a:t>- Submit New: Navigate(</a:t>
            </a:r>
            <a:r>
              <a:rPr lang="en-US" sz="1200" dirty="0" err="1"/>
              <a:t>SubmissionFormScreen</a:t>
            </a:r>
            <a:r>
              <a:rPr lang="en-US" sz="1200" dirty="0"/>
              <a:t>)</a:t>
            </a:r>
          </a:p>
          <a:p>
            <a:r>
              <a:rPr lang="en-US" sz="1200" dirty="0"/>
              <a:t>- Back: Navigate(</a:t>
            </a:r>
            <a:r>
              <a:rPr lang="en-US" sz="1200" dirty="0" err="1"/>
              <a:t>WelcomeScreen</a:t>
            </a:r>
            <a:r>
              <a:rPr lang="en-US" sz="1200" dirty="0"/>
              <a:t>)</a:t>
            </a:r>
          </a:p>
          <a:p>
            <a:endParaRPr lang="en-US" sz="1200" dirty="0"/>
          </a:p>
          <a:p>
            <a:r>
              <a:rPr lang="en-US" sz="1200" dirty="0"/>
              <a:t>Mobile Considerations:</a:t>
            </a:r>
          </a:p>
          <a:p>
            <a:r>
              <a:rPr lang="en-US" sz="1200" dirty="0"/>
              <a:t>- Table becomes vertical cards on narrow screens</a:t>
            </a:r>
          </a:p>
          <a:p>
            <a:r>
              <a:rPr lang="en-US" sz="1200" dirty="0"/>
              <a:t>- Fewer columns visible</a:t>
            </a:r>
          </a:p>
          <a:p>
            <a:r>
              <a:rPr lang="en-US" sz="1200" dirty="0"/>
              <a:t>- Swipe for actions instead of buttons</a:t>
            </a:r>
          </a:p>
          <a:p>
            <a:r>
              <a:rPr lang="en-US" sz="1200" dirty="0"/>
              <a:t>- Filter panel collapses to dropdown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96AA1F-4A79-0313-5180-73B55932B2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782EF-3126-49E3-9D22-B519B285522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1844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5706EE-7253-DFA3-D955-B57540ED3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3B2B95-6A23-69C0-B8E3-9BF77A63BA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080E12-FEA2-D31A-6B05-8134D24C49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4480560"/>
          </a:xfrm>
        </p:spPr>
        <p:txBody>
          <a:bodyPr/>
          <a:lstStyle/>
          <a:p>
            <a:r>
              <a:rPr lang="en-US" sz="1200" dirty="0"/>
              <a:t>NOTES:</a:t>
            </a:r>
          </a:p>
          <a:p>
            <a:endParaRPr lang="en-US" sz="1200" dirty="0"/>
          </a:p>
          <a:p>
            <a:r>
              <a:rPr lang="en-US" sz="1200" dirty="0"/>
              <a:t>Data Source:</a:t>
            </a:r>
          </a:p>
          <a:p>
            <a:r>
              <a:rPr lang="en-US" sz="1200" dirty="0"/>
              <a:t>- </a:t>
            </a:r>
            <a:r>
              <a:rPr lang="en-US" sz="1200" dirty="0" err="1"/>
              <a:t>tbl_VolumeSubmissions</a:t>
            </a:r>
            <a:endParaRPr lang="en-US" sz="1200" dirty="0"/>
          </a:p>
          <a:p>
            <a:r>
              <a:rPr lang="en-US" sz="1200" dirty="0"/>
              <a:t>- Filter: </a:t>
            </a:r>
            <a:r>
              <a:rPr lang="en-US" sz="1200" dirty="0" err="1"/>
              <a:t>CountryID</a:t>
            </a:r>
            <a:r>
              <a:rPr lang="en-US" sz="1200" dirty="0"/>
              <a:t> = User's assigned country</a:t>
            </a:r>
          </a:p>
          <a:p>
            <a:r>
              <a:rPr lang="en-US" sz="1200" dirty="0"/>
              <a:t>- Order by: </a:t>
            </a:r>
            <a:r>
              <a:rPr lang="en-US" sz="1200" dirty="0" err="1"/>
              <a:t>SubmittedDate</a:t>
            </a:r>
            <a:r>
              <a:rPr lang="en-US" sz="1200" dirty="0"/>
              <a:t> DESC (most recent first)</a:t>
            </a:r>
          </a:p>
          <a:p>
            <a:r>
              <a:rPr lang="en-US" sz="1200" dirty="0"/>
              <a:t>- Include: All statuses except </a:t>
            </a:r>
            <a:r>
              <a:rPr lang="en-US" sz="1200" dirty="0" err="1"/>
              <a:t>IsDeleted</a:t>
            </a:r>
            <a:r>
              <a:rPr lang="en-US" sz="1200" dirty="0"/>
              <a:t> = Yes</a:t>
            </a:r>
          </a:p>
          <a:p>
            <a:endParaRPr lang="en-US" sz="1200" dirty="0"/>
          </a:p>
          <a:p>
            <a:r>
              <a:rPr lang="en-US" sz="1200" dirty="0"/>
              <a:t>Table Columns:</a:t>
            </a:r>
          </a:p>
          <a:p>
            <a:r>
              <a:rPr lang="en-US" sz="1200" dirty="0"/>
              <a:t>- Submission ID: Title field from </a:t>
            </a:r>
            <a:r>
              <a:rPr lang="en-US" sz="1200" dirty="0" err="1"/>
              <a:t>tbl_VolumeSubmissions</a:t>
            </a:r>
            <a:endParaRPr lang="en-US" sz="1200" dirty="0"/>
          </a:p>
          <a:p>
            <a:r>
              <a:rPr lang="en-US" sz="1200" dirty="0"/>
              <a:t>- Month: </a:t>
            </a:r>
            <a:r>
              <a:rPr lang="en-US" sz="1200" dirty="0" err="1"/>
              <a:t>SubmissionMonth</a:t>
            </a:r>
            <a:r>
              <a:rPr lang="en-US" sz="1200" dirty="0"/>
              <a:t> (displayed as "Month Year")</a:t>
            </a:r>
          </a:p>
          <a:p>
            <a:r>
              <a:rPr lang="en-US" sz="1200" dirty="0"/>
              <a:t>- Submitted: </a:t>
            </a:r>
            <a:r>
              <a:rPr lang="en-US" sz="1200" dirty="0" err="1"/>
              <a:t>SubmittedDate</a:t>
            </a:r>
            <a:r>
              <a:rPr lang="en-US" sz="1200" dirty="0"/>
              <a:t> (formatted as MM/DD/YY)</a:t>
            </a:r>
          </a:p>
          <a:p>
            <a:r>
              <a:rPr lang="en-US" sz="1200" dirty="0"/>
              <a:t>- Test Types: Count of distinct </a:t>
            </a:r>
            <a:r>
              <a:rPr lang="en-US" sz="1200" dirty="0" err="1"/>
              <a:t>TestTypeIDs</a:t>
            </a:r>
            <a:r>
              <a:rPr lang="en-US" sz="1200" dirty="0"/>
              <a:t> in submission</a:t>
            </a:r>
          </a:p>
          <a:p>
            <a:r>
              <a:rPr lang="en-US" sz="1200" dirty="0"/>
              <a:t>- Status: Current workflow status</a:t>
            </a:r>
          </a:p>
          <a:p>
            <a:r>
              <a:rPr lang="en-US" sz="1200" dirty="0"/>
              <a:t>- Actions: Dynamic buttons based on status</a:t>
            </a:r>
          </a:p>
          <a:p>
            <a:endParaRPr lang="en-US" sz="1200" dirty="0"/>
          </a:p>
          <a:p>
            <a:r>
              <a:rPr lang="en-US" sz="1200" dirty="0"/>
              <a:t>Filter Logic:</a:t>
            </a:r>
          </a:p>
          <a:p>
            <a:r>
              <a:rPr lang="en-US" sz="1200" dirty="0"/>
              <a:t>- Month dropdown: Populated from distinct </a:t>
            </a:r>
            <a:r>
              <a:rPr lang="en-US" sz="1200" dirty="0" err="1"/>
              <a:t>SubmissionMonth</a:t>
            </a:r>
            <a:r>
              <a:rPr lang="en-US" sz="1200" dirty="0"/>
              <a:t> values</a:t>
            </a:r>
          </a:p>
          <a:p>
            <a:r>
              <a:rPr lang="en-US" sz="1200" dirty="0"/>
              <a:t>- Status dropdown: Approved, Validated, Flagged, Submitted, Draft</a:t>
            </a:r>
          </a:p>
          <a:p>
            <a:r>
              <a:rPr lang="en-US" sz="1200" dirty="0"/>
              <a:t>- Year dropdown: Populated from distinct years in data</a:t>
            </a:r>
          </a:p>
          <a:p>
            <a:r>
              <a:rPr lang="en-US" sz="1200" dirty="0"/>
              <a:t>- Filters apply in combination (AND logic)</a:t>
            </a:r>
          </a:p>
          <a:p>
            <a:r>
              <a:rPr lang="en-US" sz="1200" dirty="0"/>
              <a:t>- Search: Searches Submission ID and Month fields</a:t>
            </a:r>
          </a:p>
          <a:p>
            <a:endParaRPr lang="en-US" sz="1200" dirty="0"/>
          </a:p>
          <a:p>
            <a:r>
              <a:rPr lang="en-US" sz="1200" dirty="0"/>
              <a:t>Status Display:</a:t>
            </a:r>
          </a:p>
          <a:p>
            <a:r>
              <a:rPr lang="en-US" sz="1200" dirty="0"/>
              <a:t>- Use colored badges for visual scanning</a:t>
            </a:r>
          </a:p>
          <a:p>
            <a:r>
              <a:rPr lang="en-US" sz="1200" dirty="0"/>
              <a:t>- Approved: Green</a:t>
            </a:r>
          </a:p>
          <a:p>
            <a:r>
              <a:rPr lang="en-US" sz="1200" dirty="0"/>
              <a:t>- Validated: Yellow</a:t>
            </a:r>
          </a:p>
          <a:p>
            <a:r>
              <a:rPr lang="en-US" sz="1200" dirty="0"/>
              <a:t>- Flagged: Orange/Red</a:t>
            </a:r>
          </a:p>
          <a:p>
            <a:r>
              <a:rPr lang="en-US" sz="1200" dirty="0"/>
              <a:t>- Submitted: Blue</a:t>
            </a:r>
          </a:p>
          <a:p>
            <a:r>
              <a:rPr lang="en-US" sz="1200" dirty="0"/>
              <a:t>- Draft: Gray</a:t>
            </a:r>
          </a:p>
          <a:p>
            <a:endParaRPr lang="en-US" sz="1200" dirty="0"/>
          </a:p>
          <a:p>
            <a:r>
              <a:rPr lang="en-US" sz="1200" dirty="0"/>
              <a:t>Action Buttons (Context-Sensitive):</a:t>
            </a:r>
          </a:p>
          <a:p>
            <a:r>
              <a:rPr lang="en-US" sz="1200" dirty="0"/>
              <a:t>1. [View]: Always available</a:t>
            </a:r>
          </a:p>
          <a:p>
            <a:r>
              <a:rPr lang="en-US" sz="1200" dirty="0"/>
              <a:t>   - Opens read-only detail view</a:t>
            </a:r>
          </a:p>
          <a:p>
            <a:r>
              <a:rPr lang="en-US" sz="1200" dirty="0"/>
              <a:t>   - Shows same info as confirmation screen</a:t>
            </a:r>
          </a:p>
          <a:p>
            <a:r>
              <a:rPr lang="en-US" sz="1200" dirty="0"/>
              <a:t>   </a:t>
            </a:r>
          </a:p>
          <a:p>
            <a:r>
              <a:rPr lang="en-US" sz="1200" dirty="0"/>
              <a:t>2. [Download]: Available for Approved/Validated</a:t>
            </a:r>
          </a:p>
          <a:p>
            <a:r>
              <a:rPr lang="en-US" sz="1200" dirty="0"/>
              <a:t>   - Downloads PDF receipt</a:t>
            </a:r>
          </a:p>
          <a:p>
            <a:r>
              <a:rPr lang="en-US" sz="1200" dirty="0"/>
              <a:t>   - Same PDF as confirmation screen</a:t>
            </a:r>
          </a:p>
          <a:p>
            <a:r>
              <a:rPr lang="en-US" sz="1200" dirty="0"/>
              <a:t>3. [Resolve]: Available for Flagged only</a:t>
            </a:r>
          </a:p>
          <a:p>
            <a:r>
              <a:rPr lang="en-US" sz="1200" dirty="0"/>
              <a:t>   - Shows flag details</a:t>
            </a:r>
          </a:p>
          <a:p>
            <a:r>
              <a:rPr lang="en-US" sz="1200" dirty="0"/>
              <a:t>   - Allows coordinator to add response/clarification</a:t>
            </a:r>
          </a:p>
          <a:p>
            <a:r>
              <a:rPr lang="en-US" sz="1200" dirty="0"/>
              <a:t>   - Sends notification to analyst</a:t>
            </a:r>
          </a:p>
          <a:p>
            <a:endParaRPr lang="en-US" sz="1200" dirty="0"/>
          </a:p>
          <a:p>
            <a:r>
              <a:rPr lang="en-US" sz="1200" dirty="0"/>
              <a:t>Row Click Behavior:</a:t>
            </a:r>
          </a:p>
          <a:p>
            <a:r>
              <a:rPr lang="en-US" sz="1200" dirty="0"/>
              <a:t>- Click anywhere on row (except buttons) → View details</a:t>
            </a:r>
          </a:p>
          <a:p>
            <a:r>
              <a:rPr lang="en-US" sz="1200" dirty="0"/>
              <a:t>- Hover effect to show it's clickable</a:t>
            </a:r>
          </a:p>
          <a:p>
            <a:endParaRPr lang="en-US" sz="1200" dirty="0"/>
          </a:p>
          <a:p>
            <a:r>
              <a:rPr lang="en-US" sz="1200" dirty="0"/>
              <a:t>Pagination:</a:t>
            </a:r>
          </a:p>
          <a:p>
            <a:r>
              <a:rPr lang="en-US" sz="1200" dirty="0"/>
              <a:t>- Show 5-10 rows per page</a:t>
            </a:r>
          </a:p>
          <a:p>
            <a:r>
              <a:rPr lang="en-US" sz="1200" dirty="0"/>
              <a:t>- Calculate total pages</a:t>
            </a:r>
          </a:p>
          <a:p>
            <a:r>
              <a:rPr lang="en-US" sz="1200" dirty="0"/>
              <a:t>- Enable Previous/Next buttons based on current page</a:t>
            </a:r>
          </a:p>
          <a:p>
            <a:r>
              <a:rPr lang="en-US" sz="1200" dirty="0"/>
              <a:t>- Option: "Show All" for power users</a:t>
            </a:r>
          </a:p>
          <a:p>
            <a:endParaRPr lang="en-US" sz="1200" dirty="0"/>
          </a:p>
          <a:p>
            <a:r>
              <a:rPr lang="en-US" sz="1200" dirty="0"/>
              <a:t>Empty State:</a:t>
            </a:r>
          </a:p>
          <a:p>
            <a:r>
              <a:rPr lang="en-US" sz="1200" dirty="0"/>
              <a:t>- Shown when Filter() returns no results</a:t>
            </a:r>
          </a:p>
          <a:p>
            <a:r>
              <a:rPr lang="en-US" sz="1200" dirty="0"/>
              <a:t>- Friendly message encouraging first submission</a:t>
            </a:r>
          </a:p>
          <a:p>
            <a:r>
              <a:rPr lang="en-US" sz="1200" dirty="0"/>
              <a:t>- Clear call-to-action button</a:t>
            </a:r>
          </a:p>
          <a:p>
            <a:endParaRPr lang="en-US" sz="1200" dirty="0"/>
          </a:p>
          <a:p>
            <a:r>
              <a:rPr lang="en-US" sz="1200" dirty="0"/>
              <a:t>Export to Excel:</a:t>
            </a:r>
          </a:p>
          <a:p>
            <a:r>
              <a:rPr lang="en-US" sz="1200" dirty="0"/>
              <a:t>- Exports currently filtered/visible data</a:t>
            </a:r>
          </a:p>
          <a:p>
            <a:r>
              <a:rPr lang="en-US" sz="1200" dirty="0"/>
              <a:t>- Includes: ID, Month, Submitted Date, Status</a:t>
            </a:r>
          </a:p>
          <a:p>
            <a:r>
              <a:rPr lang="en-US" sz="1200" dirty="0"/>
              <a:t>- Filename: "</a:t>
            </a:r>
            <a:r>
              <a:rPr lang="en-US" sz="1200" dirty="0" err="1"/>
              <a:t>SubmissionHistory</a:t>
            </a:r>
            <a:r>
              <a:rPr lang="en-US" sz="1200" dirty="0"/>
              <a:t>_[</a:t>
            </a:r>
            <a:r>
              <a:rPr lang="en-US" sz="1200" dirty="0" err="1"/>
              <a:t>CountryCode</a:t>
            </a:r>
            <a:r>
              <a:rPr lang="en-US" sz="1200" dirty="0"/>
              <a:t>]_[Date].xlsx"</a:t>
            </a:r>
          </a:p>
          <a:p>
            <a:r>
              <a:rPr lang="en-US" sz="1200" dirty="0"/>
              <a:t>- Opens save dialog or auto-downloads</a:t>
            </a:r>
          </a:p>
          <a:p>
            <a:endParaRPr lang="en-US" sz="1200" dirty="0"/>
          </a:p>
          <a:p>
            <a:r>
              <a:rPr lang="en-US" sz="1200" dirty="0"/>
              <a:t>Submit New Volumes Button:</a:t>
            </a:r>
          </a:p>
          <a:p>
            <a:r>
              <a:rPr lang="en-US" sz="1200" dirty="0"/>
              <a:t>- Navigates to Screen 2 (Submission Form)</a:t>
            </a:r>
          </a:p>
          <a:p>
            <a:r>
              <a:rPr lang="en-US" sz="1200" dirty="0"/>
              <a:t>- Pre-selects current month if not already submitted</a:t>
            </a:r>
          </a:p>
          <a:p>
            <a:r>
              <a:rPr lang="en-US" sz="1200" dirty="0"/>
              <a:t>- Most common action from history screen</a:t>
            </a:r>
          </a:p>
          <a:p>
            <a:endParaRPr lang="en-US" sz="1200" dirty="0"/>
          </a:p>
          <a:p>
            <a:r>
              <a:rPr lang="en-US" sz="1200" dirty="0"/>
              <a:t>Performance Considerations:</a:t>
            </a:r>
          </a:p>
          <a:p>
            <a:r>
              <a:rPr lang="en-US" sz="1200" dirty="0"/>
              <a:t>- For users with 100+ submissions:</a:t>
            </a:r>
          </a:p>
          <a:p>
            <a:r>
              <a:rPr lang="en-US" sz="1200" dirty="0"/>
              <a:t>  - Default to last 12 months</a:t>
            </a:r>
          </a:p>
          <a:p>
            <a:r>
              <a:rPr lang="en-US" sz="1200" dirty="0"/>
              <a:t>  - Pagination is critical</a:t>
            </a:r>
          </a:p>
          <a:p>
            <a:r>
              <a:rPr lang="en-US" sz="1200" dirty="0"/>
              <a:t>  - Consider delegable queries</a:t>
            </a:r>
          </a:p>
          <a:p>
            <a:r>
              <a:rPr lang="en-US" sz="1200" dirty="0"/>
              <a:t>  - Load additional data on demand</a:t>
            </a:r>
          </a:p>
          <a:p>
            <a:endParaRPr lang="en-US" sz="1200" dirty="0"/>
          </a:p>
          <a:p>
            <a:r>
              <a:rPr lang="en-US" sz="1200" dirty="0"/>
              <a:t>Power Apps Implementation:</a:t>
            </a:r>
          </a:p>
          <a:p>
            <a:r>
              <a:rPr lang="en-US" sz="1200" dirty="0"/>
              <a:t>- Gallery control with Items = Filter(</a:t>
            </a:r>
            <a:r>
              <a:rPr lang="en-US" sz="1200" dirty="0" err="1"/>
              <a:t>tbl_VolumeSubmissions</a:t>
            </a:r>
            <a:r>
              <a:rPr lang="en-US" sz="1200" dirty="0"/>
              <a:t>...)</a:t>
            </a:r>
          </a:p>
          <a:p>
            <a:r>
              <a:rPr lang="en-US" sz="1200" dirty="0"/>
              <a:t>- Sort(Filter(...), </a:t>
            </a:r>
            <a:r>
              <a:rPr lang="en-US" sz="1200" dirty="0" err="1"/>
              <a:t>SubmittedDate</a:t>
            </a:r>
            <a:r>
              <a:rPr lang="en-US" sz="1200" dirty="0"/>
              <a:t>, Descending)</a:t>
            </a:r>
          </a:p>
          <a:p>
            <a:r>
              <a:rPr lang="en-US" sz="1200" dirty="0"/>
              <a:t>- Use delegation-friendly operators</a:t>
            </a:r>
          </a:p>
          <a:p>
            <a:r>
              <a:rPr lang="en-US" sz="1200" dirty="0"/>
              <a:t>- Cache filtered results in collection if needed</a:t>
            </a:r>
          </a:p>
          <a:p>
            <a:r>
              <a:rPr lang="en-US" sz="1200" dirty="0"/>
              <a:t>- Combo boxes for filter dropdowns</a:t>
            </a:r>
          </a:p>
          <a:p>
            <a:endParaRPr lang="en-US" sz="1200" dirty="0"/>
          </a:p>
          <a:p>
            <a:r>
              <a:rPr lang="en-US" sz="1200" dirty="0"/>
              <a:t>Navigation:</a:t>
            </a:r>
          </a:p>
          <a:p>
            <a:r>
              <a:rPr lang="en-US" sz="1200" dirty="0"/>
              <a:t>- View button: Navigate(</a:t>
            </a:r>
            <a:r>
              <a:rPr lang="en-US" sz="1200" dirty="0" err="1"/>
              <a:t>DetailScreen</a:t>
            </a:r>
            <a:r>
              <a:rPr lang="en-US" sz="1200" dirty="0"/>
              <a:t>, </a:t>
            </a:r>
            <a:r>
              <a:rPr lang="en-US" sz="1200" dirty="0" err="1"/>
              <a:t>ScreenTransition.None</a:t>
            </a:r>
            <a:r>
              <a:rPr lang="en-US" sz="1200" dirty="0"/>
              <a:t>, {</a:t>
            </a:r>
            <a:r>
              <a:rPr lang="en-US" sz="1200" dirty="0" err="1"/>
              <a:t>SelectedSubmission</a:t>
            </a:r>
            <a:r>
              <a:rPr lang="en-US" sz="1200" dirty="0"/>
              <a:t>: </a:t>
            </a:r>
            <a:r>
              <a:rPr lang="en-US" sz="1200" dirty="0" err="1"/>
              <a:t>ThisItem</a:t>
            </a:r>
            <a:r>
              <a:rPr lang="en-US" sz="1200" dirty="0"/>
              <a:t>})</a:t>
            </a:r>
          </a:p>
          <a:p>
            <a:r>
              <a:rPr lang="en-US" sz="1200" dirty="0"/>
              <a:t>- Submit New: Navigate(</a:t>
            </a:r>
            <a:r>
              <a:rPr lang="en-US" sz="1200" dirty="0" err="1"/>
              <a:t>SubmissionFormScreen</a:t>
            </a:r>
            <a:r>
              <a:rPr lang="en-US" sz="1200" dirty="0"/>
              <a:t>)</a:t>
            </a:r>
          </a:p>
          <a:p>
            <a:r>
              <a:rPr lang="en-US" sz="1200" dirty="0"/>
              <a:t>- Back: Navigate(</a:t>
            </a:r>
            <a:r>
              <a:rPr lang="en-US" sz="1200" dirty="0" err="1"/>
              <a:t>WelcomeScreen</a:t>
            </a:r>
            <a:r>
              <a:rPr lang="en-US" sz="1200" dirty="0"/>
              <a:t>)</a:t>
            </a:r>
          </a:p>
          <a:p>
            <a:endParaRPr lang="en-US" sz="1200" dirty="0"/>
          </a:p>
          <a:p>
            <a:r>
              <a:rPr lang="en-US" sz="1200" dirty="0"/>
              <a:t>Mobile Considerations:</a:t>
            </a:r>
          </a:p>
          <a:p>
            <a:r>
              <a:rPr lang="en-US" sz="1200" dirty="0"/>
              <a:t>- Table becomes vertical cards on narrow screens</a:t>
            </a:r>
          </a:p>
          <a:p>
            <a:r>
              <a:rPr lang="en-US" sz="1200" dirty="0"/>
              <a:t>- Fewer columns visible</a:t>
            </a:r>
          </a:p>
          <a:p>
            <a:r>
              <a:rPr lang="en-US" sz="1200" dirty="0"/>
              <a:t>- Swipe for actions instead of buttons</a:t>
            </a:r>
          </a:p>
          <a:p>
            <a:r>
              <a:rPr lang="en-US" sz="1200" dirty="0"/>
              <a:t>- Filter panel collapses to dropdown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711272-4FDD-CDD9-7867-091CF240B9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782EF-3126-49E3-9D22-B519B285522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868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B6325-03C7-C31F-3692-2EE8870F1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C30E8A-4A61-5F44-6DC2-38417B04EF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5DF64A-DAE9-1907-1155-573590AAD9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4480560"/>
          </a:xfrm>
        </p:spPr>
        <p:txBody>
          <a:bodyPr/>
          <a:lstStyle/>
          <a:p>
            <a:r>
              <a:rPr lang="en-US" sz="1200" dirty="0"/>
              <a:t>NOTES:</a:t>
            </a:r>
          </a:p>
          <a:p>
            <a:endParaRPr lang="en-US" sz="1200" dirty="0"/>
          </a:p>
          <a:p>
            <a:r>
              <a:rPr lang="en-US" sz="1200" dirty="0"/>
              <a:t>Data Source:</a:t>
            </a:r>
          </a:p>
          <a:p>
            <a:r>
              <a:rPr lang="en-US" sz="1200" dirty="0"/>
              <a:t>- </a:t>
            </a:r>
            <a:r>
              <a:rPr lang="en-US" sz="1200" dirty="0" err="1"/>
              <a:t>tbl_VolumeSubmissions</a:t>
            </a:r>
            <a:endParaRPr lang="en-US" sz="1200" dirty="0"/>
          </a:p>
          <a:p>
            <a:r>
              <a:rPr lang="en-US" sz="1200" dirty="0"/>
              <a:t>- Filter: </a:t>
            </a:r>
            <a:r>
              <a:rPr lang="en-US" sz="1200" dirty="0" err="1"/>
              <a:t>CountryID</a:t>
            </a:r>
            <a:r>
              <a:rPr lang="en-US" sz="1200" dirty="0"/>
              <a:t> = User's assigned country</a:t>
            </a:r>
          </a:p>
          <a:p>
            <a:r>
              <a:rPr lang="en-US" sz="1200" dirty="0"/>
              <a:t>- Order by: </a:t>
            </a:r>
            <a:r>
              <a:rPr lang="en-US" sz="1200" dirty="0" err="1"/>
              <a:t>SubmittedDate</a:t>
            </a:r>
            <a:r>
              <a:rPr lang="en-US" sz="1200" dirty="0"/>
              <a:t> DESC (most recent first)</a:t>
            </a:r>
          </a:p>
          <a:p>
            <a:r>
              <a:rPr lang="en-US" sz="1200" dirty="0"/>
              <a:t>- Include: All statuses except </a:t>
            </a:r>
            <a:r>
              <a:rPr lang="en-US" sz="1200" dirty="0" err="1"/>
              <a:t>IsDeleted</a:t>
            </a:r>
            <a:r>
              <a:rPr lang="en-US" sz="1200" dirty="0"/>
              <a:t> = Yes</a:t>
            </a:r>
          </a:p>
          <a:p>
            <a:endParaRPr lang="en-US" sz="1200" dirty="0"/>
          </a:p>
          <a:p>
            <a:r>
              <a:rPr lang="en-US" sz="1200" dirty="0"/>
              <a:t>Table Columns:</a:t>
            </a:r>
          </a:p>
          <a:p>
            <a:r>
              <a:rPr lang="en-US" sz="1200" dirty="0"/>
              <a:t>- Submission ID: Title field from </a:t>
            </a:r>
            <a:r>
              <a:rPr lang="en-US" sz="1200" dirty="0" err="1"/>
              <a:t>tbl_VolumeSubmissions</a:t>
            </a:r>
            <a:endParaRPr lang="en-US" sz="1200" dirty="0"/>
          </a:p>
          <a:p>
            <a:r>
              <a:rPr lang="en-US" sz="1200" dirty="0"/>
              <a:t>- Month: </a:t>
            </a:r>
            <a:r>
              <a:rPr lang="en-US" sz="1200" dirty="0" err="1"/>
              <a:t>SubmissionMonth</a:t>
            </a:r>
            <a:r>
              <a:rPr lang="en-US" sz="1200" dirty="0"/>
              <a:t> (displayed as "Month Year")</a:t>
            </a:r>
          </a:p>
          <a:p>
            <a:r>
              <a:rPr lang="en-US" sz="1200" dirty="0"/>
              <a:t>- Submitted: </a:t>
            </a:r>
            <a:r>
              <a:rPr lang="en-US" sz="1200" dirty="0" err="1"/>
              <a:t>SubmittedDate</a:t>
            </a:r>
            <a:r>
              <a:rPr lang="en-US" sz="1200" dirty="0"/>
              <a:t> (formatted as MM/DD/YY)</a:t>
            </a:r>
          </a:p>
          <a:p>
            <a:r>
              <a:rPr lang="en-US" sz="1200" dirty="0"/>
              <a:t>- Test Types: Count of distinct </a:t>
            </a:r>
            <a:r>
              <a:rPr lang="en-US" sz="1200" dirty="0" err="1"/>
              <a:t>TestTypeIDs</a:t>
            </a:r>
            <a:r>
              <a:rPr lang="en-US" sz="1200" dirty="0"/>
              <a:t> in submission</a:t>
            </a:r>
          </a:p>
          <a:p>
            <a:r>
              <a:rPr lang="en-US" sz="1200" dirty="0"/>
              <a:t>- Status: Current workflow status</a:t>
            </a:r>
          </a:p>
          <a:p>
            <a:r>
              <a:rPr lang="en-US" sz="1200" dirty="0"/>
              <a:t>- Actions: Dynamic buttons based on status</a:t>
            </a:r>
          </a:p>
          <a:p>
            <a:endParaRPr lang="en-US" sz="1200" dirty="0"/>
          </a:p>
          <a:p>
            <a:r>
              <a:rPr lang="en-US" sz="1200" dirty="0"/>
              <a:t>Filter Logic:</a:t>
            </a:r>
          </a:p>
          <a:p>
            <a:r>
              <a:rPr lang="en-US" sz="1200" dirty="0"/>
              <a:t>- Month dropdown: Populated from distinct </a:t>
            </a:r>
            <a:r>
              <a:rPr lang="en-US" sz="1200" dirty="0" err="1"/>
              <a:t>SubmissionMonth</a:t>
            </a:r>
            <a:r>
              <a:rPr lang="en-US" sz="1200" dirty="0"/>
              <a:t> values</a:t>
            </a:r>
          </a:p>
          <a:p>
            <a:r>
              <a:rPr lang="en-US" sz="1200" dirty="0"/>
              <a:t>- Status dropdown: Approved, Validated, Flagged, Submitted, Draft</a:t>
            </a:r>
          </a:p>
          <a:p>
            <a:r>
              <a:rPr lang="en-US" sz="1200" dirty="0"/>
              <a:t>- Year dropdown: Populated from distinct years in data</a:t>
            </a:r>
          </a:p>
          <a:p>
            <a:r>
              <a:rPr lang="en-US" sz="1200" dirty="0"/>
              <a:t>- Filters apply in combination (AND logic)</a:t>
            </a:r>
          </a:p>
          <a:p>
            <a:r>
              <a:rPr lang="en-US" sz="1200" dirty="0"/>
              <a:t>- Search: Searches Submission ID and Month fields</a:t>
            </a:r>
          </a:p>
          <a:p>
            <a:endParaRPr lang="en-US" sz="1200" dirty="0"/>
          </a:p>
          <a:p>
            <a:r>
              <a:rPr lang="en-US" sz="1200" dirty="0"/>
              <a:t>Status Display:</a:t>
            </a:r>
          </a:p>
          <a:p>
            <a:r>
              <a:rPr lang="en-US" sz="1200" dirty="0"/>
              <a:t>- Use colored badges for visual scanning</a:t>
            </a:r>
          </a:p>
          <a:p>
            <a:r>
              <a:rPr lang="en-US" sz="1200" dirty="0"/>
              <a:t>- Approved: Green</a:t>
            </a:r>
          </a:p>
          <a:p>
            <a:r>
              <a:rPr lang="en-US" sz="1200" dirty="0"/>
              <a:t>- Validated: Yellow</a:t>
            </a:r>
          </a:p>
          <a:p>
            <a:r>
              <a:rPr lang="en-US" sz="1200" dirty="0"/>
              <a:t>- Flagged: Orange/Red</a:t>
            </a:r>
          </a:p>
          <a:p>
            <a:r>
              <a:rPr lang="en-US" sz="1200" dirty="0"/>
              <a:t>- Submitted: Blue</a:t>
            </a:r>
          </a:p>
          <a:p>
            <a:r>
              <a:rPr lang="en-US" sz="1200" dirty="0"/>
              <a:t>- Draft: Gray</a:t>
            </a:r>
          </a:p>
          <a:p>
            <a:endParaRPr lang="en-US" sz="1200" dirty="0"/>
          </a:p>
          <a:p>
            <a:r>
              <a:rPr lang="en-US" sz="1200" dirty="0"/>
              <a:t>Action Buttons (Context-Sensitive):</a:t>
            </a:r>
          </a:p>
          <a:p>
            <a:r>
              <a:rPr lang="en-US" sz="1200" dirty="0"/>
              <a:t>1. [View]: Always available</a:t>
            </a:r>
          </a:p>
          <a:p>
            <a:r>
              <a:rPr lang="en-US" sz="1200" dirty="0"/>
              <a:t>   - Opens read-only detail view</a:t>
            </a:r>
          </a:p>
          <a:p>
            <a:r>
              <a:rPr lang="en-US" sz="1200" dirty="0"/>
              <a:t>   - Shows same info as confirmation screen</a:t>
            </a:r>
          </a:p>
          <a:p>
            <a:r>
              <a:rPr lang="en-US" sz="1200" dirty="0"/>
              <a:t>   </a:t>
            </a:r>
          </a:p>
          <a:p>
            <a:r>
              <a:rPr lang="en-US" sz="1200" dirty="0"/>
              <a:t>2. [Download]: Available for Approved/Validated</a:t>
            </a:r>
          </a:p>
          <a:p>
            <a:r>
              <a:rPr lang="en-US" sz="1200" dirty="0"/>
              <a:t>   - Downloads PDF receipt</a:t>
            </a:r>
          </a:p>
          <a:p>
            <a:r>
              <a:rPr lang="en-US" sz="1200" dirty="0"/>
              <a:t>   - Same PDF as confirmation screen</a:t>
            </a:r>
          </a:p>
          <a:p>
            <a:r>
              <a:rPr lang="en-US" sz="1200" dirty="0"/>
              <a:t>3. [Resolve]: Available for Flagged only</a:t>
            </a:r>
          </a:p>
          <a:p>
            <a:r>
              <a:rPr lang="en-US" sz="1200" dirty="0"/>
              <a:t>   - Shows flag details</a:t>
            </a:r>
          </a:p>
          <a:p>
            <a:r>
              <a:rPr lang="en-US" sz="1200" dirty="0"/>
              <a:t>   - Allows coordinator to add response/clarification</a:t>
            </a:r>
          </a:p>
          <a:p>
            <a:r>
              <a:rPr lang="en-US" sz="1200" dirty="0"/>
              <a:t>   - Sends notification to analyst</a:t>
            </a:r>
          </a:p>
          <a:p>
            <a:endParaRPr lang="en-US" sz="1200" dirty="0"/>
          </a:p>
          <a:p>
            <a:r>
              <a:rPr lang="en-US" sz="1200" dirty="0"/>
              <a:t>Row Click Behavior:</a:t>
            </a:r>
          </a:p>
          <a:p>
            <a:r>
              <a:rPr lang="en-US" sz="1200" dirty="0"/>
              <a:t>- Click anywhere on row (except buttons) → View details</a:t>
            </a:r>
          </a:p>
          <a:p>
            <a:r>
              <a:rPr lang="en-US" sz="1200" dirty="0"/>
              <a:t>- Hover effect to show it's clickable</a:t>
            </a:r>
          </a:p>
          <a:p>
            <a:endParaRPr lang="en-US" sz="1200" dirty="0"/>
          </a:p>
          <a:p>
            <a:r>
              <a:rPr lang="en-US" sz="1200" dirty="0"/>
              <a:t>Pagination:</a:t>
            </a:r>
          </a:p>
          <a:p>
            <a:r>
              <a:rPr lang="en-US" sz="1200" dirty="0"/>
              <a:t>- Show 5-10 rows per page</a:t>
            </a:r>
          </a:p>
          <a:p>
            <a:r>
              <a:rPr lang="en-US" sz="1200" dirty="0"/>
              <a:t>- Calculate total pages</a:t>
            </a:r>
          </a:p>
          <a:p>
            <a:r>
              <a:rPr lang="en-US" sz="1200" dirty="0"/>
              <a:t>- Enable Previous/Next buttons based on current page</a:t>
            </a:r>
          </a:p>
          <a:p>
            <a:r>
              <a:rPr lang="en-US" sz="1200" dirty="0"/>
              <a:t>- Option: "Show All" for power users</a:t>
            </a:r>
          </a:p>
          <a:p>
            <a:endParaRPr lang="en-US" sz="1200" dirty="0"/>
          </a:p>
          <a:p>
            <a:r>
              <a:rPr lang="en-US" sz="1200" dirty="0"/>
              <a:t>Empty State:</a:t>
            </a:r>
          </a:p>
          <a:p>
            <a:r>
              <a:rPr lang="en-US" sz="1200" dirty="0"/>
              <a:t>- Shown when Filter() returns no results</a:t>
            </a:r>
          </a:p>
          <a:p>
            <a:r>
              <a:rPr lang="en-US" sz="1200" dirty="0"/>
              <a:t>- Friendly message encouraging first submission</a:t>
            </a:r>
          </a:p>
          <a:p>
            <a:r>
              <a:rPr lang="en-US" sz="1200" dirty="0"/>
              <a:t>- Clear call-to-action button</a:t>
            </a:r>
          </a:p>
          <a:p>
            <a:endParaRPr lang="en-US" sz="1200" dirty="0"/>
          </a:p>
          <a:p>
            <a:r>
              <a:rPr lang="en-US" sz="1200" dirty="0"/>
              <a:t>Export to Excel:</a:t>
            </a:r>
          </a:p>
          <a:p>
            <a:r>
              <a:rPr lang="en-US" sz="1200" dirty="0"/>
              <a:t>- Exports currently filtered/visible data</a:t>
            </a:r>
          </a:p>
          <a:p>
            <a:r>
              <a:rPr lang="en-US" sz="1200" dirty="0"/>
              <a:t>- Includes: ID, Month, Submitted Date, Status</a:t>
            </a:r>
          </a:p>
          <a:p>
            <a:r>
              <a:rPr lang="en-US" sz="1200" dirty="0"/>
              <a:t>- Filename: "</a:t>
            </a:r>
            <a:r>
              <a:rPr lang="en-US" sz="1200" dirty="0" err="1"/>
              <a:t>SubmissionHistory</a:t>
            </a:r>
            <a:r>
              <a:rPr lang="en-US" sz="1200" dirty="0"/>
              <a:t>_[</a:t>
            </a:r>
            <a:r>
              <a:rPr lang="en-US" sz="1200" dirty="0" err="1"/>
              <a:t>CountryCode</a:t>
            </a:r>
            <a:r>
              <a:rPr lang="en-US" sz="1200" dirty="0"/>
              <a:t>]_[Date].xlsx"</a:t>
            </a:r>
          </a:p>
          <a:p>
            <a:r>
              <a:rPr lang="en-US" sz="1200" dirty="0"/>
              <a:t>- Opens save dialog or auto-downloads</a:t>
            </a:r>
          </a:p>
          <a:p>
            <a:endParaRPr lang="en-US" sz="1200" dirty="0"/>
          </a:p>
          <a:p>
            <a:r>
              <a:rPr lang="en-US" sz="1200" dirty="0"/>
              <a:t>Submit New Volumes Button:</a:t>
            </a:r>
          </a:p>
          <a:p>
            <a:r>
              <a:rPr lang="en-US" sz="1200" dirty="0"/>
              <a:t>- Navigates to Screen 2 (Submission Form)</a:t>
            </a:r>
          </a:p>
          <a:p>
            <a:r>
              <a:rPr lang="en-US" sz="1200" dirty="0"/>
              <a:t>- Pre-selects current month if not already submitted</a:t>
            </a:r>
          </a:p>
          <a:p>
            <a:r>
              <a:rPr lang="en-US" sz="1200" dirty="0"/>
              <a:t>- Most common action from history screen</a:t>
            </a:r>
          </a:p>
          <a:p>
            <a:endParaRPr lang="en-US" sz="1200" dirty="0"/>
          </a:p>
          <a:p>
            <a:r>
              <a:rPr lang="en-US" sz="1200" dirty="0"/>
              <a:t>Performance Considerations:</a:t>
            </a:r>
          </a:p>
          <a:p>
            <a:r>
              <a:rPr lang="en-US" sz="1200" dirty="0"/>
              <a:t>- For users with 100+ submissions:</a:t>
            </a:r>
          </a:p>
          <a:p>
            <a:r>
              <a:rPr lang="en-US" sz="1200" dirty="0"/>
              <a:t>  - Default to last 12 months</a:t>
            </a:r>
          </a:p>
          <a:p>
            <a:r>
              <a:rPr lang="en-US" sz="1200" dirty="0"/>
              <a:t>  - Pagination is critical</a:t>
            </a:r>
          </a:p>
          <a:p>
            <a:r>
              <a:rPr lang="en-US" sz="1200" dirty="0"/>
              <a:t>  - Consider delegable queries</a:t>
            </a:r>
          </a:p>
          <a:p>
            <a:r>
              <a:rPr lang="en-US" sz="1200" dirty="0"/>
              <a:t>  - Load additional data on demand</a:t>
            </a:r>
          </a:p>
          <a:p>
            <a:endParaRPr lang="en-US" sz="1200" dirty="0"/>
          </a:p>
          <a:p>
            <a:r>
              <a:rPr lang="en-US" sz="1200" dirty="0"/>
              <a:t>Power Apps Implementation:</a:t>
            </a:r>
          </a:p>
          <a:p>
            <a:r>
              <a:rPr lang="en-US" sz="1200" dirty="0"/>
              <a:t>- Gallery control with Items = Filter(</a:t>
            </a:r>
            <a:r>
              <a:rPr lang="en-US" sz="1200" dirty="0" err="1"/>
              <a:t>tbl_VolumeSubmissions</a:t>
            </a:r>
            <a:r>
              <a:rPr lang="en-US" sz="1200" dirty="0"/>
              <a:t>...)</a:t>
            </a:r>
          </a:p>
          <a:p>
            <a:r>
              <a:rPr lang="en-US" sz="1200" dirty="0"/>
              <a:t>- Sort(Filter(...), </a:t>
            </a:r>
            <a:r>
              <a:rPr lang="en-US" sz="1200" dirty="0" err="1"/>
              <a:t>SubmittedDate</a:t>
            </a:r>
            <a:r>
              <a:rPr lang="en-US" sz="1200" dirty="0"/>
              <a:t>, Descending)</a:t>
            </a:r>
          </a:p>
          <a:p>
            <a:r>
              <a:rPr lang="en-US" sz="1200" dirty="0"/>
              <a:t>- Use delegation-friendly operators</a:t>
            </a:r>
          </a:p>
          <a:p>
            <a:r>
              <a:rPr lang="en-US" sz="1200" dirty="0"/>
              <a:t>- Cache filtered results in collection if needed</a:t>
            </a:r>
          </a:p>
          <a:p>
            <a:r>
              <a:rPr lang="en-US" sz="1200" dirty="0"/>
              <a:t>- Combo boxes for filter dropdowns</a:t>
            </a:r>
          </a:p>
          <a:p>
            <a:endParaRPr lang="en-US" sz="1200" dirty="0"/>
          </a:p>
          <a:p>
            <a:r>
              <a:rPr lang="en-US" sz="1200" dirty="0"/>
              <a:t>Navigation:</a:t>
            </a:r>
          </a:p>
          <a:p>
            <a:r>
              <a:rPr lang="en-US" sz="1200" dirty="0"/>
              <a:t>- View button: Navigate(</a:t>
            </a:r>
            <a:r>
              <a:rPr lang="en-US" sz="1200" dirty="0" err="1"/>
              <a:t>DetailScreen</a:t>
            </a:r>
            <a:r>
              <a:rPr lang="en-US" sz="1200" dirty="0"/>
              <a:t>, </a:t>
            </a:r>
            <a:r>
              <a:rPr lang="en-US" sz="1200" dirty="0" err="1"/>
              <a:t>ScreenTransition.None</a:t>
            </a:r>
            <a:r>
              <a:rPr lang="en-US" sz="1200" dirty="0"/>
              <a:t>, {</a:t>
            </a:r>
            <a:r>
              <a:rPr lang="en-US" sz="1200" dirty="0" err="1"/>
              <a:t>SelectedSubmission</a:t>
            </a:r>
            <a:r>
              <a:rPr lang="en-US" sz="1200" dirty="0"/>
              <a:t>: </a:t>
            </a:r>
            <a:r>
              <a:rPr lang="en-US" sz="1200" dirty="0" err="1"/>
              <a:t>ThisItem</a:t>
            </a:r>
            <a:r>
              <a:rPr lang="en-US" sz="1200" dirty="0"/>
              <a:t>})</a:t>
            </a:r>
          </a:p>
          <a:p>
            <a:r>
              <a:rPr lang="en-US" sz="1200" dirty="0"/>
              <a:t>- Submit New: Navigate(</a:t>
            </a:r>
            <a:r>
              <a:rPr lang="en-US" sz="1200" dirty="0" err="1"/>
              <a:t>SubmissionFormScreen</a:t>
            </a:r>
            <a:r>
              <a:rPr lang="en-US" sz="1200" dirty="0"/>
              <a:t>)</a:t>
            </a:r>
          </a:p>
          <a:p>
            <a:r>
              <a:rPr lang="en-US" sz="1200" dirty="0"/>
              <a:t>- Back: Navigate(</a:t>
            </a:r>
            <a:r>
              <a:rPr lang="en-US" sz="1200" dirty="0" err="1"/>
              <a:t>WelcomeScreen</a:t>
            </a:r>
            <a:r>
              <a:rPr lang="en-US" sz="1200" dirty="0"/>
              <a:t>)</a:t>
            </a:r>
          </a:p>
          <a:p>
            <a:endParaRPr lang="en-US" sz="1200" dirty="0"/>
          </a:p>
          <a:p>
            <a:r>
              <a:rPr lang="en-US" sz="1200" dirty="0"/>
              <a:t>Mobile Considerations:</a:t>
            </a:r>
          </a:p>
          <a:p>
            <a:r>
              <a:rPr lang="en-US" sz="1200" dirty="0"/>
              <a:t>- Table becomes vertical cards on narrow screens</a:t>
            </a:r>
          </a:p>
          <a:p>
            <a:r>
              <a:rPr lang="en-US" sz="1200" dirty="0"/>
              <a:t>- Fewer columns visible</a:t>
            </a:r>
          </a:p>
          <a:p>
            <a:r>
              <a:rPr lang="en-US" sz="1200" dirty="0"/>
              <a:t>- Swipe for actions instead of buttons</a:t>
            </a:r>
          </a:p>
          <a:p>
            <a:r>
              <a:rPr lang="en-US" sz="1200" dirty="0"/>
              <a:t>- Filter panel collapses to dropdown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C0FF2B-4270-A0A6-B7BC-65FD1A0EB8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782EF-3126-49E3-9D22-B519B285522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0016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3655E-E6A3-8B6A-33B3-101D03BFE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A0FB77-2622-644F-0097-97337FE789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87DC1A-CF5B-DCBE-A292-D43194A6BB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4480560"/>
          </a:xfrm>
        </p:spPr>
        <p:txBody>
          <a:bodyPr/>
          <a:lstStyle/>
          <a:p>
            <a:r>
              <a:rPr lang="en-US" sz="1200" dirty="0"/>
              <a:t>NOTES:</a:t>
            </a:r>
          </a:p>
          <a:p>
            <a:endParaRPr lang="en-US" sz="1200" dirty="0"/>
          </a:p>
          <a:p>
            <a:r>
              <a:rPr lang="en-US" sz="1200" dirty="0"/>
              <a:t>Data Source:</a:t>
            </a:r>
          </a:p>
          <a:p>
            <a:r>
              <a:rPr lang="en-US" sz="1200" dirty="0"/>
              <a:t>- </a:t>
            </a:r>
            <a:r>
              <a:rPr lang="en-US" sz="1200" dirty="0" err="1"/>
              <a:t>tbl_VolumeSubmissions</a:t>
            </a:r>
            <a:endParaRPr lang="en-US" sz="1200" dirty="0"/>
          </a:p>
          <a:p>
            <a:r>
              <a:rPr lang="en-US" sz="1200" dirty="0"/>
              <a:t>- Filter: </a:t>
            </a:r>
            <a:r>
              <a:rPr lang="en-US" sz="1200" dirty="0" err="1"/>
              <a:t>CountryID</a:t>
            </a:r>
            <a:r>
              <a:rPr lang="en-US" sz="1200" dirty="0"/>
              <a:t> = User's assigned country</a:t>
            </a:r>
          </a:p>
          <a:p>
            <a:r>
              <a:rPr lang="en-US" sz="1200" dirty="0"/>
              <a:t>- Order by: </a:t>
            </a:r>
            <a:r>
              <a:rPr lang="en-US" sz="1200" dirty="0" err="1"/>
              <a:t>SubmittedDate</a:t>
            </a:r>
            <a:r>
              <a:rPr lang="en-US" sz="1200" dirty="0"/>
              <a:t> DESC (most recent first)</a:t>
            </a:r>
          </a:p>
          <a:p>
            <a:r>
              <a:rPr lang="en-US" sz="1200" dirty="0"/>
              <a:t>- Include: All statuses except </a:t>
            </a:r>
            <a:r>
              <a:rPr lang="en-US" sz="1200" dirty="0" err="1"/>
              <a:t>IsDeleted</a:t>
            </a:r>
            <a:r>
              <a:rPr lang="en-US" sz="1200" dirty="0"/>
              <a:t> = Yes</a:t>
            </a:r>
          </a:p>
          <a:p>
            <a:endParaRPr lang="en-US" sz="1200" dirty="0"/>
          </a:p>
          <a:p>
            <a:r>
              <a:rPr lang="en-US" sz="1200" dirty="0"/>
              <a:t>Table Columns:</a:t>
            </a:r>
          </a:p>
          <a:p>
            <a:r>
              <a:rPr lang="en-US" sz="1200" dirty="0"/>
              <a:t>- Submission ID: Title field from </a:t>
            </a:r>
            <a:r>
              <a:rPr lang="en-US" sz="1200" dirty="0" err="1"/>
              <a:t>tbl_VolumeSubmissions</a:t>
            </a:r>
            <a:endParaRPr lang="en-US" sz="1200" dirty="0"/>
          </a:p>
          <a:p>
            <a:r>
              <a:rPr lang="en-US" sz="1200" dirty="0"/>
              <a:t>- Month: </a:t>
            </a:r>
            <a:r>
              <a:rPr lang="en-US" sz="1200" dirty="0" err="1"/>
              <a:t>SubmissionMonth</a:t>
            </a:r>
            <a:r>
              <a:rPr lang="en-US" sz="1200" dirty="0"/>
              <a:t> (displayed as "Month Year")</a:t>
            </a:r>
          </a:p>
          <a:p>
            <a:r>
              <a:rPr lang="en-US" sz="1200" dirty="0"/>
              <a:t>- Submitted: </a:t>
            </a:r>
            <a:r>
              <a:rPr lang="en-US" sz="1200" dirty="0" err="1"/>
              <a:t>SubmittedDate</a:t>
            </a:r>
            <a:r>
              <a:rPr lang="en-US" sz="1200" dirty="0"/>
              <a:t> (formatted as MM/DD/YY)</a:t>
            </a:r>
          </a:p>
          <a:p>
            <a:r>
              <a:rPr lang="en-US" sz="1200" dirty="0"/>
              <a:t>- Test Types: Count of distinct </a:t>
            </a:r>
            <a:r>
              <a:rPr lang="en-US" sz="1200" dirty="0" err="1"/>
              <a:t>TestTypeIDs</a:t>
            </a:r>
            <a:r>
              <a:rPr lang="en-US" sz="1200" dirty="0"/>
              <a:t> in submission</a:t>
            </a:r>
          </a:p>
          <a:p>
            <a:r>
              <a:rPr lang="en-US" sz="1200" dirty="0"/>
              <a:t>- Status: Current workflow status</a:t>
            </a:r>
          </a:p>
          <a:p>
            <a:r>
              <a:rPr lang="en-US" sz="1200" dirty="0"/>
              <a:t>- Actions: Dynamic buttons based on status</a:t>
            </a:r>
          </a:p>
          <a:p>
            <a:endParaRPr lang="en-US" sz="1200" dirty="0"/>
          </a:p>
          <a:p>
            <a:r>
              <a:rPr lang="en-US" sz="1200" dirty="0"/>
              <a:t>Filter Logic:</a:t>
            </a:r>
          </a:p>
          <a:p>
            <a:r>
              <a:rPr lang="en-US" sz="1200" dirty="0"/>
              <a:t>- Month dropdown: Populated from distinct </a:t>
            </a:r>
            <a:r>
              <a:rPr lang="en-US" sz="1200" dirty="0" err="1"/>
              <a:t>SubmissionMonth</a:t>
            </a:r>
            <a:r>
              <a:rPr lang="en-US" sz="1200" dirty="0"/>
              <a:t> values</a:t>
            </a:r>
          </a:p>
          <a:p>
            <a:r>
              <a:rPr lang="en-US" sz="1200" dirty="0"/>
              <a:t>- Status dropdown: Approved, Validated, Flagged, Submitted, Draft</a:t>
            </a:r>
          </a:p>
          <a:p>
            <a:r>
              <a:rPr lang="en-US" sz="1200" dirty="0"/>
              <a:t>- Year dropdown: Populated from distinct years in data</a:t>
            </a:r>
          </a:p>
          <a:p>
            <a:r>
              <a:rPr lang="en-US" sz="1200" dirty="0"/>
              <a:t>- Filters apply in combination (AND logic)</a:t>
            </a:r>
          </a:p>
          <a:p>
            <a:r>
              <a:rPr lang="en-US" sz="1200" dirty="0"/>
              <a:t>- Search: Searches Submission ID and Month fields</a:t>
            </a:r>
          </a:p>
          <a:p>
            <a:endParaRPr lang="en-US" sz="1200" dirty="0"/>
          </a:p>
          <a:p>
            <a:r>
              <a:rPr lang="en-US" sz="1200" dirty="0"/>
              <a:t>Status Display:</a:t>
            </a:r>
          </a:p>
          <a:p>
            <a:r>
              <a:rPr lang="en-US" sz="1200" dirty="0"/>
              <a:t>- Use colored badges for visual scanning</a:t>
            </a:r>
          </a:p>
          <a:p>
            <a:r>
              <a:rPr lang="en-US" sz="1200" dirty="0"/>
              <a:t>- Approved: Green</a:t>
            </a:r>
          </a:p>
          <a:p>
            <a:r>
              <a:rPr lang="en-US" sz="1200" dirty="0"/>
              <a:t>- Validated: Yellow</a:t>
            </a:r>
          </a:p>
          <a:p>
            <a:r>
              <a:rPr lang="en-US" sz="1200" dirty="0"/>
              <a:t>- Flagged: Orange/Red</a:t>
            </a:r>
          </a:p>
          <a:p>
            <a:r>
              <a:rPr lang="en-US" sz="1200" dirty="0"/>
              <a:t>- Submitted: Blue</a:t>
            </a:r>
          </a:p>
          <a:p>
            <a:r>
              <a:rPr lang="en-US" sz="1200" dirty="0"/>
              <a:t>- Draft: Gray</a:t>
            </a:r>
          </a:p>
          <a:p>
            <a:endParaRPr lang="en-US" sz="1200" dirty="0"/>
          </a:p>
          <a:p>
            <a:r>
              <a:rPr lang="en-US" sz="1200" dirty="0"/>
              <a:t>Action Buttons (Context-Sensitive):</a:t>
            </a:r>
          </a:p>
          <a:p>
            <a:r>
              <a:rPr lang="en-US" sz="1200" dirty="0"/>
              <a:t>1. [View]: Always available</a:t>
            </a:r>
          </a:p>
          <a:p>
            <a:r>
              <a:rPr lang="en-US" sz="1200" dirty="0"/>
              <a:t>   - Opens read-only detail view</a:t>
            </a:r>
          </a:p>
          <a:p>
            <a:r>
              <a:rPr lang="en-US" sz="1200" dirty="0"/>
              <a:t>   - Shows same info as confirmation screen</a:t>
            </a:r>
          </a:p>
          <a:p>
            <a:r>
              <a:rPr lang="en-US" sz="1200" dirty="0"/>
              <a:t>   </a:t>
            </a:r>
          </a:p>
          <a:p>
            <a:r>
              <a:rPr lang="en-US" sz="1200" dirty="0"/>
              <a:t>2. [Download]: Available for Approved/Validated</a:t>
            </a:r>
          </a:p>
          <a:p>
            <a:r>
              <a:rPr lang="en-US" sz="1200" dirty="0"/>
              <a:t>   - Downloads PDF receipt</a:t>
            </a:r>
          </a:p>
          <a:p>
            <a:r>
              <a:rPr lang="en-US" sz="1200" dirty="0"/>
              <a:t>   - Same PDF as confirmation screen</a:t>
            </a:r>
          </a:p>
          <a:p>
            <a:r>
              <a:rPr lang="en-US" sz="1200" dirty="0"/>
              <a:t>3. [Resolve]: Available for Flagged only</a:t>
            </a:r>
          </a:p>
          <a:p>
            <a:r>
              <a:rPr lang="en-US" sz="1200" dirty="0"/>
              <a:t>   - Shows flag details</a:t>
            </a:r>
          </a:p>
          <a:p>
            <a:r>
              <a:rPr lang="en-US" sz="1200" dirty="0"/>
              <a:t>   - Allows coordinator to add response/clarification</a:t>
            </a:r>
          </a:p>
          <a:p>
            <a:r>
              <a:rPr lang="en-US" sz="1200" dirty="0"/>
              <a:t>   - Sends notification to analyst</a:t>
            </a:r>
          </a:p>
          <a:p>
            <a:endParaRPr lang="en-US" sz="1200" dirty="0"/>
          </a:p>
          <a:p>
            <a:r>
              <a:rPr lang="en-US" sz="1200" dirty="0"/>
              <a:t>Row Click Behavior:</a:t>
            </a:r>
          </a:p>
          <a:p>
            <a:r>
              <a:rPr lang="en-US" sz="1200" dirty="0"/>
              <a:t>- Click anywhere on row (except buttons) → View details</a:t>
            </a:r>
          </a:p>
          <a:p>
            <a:r>
              <a:rPr lang="en-US" sz="1200" dirty="0"/>
              <a:t>- Hover effect to show it's clickable</a:t>
            </a:r>
          </a:p>
          <a:p>
            <a:endParaRPr lang="en-US" sz="1200" dirty="0"/>
          </a:p>
          <a:p>
            <a:r>
              <a:rPr lang="en-US" sz="1200" dirty="0"/>
              <a:t>Pagination:</a:t>
            </a:r>
          </a:p>
          <a:p>
            <a:r>
              <a:rPr lang="en-US" sz="1200" dirty="0"/>
              <a:t>- Show 5-10 rows per page</a:t>
            </a:r>
          </a:p>
          <a:p>
            <a:r>
              <a:rPr lang="en-US" sz="1200" dirty="0"/>
              <a:t>- Calculate total pages</a:t>
            </a:r>
          </a:p>
          <a:p>
            <a:r>
              <a:rPr lang="en-US" sz="1200" dirty="0"/>
              <a:t>- Enable Previous/Next buttons based on current page</a:t>
            </a:r>
          </a:p>
          <a:p>
            <a:r>
              <a:rPr lang="en-US" sz="1200" dirty="0"/>
              <a:t>- Option: "Show All" for power users</a:t>
            </a:r>
          </a:p>
          <a:p>
            <a:endParaRPr lang="en-US" sz="1200" dirty="0"/>
          </a:p>
          <a:p>
            <a:r>
              <a:rPr lang="en-US" sz="1200" dirty="0"/>
              <a:t>Empty State:</a:t>
            </a:r>
          </a:p>
          <a:p>
            <a:r>
              <a:rPr lang="en-US" sz="1200" dirty="0"/>
              <a:t>- Shown when Filter() returns no results</a:t>
            </a:r>
          </a:p>
          <a:p>
            <a:r>
              <a:rPr lang="en-US" sz="1200" dirty="0"/>
              <a:t>- Friendly message encouraging first submission</a:t>
            </a:r>
          </a:p>
          <a:p>
            <a:r>
              <a:rPr lang="en-US" sz="1200" dirty="0"/>
              <a:t>- Clear call-to-action button</a:t>
            </a:r>
          </a:p>
          <a:p>
            <a:endParaRPr lang="en-US" sz="1200" dirty="0"/>
          </a:p>
          <a:p>
            <a:r>
              <a:rPr lang="en-US" sz="1200" dirty="0"/>
              <a:t>Export to Excel:</a:t>
            </a:r>
          </a:p>
          <a:p>
            <a:r>
              <a:rPr lang="en-US" sz="1200" dirty="0"/>
              <a:t>- Exports currently filtered/visible data</a:t>
            </a:r>
          </a:p>
          <a:p>
            <a:r>
              <a:rPr lang="en-US" sz="1200" dirty="0"/>
              <a:t>- Includes: ID, Month, Submitted Date, Status</a:t>
            </a:r>
          </a:p>
          <a:p>
            <a:r>
              <a:rPr lang="en-US" sz="1200" dirty="0"/>
              <a:t>- Filename: "</a:t>
            </a:r>
            <a:r>
              <a:rPr lang="en-US" sz="1200" dirty="0" err="1"/>
              <a:t>SubmissionHistory</a:t>
            </a:r>
            <a:r>
              <a:rPr lang="en-US" sz="1200" dirty="0"/>
              <a:t>_[</a:t>
            </a:r>
            <a:r>
              <a:rPr lang="en-US" sz="1200" dirty="0" err="1"/>
              <a:t>CountryCode</a:t>
            </a:r>
            <a:r>
              <a:rPr lang="en-US" sz="1200" dirty="0"/>
              <a:t>]_[Date].xlsx"</a:t>
            </a:r>
          </a:p>
          <a:p>
            <a:r>
              <a:rPr lang="en-US" sz="1200" dirty="0"/>
              <a:t>- Opens save dialog or auto-downloads</a:t>
            </a:r>
          </a:p>
          <a:p>
            <a:endParaRPr lang="en-US" sz="1200" dirty="0"/>
          </a:p>
          <a:p>
            <a:r>
              <a:rPr lang="en-US" sz="1200" dirty="0"/>
              <a:t>Submit New Volumes Button:</a:t>
            </a:r>
          </a:p>
          <a:p>
            <a:r>
              <a:rPr lang="en-US" sz="1200" dirty="0"/>
              <a:t>- Navigates to Screen 2 (Submission Form)</a:t>
            </a:r>
          </a:p>
          <a:p>
            <a:r>
              <a:rPr lang="en-US" sz="1200" dirty="0"/>
              <a:t>- Pre-selects current month if not already submitted</a:t>
            </a:r>
          </a:p>
          <a:p>
            <a:r>
              <a:rPr lang="en-US" sz="1200" dirty="0"/>
              <a:t>- Most common action from history screen</a:t>
            </a:r>
          </a:p>
          <a:p>
            <a:endParaRPr lang="en-US" sz="1200" dirty="0"/>
          </a:p>
          <a:p>
            <a:r>
              <a:rPr lang="en-US" sz="1200" dirty="0"/>
              <a:t>Performance Considerations:</a:t>
            </a:r>
          </a:p>
          <a:p>
            <a:r>
              <a:rPr lang="en-US" sz="1200" dirty="0"/>
              <a:t>- For users with 100+ submissions:</a:t>
            </a:r>
          </a:p>
          <a:p>
            <a:r>
              <a:rPr lang="en-US" sz="1200" dirty="0"/>
              <a:t>  - Default to last 12 months</a:t>
            </a:r>
          </a:p>
          <a:p>
            <a:r>
              <a:rPr lang="en-US" sz="1200" dirty="0"/>
              <a:t>  - Pagination is critical</a:t>
            </a:r>
          </a:p>
          <a:p>
            <a:r>
              <a:rPr lang="en-US" sz="1200" dirty="0"/>
              <a:t>  - Consider delegable queries</a:t>
            </a:r>
          </a:p>
          <a:p>
            <a:r>
              <a:rPr lang="en-US" sz="1200" dirty="0"/>
              <a:t>  - Load additional data on demand</a:t>
            </a:r>
          </a:p>
          <a:p>
            <a:endParaRPr lang="en-US" sz="1200" dirty="0"/>
          </a:p>
          <a:p>
            <a:r>
              <a:rPr lang="en-US" sz="1200" dirty="0"/>
              <a:t>Power Apps Implementation:</a:t>
            </a:r>
          </a:p>
          <a:p>
            <a:r>
              <a:rPr lang="en-US" sz="1200" dirty="0"/>
              <a:t>- Gallery control with Items = Filter(</a:t>
            </a:r>
            <a:r>
              <a:rPr lang="en-US" sz="1200" dirty="0" err="1"/>
              <a:t>tbl_VolumeSubmissions</a:t>
            </a:r>
            <a:r>
              <a:rPr lang="en-US" sz="1200" dirty="0"/>
              <a:t>...)</a:t>
            </a:r>
          </a:p>
          <a:p>
            <a:r>
              <a:rPr lang="en-US" sz="1200" dirty="0"/>
              <a:t>- Sort(Filter(...), </a:t>
            </a:r>
            <a:r>
              <a:rPr lang="en-US" sz="1200" dirty="0" err="1"/>
              <a:t>SubmittedDate</a:t>
            </a:r>
            <a:r>
              <a:rPr lang="en-US" sz="1200" dirty="0"/>
              <a:t>, Descending)</a:t>
            </a:r>
          </a:p>
          <a:p>
            <a:r>
              <a:rPr lang="en-US" sz="1200" dirty="0"/>
              <a:t>- Use delegation-friendly operators</a:t>
            </a:r>
          </a:p>
          <a:p>
            <a:r>
              <a:rPr lang="en-US" sz="1200" dirty="0"/>
              <a:t>- Cache filtered results in collection if needed</a:t>
            </a:r>
          </a:p>
          <a:p>
            <a:r>
              <a:rPr lang="en-US" sz="1200" dirty="0"/>
              <a:t>- Combo boxes for filter dropdowns</a:t>
            </a:r>
          </a:p>
          <a:p>
            <a:endParaRPr lang="en-US" sz="1200" dirty="0"/>
          </a:p>
          <a:p>
            <a:r>
              <a:rPr lang="en-US" sz="1200" dirty="0"/>
              <a:t>Navigation:</a:t>
            </a:r>
          </a:p>
          <a:p>
            <a:r>
              <a:rPr lang="en-US" sz="1200" dirty="0"/>
              <a:t>- View button: Navigate(</a:t>
            </a:r>
            <a:r>
              <a:rPr lang="en-US" sz="1200" dirty="0" err="1"/>
              <a:t>DetailScreen</a:t>
            </a:r>
            <a:r>
              <a:rPr lang="en-US" sz="1200" dirty="0"/>
              <a:t>, </a:t>
            </a:r>
            <a:r>
              <a:rPr lang="en-US" sz="1200" dirty="0" err="1"/>
              <a:t>ScreenTransition.None</a:t>
            </a:r>
            <a:r>
              <a:rPr lang="en-US" sz="1200" dirty="0"/>
              <a:t>, {</a:t>
            </a:r>
            <a:r>
              <a:rPr lang="en-US" sz="1200" dirty="0" err="1"/>
              <a:t>SelectedSubmission</a:t>
            </a:r>
            <a:r>
              <a:rPr lang="en-US" sz="1200" dirty="0"/>
              <a:t>: </a:t>
            </a:r>
            <a:r>
              <a:rPr lang="en-US" sz="1200" dirty="0" err="1"/>
              <a:t>ThisItem</a:t>
            </a:r>
            <a:r>
              <a:rPr lang="en-US" sz="1200" dirty="0"/>
              <a:t>})</a:t>
            </a:r>
          </a:p>
          <a:p>
            <a:r>
              <a:rPr lang="en-US" sz="1200" dirty="0"/>
              <a:t>- Submit New: Navigate(</a:t>
            </a:r>
            <a:r>
              <a:rPr lang="en-US" sz="1200" dirty="0" err="1"/>
              <a:t>SubmissionFormScreen</a:t>
            </a:r>
            <a:r>
              <a:rPr lang="en-US" sz="1200" dirty="0"/>
              <a:t>)</a:t>
            </a:r>
          </a:p>
          <a:p>
            <a:r>
              <a:rPr lang="en-US" sz="1200" dirty="0"/>
              <a:t>- Back: Navigate(</a:t>
            </a:r>
            <a:r>
              <a:rPr lang="en-US" sz="1200" dirty="0" err="1"/>
              <a:t>WelcomeScreen</a:t>
            </a:r>
            <a:r>
              <a:rPr lang="en-US" sz="1200" dirty="0"/>
              <a:t>)</a:t>
            </a:r>
          </a:p>
          <a:p>
            <a:endParaRPr lang="en-US" sz="1200" dirty="0"/>
          </a:p>
          <a:p>
            <a:r>
              <a:rPr lang="en-US" sz="1200" dirty="0"/>
              <a:t>Mobile Considerations:</a:t>
            </a:r>
          </a:p>
          <a:p>
            <a:r>
              <a:rPr lang="en-US" sz="1200" dirty="0"/>
              <a:t>- Table becomes vertical cards on narrow screens</a:t>
            </a:r>
          </a:p>
          <a:p>
            <a:r>
              <a:rPr lang="en-US" sz="1200" dirty="0"/>
              <a:t>- Fewer columns visible</a:t>
            </a:r>
          </a:p>
          <a:p>
            <a:r>
              <a:rPr lang="en-US" sz="1200" dirty="0"/>
              <a:t>- Swipe for actions instead of buttons</a:t>
            </a:r>
          </a:p>
          <a:p>
            <a:r>
              <a:rPr lang="en-US" sz="1200" dirty="0"/>
              <a:t>- Filter panel collapses to dropdown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A6B22D-DD54-9423-ABFC-8AD9D4B574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782EF-3126-49E3-9D22-B519B285522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1176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1DBE3-F026-FA0D-2880-64D8E79C3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70F261-E619-76BC-3E01-867FB28ADE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0A18D0-3AF5-1EF6-C1E4-B2381697BC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4480560"/>
          </a:xfrm>
        </p:spPr>
        <p:txBody>
          <a:bodyPr/>
          <a:lstStyle/>
          <a:p>
            <a:r>
              <a:rPr lang="en-US" sz="1200" dirty="0"/>
              <a:t>NOTES:</a:t>
            </a:r>
          </a:p>
          <a:p>
            <a:endParaRPr lang="en-US" sz="1200" dirty="0"/>
          </a:p>
          <a:p>
            <a:r>
              <a:rPr lang="en-US" sz="1200" dirty="0"/>
              <a:t>Data Source:</a:t>
            </a:r>
          </a:p>
          <a:p>
            <a:r>
              <a:rPr lang="en-US" sz="1200" dirty="0"/>
              <a:t>- </a:t>
            </a:r>
            <a:r>
              <a:rPr lang="en-US" sz="1200" dirty="0" err="1"/>
              <a:t>tbl_VolumeSubmissions</a:t>
            </a:r>
            <a:endParaRPr lang="en-US" sz="1200" dirty="0"/>
          </a:p>
          <a:p>
            <a:r>
              <a:rPr lang="en-US" sz="1200" dirty="0"/>
              <a:t>- Filter: </a:t>
            </a:r>
            <a:r>
              <a:rPr lang="en-US" sz="1200" dirty="0" err="1"/>
              <a:t>CountryID</a:t>
            </a:r>
            <a:r>
              <a:rPr lang="en-US" sz="1200" dirty="0"/>
              <a:t> = User's assigned country</a:t>
            </a:r>
          </a:p>
          <a:p>
            <a:r>
              <a:rPr lang="en-US" sz="1200" dirty="0"/>
              <a:t>- Order by: </a:t>
            </a:r>
            <a:r>
              <a:rPr lang="en-US" sz="1200" dirty="0" err="1"/>
              <a:t>SubmittedDate</a:t>
            </a:r>
            <a:r>
              <a:rPr lang="en-US" sz="1200" dirty="0"/>
              <a:t> DESC (most recent first)</a:t>
            </a:r>
          </a:p>
          <a:p>
            <a:r>
              <a:rPr lang="en-US" sz="1200" dirty="0"/>
              <a:t>- Include: All statuses except </a:t>
            </a:r>
            <a:r>
              <a:rPr lang="en-US" sz="1200" dirty="0" err="1"/>
              <a:t>IsDeleted</a:t>
            </a:r>
            <a:r>
              <a:rPr lang="en-US" sz="1200" dirty="0"/>
              <a:t> = Yes</a:t>
            </a:r>
          </a:p>
          <a:p>
            <a:endParaRPr lang="en-US" sz="1200" dirty="0"/>
          </a:p>
          <a:p>
            <a:r>
              <a:rPr lang="en-US" sz="1200" dirty="0"/>
              <a:t>Table Columns:</a:t>
            </a:r>
          </a:p>
          <a:p>
            <a:r>
              <a:rPr lang="en-US" sz="1200" dirty="0"/>
              <a:t>- Submission ID: Title field from </a:t>
            </a:r>
            <a:r>
              <a:rPr lang="en-US" sz="1200" dirty="0" err="1"/>
              <a:t>tbl_VolumeSubmissions</a:t>
            </a:r>
            <a:endParaRPr lang="en-US" sz="1200" dirty="0"/>
          </a:p>
          <a:p>
            <a:r>
              <a:rPr lang="en-US" sz="1200" dirty="0"/>
              <a:t>- Month: </a:t>
            </a:r>
            <a:r>
              <a:rPr lang="en-US" sz="1200" dirty="0" err="1"/>
              <a:t>SubmissionMonth</a:t>
            </a:r>
            <a:r>
              <a:rPr lang="en-US" sz="1200" dirty="0"/>
              <a:t> (displayed as "Month Year")</a:t>
            </a:r>
          </a:p>
          <a:p>
            <a:r>
              <a:rPr lang="en-US" sz="1200" dirty="0"/>
              <a:t>- Submitted: </a:t>
            </a:r>
            <a:r>
              <a:rPr lang="en-US" sz="1200" dirty="0" err="1"/>
              <a:t>SubmittedDate</a:t>
            </a:r>
            <a:r>
              <a:rPr lang="en-US" sz="1200" dirty="0"/>
              <a:t> (formatted as MM/DD/YY)</a:t>
            </a:r>
          </a:p>
          <a:p>
            <a:r>
              <a:rPr lang="en-US" sz="1200" dirty="0"/>
              <a:t>- Test Types: Count of distinct </a:t>
            </a:r>
            <a:r>
              <a:rPr lang="en-US" sz="1200" dirty="0" err="1"/>
              <a:t>TestTypeIDs</a:t>
            </a:r>
            <a:r>
              <a:rPr lang="en-US" sz="1200" dirty="0"/>
              <a:t> in submission</a:t>
            </a:r>
          </a:p>
          <a:p>
            <a:r>
              <a:rPr lang="en-US" sz="1200" dirty="0"/>
              <a:t>- Status: Current workflow status</a:t>
            </a:r>
          </a:p>
          <a:p>
            <a:r>
              <a:rPr lang="en-US" sz="1200" dirty="0"/>
              <a:t>- Actions: Dynamic buttons based on status</a:t>
            </a:r>
          </a:p>
          <a:p>
            <a:endParaRPr lang="en-US" sz="1200" dirty="0"/>
          </a:p>
          <a:p>
            <a:r>
              <a:rPr lang="en-US" sz="1200" dirty="0"/>
              <a:t>Filter Logic:</a:t>
            </a:r>
          </a:p>
          <a:p>
            <a:r>
              <a:rPr lang="en-US" sz="1200" dirty="0"/>
              <a:t>- Month dropdown: Populated from distinct </a:t>
            </a:r>
            <a:r>
              <a:rPr lang="en-US" sz="1200" dirty="0" err="1"/>
              <a:t>SubmissionMonth</a:t>
            </a:r>
            <a:r>
              <a:rPr lang="en-US" sz="1200" dirty="0"/>
              <a:t> values</a:t>
            </a:r>
          </a:p>
          <a:p>
            <a:r>
              <a:rPr lang="en-US" sz="1200" dirty="0"/>
              <a:t>- Status dropdown: Approved, Validated, Flagged, Submitted, Draft</a:t>
            </a:r>
          </a:p>
          <a:p>
            <a:r>
              <a:rPr lang="en-US" sz="1200" dirty="0"/>
              <a:t>- Year dropdown: Populated from distinct years in data</a:t>
            </a:r>
          </a:p>
          <a:p>
            <a:r>
              <a:rPr lang="en-US" sz="1200" dirty="0"/>
              <a:t>- Filters apply in combination (AND logic)</a:t>
            </a:r>
          </a:p>
          <a:p>
            <a:r>
              <a:rPr lang="en-US" sz="1200" dirty="0"/>
              <a:t>- Search: Searches Submission ID and Month fields</a:t>
            </a:r>
          </a:p>
          <a:p>
            <a:endParaRPr lang="en-US" sz="1200" dirty="0"/>
          </a:p>
          <a:p>
            <a:r>
              <a:rPr lang="en-US" sz="1200" dirty="0"/>
              <a:t>Status Display:</a:t>
            </a:r>
          </a:p>
          <a:p>
            <a:r>
              <a:rPr lang="en-US" sz="1200" dirty="0"/>
              <a:t>- Use colored badges for visual scanning</a:t>
            </a:r>
          </a:p>
          <a:p>
            <a:r>
              <a:rPr lang="en-US" sz="1200" dirty="0"/>
              <a:t>- Approved: Green</a:t>
            </a:r>
          </a:p>
          <a:p>
            <a:r>
              <a:rPr lang="en-US" sz="1200" dirty="0"/>
              <a:t>- Validated: Yellow</a:t>
            </a:r>
          </a:p>
          <a:p>
            <a:r>
              <a:rPr lang="en-US" sz="1200" dirty="0"/>
              <a:t>- Flagged: Orange/Red</a:t>
            </a:r>
          </a:p>
          <a:p>
            <a:r>
              <a:rPr lang="en-US" sz="1200" dirty="0"/>
              <a:t>- Submitted: Blue</a:t>
            </a:r>
          </a:p>
          <a:p>
            <a:r>
              <a:rPr lang="en-US" sz="1200" dirty="0"/>
              <a:t>- Draft: Gray</a:t>
            </a:r>
          </a:p>
          <a:p>
            <a:endParaRPr lang="en-US" sz="1200" dirty="0"/>
          </a:p>
          <a:p>
            <a:r>
              <a:rPr lang="en-US" sz="1200" dirty="0"/>
              <a:t>Action Buttons (Context-Sensitive):</a:t>
            </a:r>
          </a:p>
          <a:p>
            <a:r>
              <a:rPr lang="en-US" sz="1200" dirty="0"/>
              <a:t>1. [View]: Always available</a:t>
            </a:r>
          </a:p>
          <a:p>
            <a:r>
              <a:rPr lang="en-US" sz="1200" dirty="0"/>
              <a:t>   - Opens read-only detail view</a:t>
            </a:r>
          </a:p>
          <a:p>
            <a:r>
              <a:rPr lang="en-US" sz="1200" dirty="0"/>
              <a:t>   - Shows same info as confirmation screen</a:t>
            </a:r>
          </a:p>
          <a:p>
            <a:r>
              <a:rPr lang="en-US" sz="1200" dirty="0"/>
              <a:t>   </a:t>
            </a:r>
          </a:p>
          <a:p>
            <a:r>
              <a:rPr lang="en-US" sz="1200" dirty="0"/>
              <a:t>2. [Download]: Available for Approved/Validated</a:t>
            </a:r>
          </a:p>
          <a:p>
            <a:r>
              <a:rPr lang="en-US" sz="1200" dirty="0"/>
              <a:t>   - Downloads PDF receipt</a:t>
            </a:r>
          </a:p>
          <a:p>
            <a:r>
              <a:rPr lang="en-US" sz="1200" dirty="0"/>
              <a:t>   - Same PDF as confirmation screen</a:t>
            </a:r>
          </a:p>
          <a:p>
            <a:r>
              <a:rPr lang="en-US" sz="1200" dirty="0"/>
              <a:t>3. [Resolve]: Available for Flagged only</a:t>
            </a:r>
          </a:p>
          <a:p>
            <a:r>
              <a:rPr lang="en-US" sz="1200" dirty="0"/>
              <a:t>   - Shows flag details</a:t>
            </a:r>
          </a:p>
          <a:p>
            <a:r>
              <a:rPr lang="en-US" sz="1200" dirty="0"/>
              <a:t>   - Allows coordinator to add response/clarification</a:t>
            </a:r>
          </a:p>
          <a:p>
            <a:r>
              <a:rPr lang="en-US" sz="1200" dirty="0"/>
              <a:t>   - Sends notification to analyst</a:t>
            </a:r>
          </a:p>
          <a:p>
            <a:endParaRPr lang="en-US" sz="1200" dirty="0"/>
          </a:p>
          <a:p>
            <a:r>
              <a:rPr lang="en-US" sz="1200" dirty="0"/>
              <a:t>Row Click Behavior:</a:t>
            </a:r>
          </a:p>
          <a:p>
            <a:r>
              <a:rPr lang="en-US" sz="1200" dirty="0"/>
              <a:t>- Click anywhere on row (except buttons) → View details</a:t>
            </a:r>
          </a:p>
          <a:p>
            <a:r>
              <a:rPr lang="en-US" sz="1200" dirty="0"/>
              <a:t>- Hover effect to show it's clickable</a:t>
            </a:r>
          </a:p>
          <a:p>
            <a:endParaRPr lang="en-US" sz="1200" dirty="0"/>
          </a:p>
          <a:p>
            <a:r>
              <a:rPr lang="en-US" sz="1200" dirty="0"/>
              <a:t>Pagination:</a:t>
            </a:r>
          </a:p>
          <a:p>
            <a:r>
              <a:rPr lang="en-US" sz="1200" dirty="0"/>
              <a:t>- Show 5-10 rows per page</a:t>
            </a:r>
          </a:p>
          <a:p>
            <a:r>
              <a:rPr lang="en-US" sz="1200" dirty="0"/>
              <a:t>- Calculate total pages</a:t>
            </a:r>
          </a:p>
          <a:p>
            <a:r>
              <a:rPr lang="en-US" sz="1200" dirty="0"/>
              <a:t>- Enable Previous/Next buttons based on current page</a:t>
            </a:r>
          </a:p>
          <a:p>
            <a:r>
              <a:rPr lang="en-US" sz="1200" dirty="0"/>
              <a:t>- Option: "Show All" for power users</a:t>
            </a:r>
          </a:p>
          <a:p>
            <a:endParaRPr lang="en-US" sz="1200" dirty="0"/>
          </a:p>
          <a:p>
            <a:r>
              <a:rPr lang="en-US" sz="1200" dirty="0"/>
              <a:t>Empty State:</a:t>
            </a:r>
          </a:p>
          <a:p>
            <a:r>
              <a:rPr lang="en-US" sz="1200" dirty="0"/>
              <a:t>- Shown when Filter() returns no results</a:t>
            </a:r>
          </a:p>
          <a:p>
            <a:r>
              <a:rPr lang="en-US" sz="1200" dirty="0"/>
              <a:t>- Friendly message encouraging first submission</a:t>
            </a:r>
          </a:p>
          <a:p>
            <a:r>
              <a:rPr lang="en-US" sz="1200" dirty="0"/>
              <a:t>- Clear call-to-action button</a:t>
            </a:r>
          </a:p>
          <a:p>
            <a:endParaRPr lang="en-US" sz="1200" dirty="0"/>
          </a:p>
          <a:p>
            <a:r>
              <a:rPr lang="en-US" sz="1200" dirty="0"/>
              <a:t>Export to Excel:</a:t>
            </a:r>
          </a:p>
          <a:p>
            <a:r>
              <a:rPr lang="en-US" sz="1200" dirty="0"/>
              <a:t>- Exports currently filtered/visible data</a:t>
            </a:r>
          </a:p>
          <a:p>
            <a:r>
              <a:rPr lang="en-US" sz="1200" dirty="0"/>
              <a:t>- Includes: ID, Month, Submitted Date, Status</a:t>
            </a:r>
          </a:p>
          <a:p>
            <a:r>
              <a:rPr lang="en-US" sz="1200" dirty="0"/>
              <a:t>- Filename: "</a:t>
            </a:r>
            <a:r>
              <a:rPr lang="en-US" sz="1200" dirty="0" err="1"/>
              <a:t>SubmissionHistory</a:t>
            </a:r>
            <a:r>
              <a:rPr lang="en-US" sz="1200" dirty="0"/>
              <a:t>_[</a:t>
            </a:r>
            <a:r>
              <a:rPr lang="en-US" sz="1200" dirty="0" err="1"/>
              <a:t>CountryCode</a:t>
            </a:r>
            <a:r>
              <a:rPr lang="en-US" sz="1200" dirty="0"/>
              <a:t>]_[Date].xlsx"</a:t>
            </a:r>
          </a:p>
          <a:p>
            <a:r>
              <a:rPr lang="en-US" sz="1200" dirty="0"/>
              <a:t>- Opens save dialog or auto-downloads</a:t>
            </a:r>
          </a:p>
          <a:p>
            <a:endParaRPr lang="en-US" sz="1200" dirty="0"/>
          </a:p>
          <a:p>
            <a:r>
              <a:rPr lang="en-US" sz="1200" dirty="0"/>
              <a:t>Submit New Volumes Button:</a:t>
            </a:r>
          </a:p>
          <a:p>
            <a:r>
              <a:rPr lang="en-US" sz="1200" dirty="0"/>
              <a:t>- Navigates to Screen 2 (Submission Form)</a:t>
            </a:r>
          </a:p>
          <a:p>
            <a:r>
              <a:rPr lang="en-US" sz="1200" dirty="0"/>
              <a:t>- Pre-selects current month if not already submitted</a:t>
            </a:r>
          </a:p>
          <a:p>
            <a:r>
              <a:rPr lang="en-US" sz="1200" dirty="0"/>
              <a:t>- Most common action from history screen</a:t>
            </a:r>
          </a:p>
          <a:p>
            <a:endParaRPr lang="en-US" sz="1200" dirty="0"/>
          </a:p>
          <a:p>
            <a:r>
              <a:rPr lang="en-US" sz="1200" dirty="0"/>
              <a:t>Performance Considerations:</a:t>
            </a:r>
          </a:p>
          <a:p>
            <a:r>
              <a:rPr lang="en-US" sz="1200" dirty="0"/>
              <a:t>- For users with 100+ submissions:</a:t>
            </a:r>
          </a:p>
          <a:p>
            <a:r>
              <a:rPr lang="en-US" sz="1200" dirty="0"/>
              <a:t>  - Default to last 12 months</a:t>
            </a:r>
          </a:p>
          <a:p>
            <a:r>
              <a:rPr lang="en-US" sz="1200" dirty="0"/>
              <a:t>  - Pagination is critical</a:t>
            </a:r>
          </a:p>
          <a:p>
            <a:r>
              <a:rPr lang="en-US" sz="1200" dirty="0"/>
              <a:t>  - Consider delegable queries</a:t>
            </a:r>
          </a:p>
          <a:p>
            <a:r>
              <a:rPr lang="en-US" sz="1200" dirty="0"/>
              <a:t>  - Load additional data on demand</a:t>
            </a:r>
          </a:p>
          <a:p>
            <a:endParaRPr lang="en-US" sz="1200" dirty="0"/>
          </a:p>
          <a:p>
            <a:r>
              <a:rPr lang="en-US" sz="1200" dirty="0"/>
              <a:t>Power Apps Implementation:</a:t>
            </a:r>
          </a:p>
          <a:p>
            <a:r>
              <a:rPr lang="en-US" sz="1200" dirty="0"/>
              <a:t>- Gallery control with Items = Filter(</a:t>
            </a:r>
            <a:r>
              <a:rPr lang="en-US" sz="1200" dirty="0" err="1"/>
              <a:t>tbl_VolumeSubmissions</a:t>
            </a:r>
            <a:r>
              <a:rPr lang="en-US" sz="1200" dirty="0"/>
              <a:t>...)</a:t>
            </a:r>
          </a:p>
          <a:p>
            <a:r>
              <a:rPr lang="en-US" sz="1200" dirty="0"/>
              <a:t>- Sort(Filter(...), </a:t>
            </a:r>
            <a:r>
              <a:rPr lang="en-US" sz="1200" dirty="0" err="1"/>
              <a:t>SubmittedDate</a:t>
            </a:r>
            <a:r>
              <a:rPr lang="en-US" sz="1200" dirty="0"/>
              <a:t>, Descending)</a:t>
            </a:r>
          </a:p>
          <a:p>
            <a:r>
              <a:rPr lang="en-US" sz="1200" dirty="0"/>
              <a:t>- Use delegation-friendly operators</a:t>
            </a:r>
          </a:p>
          <a:p>
            <a:r>
              <a:rPr lang="en-US" sz="1200" dirty="0"/>
              <a:t>- Cache filtered results in collection if needed</a:t>
            </a:r>
          </a:p>
          <a:p>
            <a:r>
              <a:rPr lang="en-US" sz="1200" dirty="0"/>
              <a:t>- Combo boxes for filter dropdowns</a:t>
            </a:r>
          </a:p>
          <a:p>
            <a:endParaRPr lang="en-US" sz="1200" dirty="0"/>
          </a:p>
          <a:p>
            <a:r>
              <a:rPr lang="en-US" sz="1200" dirty="0"/>
              <a:t>Navigation:</a:t>
            </a:r>
          </a:p>
          <a:p>
            <a:r>
              <a:rPr lang="en-US" sz="1200" dirty="0"/>
              <a:t>- View button: Navigate(</a:t>
            </a:r>
            <a:r>
              <a:rPr lang="en-US" sz="1200" dirty="0" err="1"/>
              <a:t>DetailScreen</a:t>
            </a:r>
            <a:r>
              <a:rPr lang="en-US" sz="1200" dirty="0"/>
              <a:t>, </a:t>
            </a:r>
            <a:r>
              <a:rPr lang="en-US" sz="1200" dirty="0" err="1"/>
              <a:t>ScreenTransition.None</a:t>
            </a:r>
            <a:r>
              <a:rPr lang="en-US" sz="1200" dirty="0"/>
              <a:t>, {</a:t>
            </a:r>
            <a:r>
              <a:rPr lang="en-US" sz="1200" dirty="0" err="1"/>
              <a:t>SelectedSubmission</a:t>
            </a:r>
            <a:r>
              <a:rPr lang="en-US" sz="1200" dirty="0"/>
              <a:t>: </a:t>
            </a:r>
            <a:r>
              <a:rPr lang="en-US" sz="1200" dirty="0" err="1"/>
              <a:t>ThisItem</a:t>
            </a:r>
            <a:r>
              <a:rPr lang="en-US" sz="1200" dirty="0"/>
              <a:t>})</a:t>
            </a:r>
          </a:p>
          <a:p>
            <a:r>
              <a:rPr lang="en-US" sz="1200" dirty="0"/>
              <a:t>- Submit New: Navigate(</a:t>
            </a:r>
            <a:r>
              <a:rPr lang="en-US" sz="1200" dirty="0" err="1"/>
              <a:t>SubmissionFormScreen</a:t>
            </a:r>
            <a:r>
              <a:rPr lang="en-US" sz="1200" dirty="0"/>
              <a:t>)</a:t>
            </a:r>
          </a:p>
          <a:p>
            <a:r>
              <a:rPr lang="en-US" sz="1200" dirty="0"/>
              <a:t>- Back: Navigate(</a:t>
            </a:r>
            <a:r>
              <a:rPr lang="en-US" sz="1200" dirty="0" err="1"/>
              <a:t>WelcomeScreen</a:t>
            </a:r>
            <a:r>
              <a:rPr lang="en-US" sz="1200" dirty="0"/>
              <a:t>)</a:t>
            </a:r>
          </a:p>
          <a:p>
            <a:endParaRPr lang="en-US" sz="1200" dirty="0"/>
          </a:p>
          <a:p>
            <a:r>
              <a:rPr lang="en-US" sz="1200" dirty="0"/>
              <a:t>Mobile Considerations:</a:t>
            </a:r>
          </a:p>
          <a:p>
            <a:r>
              <a:rPr lang="en-US" sz="1200" dirty="0"/>
              <a:t>- Table becomes vertical cards on narrow screens</a:t>
            </a:r>
          </a:p>
          <a:p>
            <a:r>
              <a:rPr lang="en-US" sz="1200" dirty="0"/>
              <a:t>- Fewer columns visible</a:t>
            </a:r>
          </a:p>
          <a:p>
            <a:r>
              <a:rPr lang="en-US" sz="1200" dirty="0"/>
              <a:t>- Swipe for actions instead of buttons</a:t>
            </a:r>
          </a:p>
          <a:p>
            <a:r>
              <a:rPr lang="en-US" sz="1200" dirty="0"/>
              <a:t>- Filter panel collapses to dropdown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71D9F4-516C-DA55-8421-0945947770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782EF-3126-49E3-9D22-B519B285522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4166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373EC-EAB9-33AC-323D-5323ABBBF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874818-D538-865A-CB47-6E820E19CB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A0CF88-BF1D-0BA1-9483-04FA37CD86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4480560"/>
          </a:xfrm>
        </p:spPr>
        <p:txBody>
          <a:bodyPr/>
          <a:lstStyle/>
          <a:p>
            <a:r>
              <a:rPr lang="en-US" sz="1200" dirty="0"/>
              <a:t>NOTES:</a:t>
            </a:r>
          </a:p>
          <a:p>
            <a:endParaRPr lang="en-US" sz="1200" dirty="0"/>
          </a:p>
          <a:p>
            <a:r>
              <a:rPr lang="en-US" sz="1200" dirty="0"/>
              <a:t>Data Source:</a:t>
            </a:r>
          </a:p>
          <a:p>
            <a:r>
              <a:rPr lang="en-US" sz="1200" dirty="0"/>
              <a:t>- </a:t>
            </a:r>
            <a:r>
              <a:rPr lang="en-US" sz="1200" dirty="0" err="1"/>
              <a:t>tbl_VolumeSubmissions</a:t>
            </a:r>
            <a:endParaRPr lang="en-US" sz="1200" dirty="0"/>
          </a:p>
          <a:p>
            <a:r>
              <a:rPr lang="en-US" sz="1200" dirty="0"/>
              <a:t>- Filter: </a:t>
            </a:r>
            <a:r>
              <a:rPr lang="en-US" sz="1200" dirty="0" err="1"/>
              <a:t>CountryID</a:t>
            </a:r>
            <a:r>
              <a:rPr lang="en-US" sz="1200" dirty="0"/>
              <a:t> = User's assigned country</a:t>
            </a:r>
          </a:p>
          <a:p>
            <a:r>
              <a:rPr lang="en-US" sz="1200" dirty="0"/>
              <a:t>- Order by: </a:t>
            </a:r>
            <a:r>
              <a:rPr lang="en-US" sz="1200" dirty="0" err="1"/>
              <a:t>SubmittedDate</a:t>
            </a:r>
            <a:r>
              <a:rPr lang="en-US" sz="1200" dirty="0"/>
              <a:t> DESC (most recent first)</a:t>
            </a:r>
          </a:p>
          <a:p>
            <a:r>
              <a:rPr lang="en-US" sz="1200" dirty="0"/>
              <a:t>- Include: All statuses except </a:t>
            </a:r>
            <a:r>
              <a:rPr lang="en-US" sz="1200" dirty="0" err="1"/>
              <a:t>IsDeleted</a:t>
            </a:r>
            <a:r>
              <a:rPr lang="en-US" sz="1200" dirty="0"/>
              <a:t> = Yes</a:t>
            </a:r>
          </a:p>
          <a:p>
            <a:endParaRPr lang="en-US" sz="1200" dirty="0"/>
          </a:p>
          <a:p>
            <a:r>
              <a:rPr lang="en-US" sz="1200" dirty="0"/>
              <a:t>Table Columns:</a:t>
            </a:r>
          </a:p>
          <a:p>
            <a:r>
              <a:rPr lang="en-US" sz="1200" dirty="0"/>
              <a:t>- Submission ID: Title field from </a:t>
            </a:r>
            <a:r>
              <a:rPr lang="en-US" sz="1200" dirty="0" err="1"/>
              <a:t>tbl_VolumeSubmissions</a:t>
            </a:r>
            <a:endParaRPr lang="en-US" sz="1200" dirty="0"/>
          </a:p>
          <a:p>
            <a:r>
              <a:rPr lang="en-US" sz="1200" dirty="0"/>
              <a:t>- Month: </a:t>
            </a:r>
            <a:r>
              <a:rPr lang="en-US" sz="1200" dirty="0" err="1"/>
              <a:t>SubmissionMonth</a:t>
            </a:r>
            <a:r>
              <a:rPr lang="en-US" sz="1200" dirty="0"/>
              <a:t> (displayed as "Month Year")</a:t>
            </a:r>
          </a:p>
          <a:p>
            <a:r>
              <a:rPr lang="en-US" sz="1200" dirty="0"/>
              <a:t>- Submitted: </a:t>
            </a:r>
            <a:r>
              <a:rPr lang="en-US" sz="1200" dirty="0" err="1"/>
              <a:t>SubmittedDate</a:t>
            </a:r>
            <a:r>
              <a:rPr lang="en-US" sz="1200" dirty="0"/>
              <a:t> (formatted as MM/DD/YY)</a:t>
            </a:r>
          </a:p>
          <a:p>
            <a:r>
              <a:rPr lang="en-US" sz="1200" dirty="0"/>
              <a:t>- Test Types: Count of distinct </a:t>
            </a:r>
            <a:r>
              <a:rPr lang="en-US" sz="1200" dirty="0" err="1"/>
              <a:t>TestTypeIDs</a:t>
            </a:r>
            <a:r>
              <a:rPr lang="en-US" sz="1200" dirty="0"/>
              <a:t> in submission</a:t>
            </a:r>
          </a:p>
          <a:p>
            <a:r>
              <a:rPr lang="en-US" sz="1200" dirty="0"/>
              <a:t>- Status: Current workflow status</a:t>
            </a:r>
          </a:p>
          <a:p>
            <a:r>
              <a:rPr lang="en-US" sz="1200" dirty="0"/>
              <a:t>- Actions: Dynamic buttons based on status</a:t>
            </a:r>
          </a:p>
          <a:p>
            <a:endParaRPr lang="en-US" sz="1200" dirty="0"/>
          </a:p>
          <a:p>
            <a:r>
              <a:rPr lang="en-US" sz="1200" dirty="0"/>
              <a:t>Filter Logic:</a:t>
            </a:r>
          </a:p>
          <a:p>
            <a:r>
              <a:rPr lang="en-US" sz="1200" dirty="0"/>
              <a:t>- Month dropdown: Populated from distinct </a:t>
            </a:r>
            <a:r>
              <a:rPr lang="en-US" sz="1200" dirty="0" err="1"/>
              <a:t>SubmissionMonth</a:t>
            </a:r>
            <a:r>
              <a:rPr lang="en-US" sz="1200" dirty="0"/>
              <a:t> values</a:t>
            </a:r>
          </a:p>
          <a:p>
            <a:r>
              <a:rPr lang="en-US" sz="1200" dirty="0"/>
              <a:t>- Status dropdown: Approved, Validated, Flagged, Submitted, Draft</a:t>
            </a:r>
          </a:p>
          <a:p>
            <a:r>
              <a:rPr lang="en-US" sz="1200" dirty="0"/>
              <a:t>- Year dropdown: Populated from distinct years in data</a:t>
            </a:r>
          </a:p>
          <a:p>
            <a:r>
              <a:rPr lang="en-US" sz="1200" dirty="0"/>
              <a:t>- Filters apply in combination (AND logic)</a:t>
            </a:r>
          </a:p>
          <a:p>
            <a:r>
              <a:rPr lang="en-US" sz="1200" dirty="0"/>
              <a:t>- Search: Searches Submission ID and Month fields</a:t>
            </a:r>
          </a:p>
          <a:p>
            <a:endParaRPr lang="en-US" sz="1200" dirty="0"/>
          </a:p>
          <a:p>
            <a:r>
              <a:rPr lang="en-US" sz="1200" dirty="0"/>
              <a:t>Status Display:</a:t>
            </a:r>
          </a:p>
          <a:p>
            <a:r>
              <a:rPr lang="en-US" sz="1200" dirty="0"/>
              <a:t>- Use colored badges for visual scanning</a:t>
            </a:r>
          </a:p>
          <a:p>
            <a:r>
              <a:rPr lang="en-US" sz="1200" dirty="0"/>
              <a:t>- Approved: Green</a:t>
            </a:r>
          </a:p>
          <a:p>
            <a:r>
              <a:rPr lang="en-US" sz="1200" dirty="0"/>
              <a:t>- Validated: Yellow</a:t>
            </a:r>
          </a:p>
          <a:p>
            <a:r>
              <a:rPr lang="en-US" sz="1200" dirty="0"/>
              <a:t>- Flagged: Orange/Red</a:t>
            </a:r>
          </a:p>
          <a:p>
            <a:r>
              <a:rPr lang="en-US" sz="1200" dirty="0"/>
              <a:t>- Submitted: Blue</a:t>
            </a:r>
          </a:p>
          <a:p>
            <a:r>
              <a:rPr lang="en-US" sz="1200" dirty="0"/>
              <a:t>- Draft: Gray</a:t>
            </a:r>
          </a:p>
          <a:p>
            <a:endParaRPr lang="en-US" sz="1200" dirty="0"/>
          </a:p>
          <a:p>
            <a:r>
              <a:rPr lang="en-US" sz="1200" dirty="0"/>
              <a:t>Action Buttons (Context-Sensitive):</a:t>
            </a:r>
          </a:p>
          <a:p>
            <a:r>
              <a:rPr lang="en-US" sz="1200" dirty="0"/>
              <a:t>1. [View]: Always available</a:t>
            </a:r>
          </a:p>
          <a:p>
            <a:r>
              <a:rPr lang="en-US" sz="1200" dirty="0"/>
              <a:t>   - Opens read-only detail view</a:t>
            </a:r>
          </a:p>
          <a:p>
            <a:r>
              <a:rPr lang="en-US" sz="1200" dirty="0"/>
              <a:t>   - Shows same info as confirmation screen</a:t>
            </a:r>
          </a:p>
          <a:p>
            <a:r>
              <a:rPr lang="en-US" sz="1200" dirty="0"/>
              <a:t>   </a:t>
            </a:r>
          </a:p>
          <a:p>
            <a:r>
              <a:rPr lang="en-US" sz="1200" dirty="0"/>
              <a:t>2. [Download]: Available for Approved/Validated</a:t>
            </a:r>
          </a:p>
          <a:p>
            <a:r>
              <a:rPr lang="en-US" sz="1200" dirty="0"/>
              <a:t>   - Downloads PDF receipt</a:t>
            </a:r>
          </a:p>
          <a:p>
            <a:r>
              <a:rPr lang="en-US" sz="1200" dirty="0"/>
              <a:t>   - Same PDF as confirmation screen</a:t>
            </a:r>
          </a:p>
          <a:p>
            <a:r>
              <a:rPr lang="en-US" sz="1200" dirty="0"/>
              <a:t>3. [Resolve]: Available for Flagged only</a:t>
            </a:r>
          </a:p>
          <a:p>
            <a:r>
              <a:rPr lang="en-US" sz="1200" dirty="0"/>
              <a:t>   - Shows flag details</a:t>
            </a:r>
          </a:p>
          <a:p>
            <a:r>
              <a:rPr lang="en-US" sz="1200" dirty="0"/>
              <a:t>   - Allows coordinator to add response/clarification</a:t>
            </a:r>
          </a:p>
          <a:p>
            <a:r>
              <a:rPr lang="en-US" sz="1200" dirty="0"/>
              <a:t>   - Sends notification to analyst</a:t>
            </a:r>
          </a:p>
          <a:p>
            <a:endParaRPr lang="en-US" sz="1200" dirty="0"/>
          </a:p>
          <a:p>
            <a:r>
              <a:rPr lang="en-US" sz="1200" dirty="0"/>
              <a:t>Row Click Behavior:</a:t>
            </a:r>
          </a:p>
          <a:p>
            <a:r>
              <a:rPr lang="en-US" sz="1200" dirty="0"/>
              <a:t>- Click anywhere on row (except buttons) → View details</a:t>
            </a:r>
          </a:p>
          <a:p>
            <a:r>
              <a:rPr lang="en-US" sz="1200" dirty="0"/>
              <a:t>- Hover effect to show it's clickable</a:t>
            </a:r>
          </a:p>
          <a:p>
            <a:endParaRPr lang="en-US" sz="1200" dirty="0"/>
          </a:p>
          <a:p>
            <a:r>
              <a:rPr lang="en-US" sz="1200" dirty="0"/>
              <a:t>Pagination:</a:t>
            </a:r>
          </a:p>
          <a:p>
            <a:r>
              <a:rPr lang="en-US" sz="1200" dirty="0"/>
              <a:t>- Show 5-10 rows per page</a:t>
            </a:r>
          </a:p>
          <a:p>
            <a:r>
              <a:rPr lang="en-US" sz="1200" dirty="0"/>
              <a:t>- Calculate total pages</a:t>
            </a:r>
          </a:p>
          <a:p>
            <a:r>
              <a:rPr lang="en-US" sz="1200" dirty="0"/>
              <a:t>- Enable Previous/Next buttons based on current page</a:t>
            </a:r>
          </a:p>
          <a:p>
            <a:r>
              <a:rPr lang="en-US" sz="1200" dirty="0"/>
              <a:t>- Option: "Show All" for power users</a:t>
            </a:r>
          </a:p>
          <a:p>
            <a:endParaRPr lang="en-US" sz="1200" dirty="0"/>
          </a:p>
          <a:p>
            <a:r>
              <a:rPr lang="en-US" sz="1200" dirty="0"/>
              <a:t>Empty State:</a:t>
            </a:r>
          </a:p>
          <a:p>
            <a:r>
              <a:rPr lang="en-US" sz="1200" dirty="0"/>
              <a:t>- Shown when Filter() returns no results</a:t>
            </a:r>
          </a:p>
          <a:p>
            <a:r>
              <a:rPr lang="en-US" sz="1200" dirty="0"/>
              <a:t>- Friendly message encouraging first submission</a:t>
            </a:r>
          </a:p>
          <a:p>
            <a:r>
              <a:rPr lang="en-US" sz="1200" dirty="0"/>
              <a:t>- Clear call-to-action button</a:t>
            </a:r>
          </a:p>
          <a:p>
            <a:endParaRPr lang="en-US" sz="1200" dirty="0"/>
          </a:p>
          <a:p>
            <a:r>
              <a:rPr lang="en-US" sz="1200" dirty="0"/>
              <a:t>Export to Excel:</a:t>
            </a:r>
          </a:p>
          <a:p>
            <a:r>
              <a:rPr lang="en-US" sz="1200" dirty="0"/>
              <a:t>- Exports currently filtered/visible data</a:t>
            </a:r>
          </a:p>
          <a:p>
            <a:r>
              <a:rPr lang="en-US" sz="1200" dirty="0"/>
              <a:t>- Includes: ID, Month, Submitted Date, Status</a:t>
            </a:r>
          </a:p>
          <a:p>
            <a:r>
              <a:rPr lang="en-US" sz="1200" dirty="0"/>
              <a:t>- Filename: "</a:t>
            </a:r>
            <a:r>
              <a:rPr lang="en-US" sz="1200" dirty="0" err="1"/>
              <a:t>SubmissionHistory</a:t>
            </a:r>
            <a:r>
              <a:rPr lang="en-US" sz="1200" dirty="0"/>
              <a:t>_[</a:t>
            </a:r>
            <a:r>
              <a:rPr lang="en-US" sz="1200" dirty="0" err="1"/>
              <a:t>CountryCode</a:t>
            </a:r>
            <a:r>
              <a:rPr lang="en-US" sz="1200" dirty="0"/>
              <a:t>]_[Date].xlsx"</a:t>
            </a:r>
          </a:p>
          <a:p>
            <a:r>
              <a:rPr lang="en-US" sz="1200" dirty="0"/>
              <a:t>- Opens save dialog or auto-downloads</a:t>
            </a:r>
          </a:p>
          <a:p>
            <a:endParaRPr lang="en-US" sz="1200" dirty="0"/>
          </a:p>
          <a:p>
            <a:r>
              <a:rPr lang="en-US" sz="1200" dirty="0"/>
              <a:t>Submit New Volumes Button:</a:t>
            </a:r>
          </a:p>
          <a:p>
            <a:r>
              <a:rPr lang="en-US" sz="1200" dirty="0"/>
              <a:t>- Navigates to Screen 2 (Submission Form)</a:t>
            </a:r>
          </a:p>
          <a:p>
            <a:r>
              <a:rPr lang="en-US" sz="1200" dirty="0"/>
              <a:t>- Pre-selects current month if not already submitted</a:t>
            </a:r>
          </a:p>
          <a:p>
            <a:r>
              <a:rPr lang="en-US" sz="1200" dirty="0"/>
              <a:t>- Most common action from history screen</a:t>
            </a:r>
          </a:p>
          <a:p>
            <a:endParaRPr lang="en-US" sz="1200" dirty="0"/>
          </a:p>
          <a:p>
            <a:r>
              <a:rPr lang="en-US" sz="1200" dirty="0"/>
              <a:t>Performance Considerations:</a:t>
            </a:r>
          </a:p>
          <a:p>
            <a:r>
              <a:rPr lang="en-US" sz="1200" dirty="0"/>
              <a:t>- For users with 100+ submissions:</a:t>
            </a:r>
          </a:p>
          <a:p>
            <a:r>
              <a:rPr lang="en-US" sz="1200" dirty="0"/>
              <a:t>  - Default to last 12 months</a:t>
            </a:r>
          </a:p>
          <a:p>
            <a:r>
              <a:rPr lang="en-US" sz="1200" dirty="0"/>
              <a:t>  - Pagination is critical</a:t>
            </a:r>
          </a:p>
          <a:p>
            <a:r>
              <a:rPr lang="en-US" sz="1200" dirty="0"/>
              <a:t>  - Consider delegable queries</a:t>
            </a:r>
          </a:p>
          <a:p>
            <a:r>
              <a:rPr lang="en-US" sz="1200" dirty="0"/>
              <a:t>  - Load additional data on demand</a:t>
            </a:r>
          </a:p>
          <a:p>
            <a:endParaRPr lang="en-US" sz="1200" dirty="0"/>
          </a:p>
          <a:p>
            <a:r>
              <a:rPr lang="en-US" sz="1200" dirty="0"/>
              <a:t>Power Apps Implementation:</a:t>
            </a:r>
          </a:p>
          <a:p>
            <a:r>
              <a:rPr lang="en-US" sz="1200" dirty="0"/>
              <a:t>- Gallery control with Items = Filter(</a:t>
            </a:r>
            <a:r>
              <a:rPr lang="en-US" sz="1200" dirty="0" err="1"/>
              <a:t>tbl_VolumeSubmissions</a:t>
            </a:r>
            <a:r>
              <a:rPr lang="en-US" sz="1200" dirty="0"/>
              <a:t>...)</a:t>
            </a:r>
          </a:p>
          <a:p>
            <a:r>
              <a:rPr lang="en-US" sz="1200" dirty="0"/>
              <a:t>- Sort(Filter(...), </a:t>
            </a:r>
            <a:r>
              <a:rPr lang="en-US" sz="1200" dirty="0" err="1"/>
              <a:t>SubmittedDate</a:t>
            </a:r>
            <a:r>
              <a:rPr lang="en-US" sz="1200" dirty="0"/>
              <a:t>, Descending)</a:t>
            </a:r>
          </a:p>
          <a:p>
            <a:r>
              <a:rPr lang="en-US" sz="1200" dirty="0"/>
              <a:t>- Use delegation-friendly operators</a:t>
            </a:r>
          </a:p>
          <a:p>
            <a:r>
              <a:rPr lang="en-US" sz="1200" dirty="0"/>
              <a:t>- Cache filtered results in collection if needed</a:t>
            </a:r>
          </a:p>
          <a:p>
            <a:r>
              <a:rPr lang="en-US" sz="1200" dirty="0"/>
              <a:t>- Combo boxes for filter dropdowns</a:t>
            </a:r>
          </a:p>
          <a:p>
            <a:endParaRPr lang="en-US" sz="1200" dirty="0"/>
          </a:p>
          <a:p>
            <a:r>
              <a:rPr lang="en-US" sz="1200" dirty="0"/>
              <a:t>Navigation:</a:t>
            </a:r>
          </a:p>
          <a:p>
            <a:r>
              <a:rPr lang="en-US" sz="1200" dirty="0"/>
              <a:t>- View button: Navigate(</a:t>
            </a:r>
            <a:r>
              <a:rPr lang="en-US" sz="1200" dirty="0" err="1"/>
              <a:t>DetailScreen</a:t>
            </a:r>
            <a:r>
              <a:rPr lang="en-US" sz="1200" dirty="0"/>
              <a:t>, </a:t>
            </a:r>
            <a:r>
              <a:rPr lang="en-US" sz="1200" dirty="0" err="1"/>
              <a:t>ScreenTransition.None</a:t>
            </a:r>
            <a:r>
              <a:rPr lang="en-US" sz="1200" dirty="0"/>
              <a:t>, {</a:t>
            </a:r>
            <a:r>
              <a:rPr lang="en-US" sz="1200" dirty="0" err="1"/>
              <a:t>SelectedSubmission</a:t>
            </a:r>
            <a:r>
              <a:rPr lang="en-US" sz="1200" dirty="0"/>
              <a:t>: </a:t>
            </a:r>
            <a:r>
              <a:rPr lang="en-US" sz="1200" dirty="0" err="1"/>
              <a:t>ThisItem</a:t>
            </a:r>
            <a:r>
              <a:rPr lang="en-US" sz="1200" dirty="0"/>
              <a:t>})</a:t>
            </a:r>
          </a:p>
          <a:p>
            <a:r>
              <a:rPr lang="en-US" sz="1200" dirty="0"/>
              <a:t>- Submit New: Navigate(</a:t>
            </a:r>
            <a:r>
              <a:rPr lang="en-US" sz="1200" dirty="0" err="1"/>
              <a:t>SubmissionFormScreen</a:t>
            </a:r>
            <a:r>
              <a:rPr lang="en-US" sz="1200" dirty="0"/>
              <a:t>)</a:t>
            </a:r>
          </a:p>
          <a:p>
            <a:r>
              <a:rPr lang="en-US" sz="1200" dirty="0"/>
              <a:t>- Back: Navigate(</a:t>
            </a:r>
            <a:r>
              <a:rPr lang="en-US" sz="1200" dirty="0" err="1"/>
              <a:t>WelcomeScreen</a:t>
            </a:r>
            <a:r>
              <a:rPr lang="en-US" sz="1200" dirty="0"/>
              <a:t>)</a:t>
            </a:r>
          </a:p>
          <a:p>
            <a:endParaRPr lang="en-US" sz="1200" dirty="0"/>
          </a:p>
          <a:p>
            <a:r>
              <a:rPr lang="en-US" sz="1200" dirty="0"/>
              <a:t>Mobile Considerations:</a:t>
            </a:r>
          </a:p>
          <a:p>
            <a:r>
              <a:rPr lang="en-US" sz="1200" dirty="0"/>
              <a:t>- Table becomes vertical cards on narrow screens</a:t>
            </a:r>
          </a:p>
          <a:p>
            <a:r>
              <a:rPr lang="en-US" sz="1200" dirty="0"/>
              <a:t>- Fewer columns visible</a:t>
            </a:r>
          </a:p>
          <a:p>
            <a:r>
              <a:rPr lang="en-US" sz="1200" dirty="0"/>
              <a:t>- Swipe for actions instead of buttons</a:t>
            </a:r>
          </a:p>
          <a:p>
            <a:r>
              <a:rPr lang="en-US" sz="1200" dirty="0"/>
              <a:t>- Filter panel collapses to dropdown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0B2FAC-353B-FF38-D2E0-D7F21962A0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782EF-3126-49E3-9D22-B519B285522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7986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5BDFC-85B4-7DC4-0CB9-3514D2D96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E981FE-1C54-4CF6-EFB6-A8868DD69D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8543E3-4973-F02D-D3A7-26833E90F9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4480560"/>
          </a:xfrm>
        </p:spPr>
        <p:txBody>
          <a:bodyPr/>
          <a:lstStyle/>
          <a:p>
            <a:r>
              <a:rPr lang="en-US" sz="1200" dirty="0"/>
              <a:t>NOTES:</a:t>
            </a:r>
          </a:p>
          <a:p>
            <a:endParaRPr lang="en-US" sz="1200" dirty="0"/>
          </a:p>
          <a:p>
            <a:r>
              <a:rPr lang="en-US" sz="1200" dirty="0"/>
              <a:t>Data Source:</a:t>
            </a:r>
          </a:p>
          <a:p>
            <a:r>
              <a:rPr lang="en-US" sz="1200" dirty="0"/>
              <a:t>- </a:t>
            </a:r>
            <a:r>
              <a:rPr lang="en-US" sz="1200" dirty="0" err="1"/>
              <a:t>tbl_VolumeSubmissions</a:t>
            </a:r>
            <a:endParaRPr lang="en-US" sz="1200" dirty="0"/>
          </a:p>
          <a:p>
            <a:r>
              <a:rPr lang="en-US" sz="1200" dirty="0"/>
              <a:t>- Filter: </a:t>
            </a:r>
            <a:r>
              <a:rPr lang="en-US" sz="1200" dirty="0" err="1"/>
              <a:t>CountryID</a:t>
            </a:r>
            <a:r>
              <a:rPr lang="en-US" sz="1200" dirty="0"/>
              <a:t> = User's assigned country</a:t>
            </a:r>
          </a:p>
          <a:p>
            <a:r>
              <a:rPr lang="en-US" sz="1200" dirty="0"/>
              <a:t>- Order by: </a:t>
            </a:r>
            <a:r>
              <a:rPr lang="en-US" sz="1200" dirty="0" err="1"/>
              <a:t>SubmittedDate</a:t>
            </a:r>
            <a:r>
              <a:rPr lang="en-US" sz="1200" dirty="0"/>
              <a:t> DESC (most recent first)</a:t>
            </a:r>
          </a:p>
          <a:p>
            <a:r>
              <a:rPr lang="en-US" sz="1200" dirty="0"/>
              <a:t>- Include: All statuses except </a:t>
            </a:r>
            <a:r>
              <a:rPr lang="en-US" sz="1200" dirty="0" err="1"/>
              <a:t>IsDeleted</a:t>
            </a:r>
            <a:r>
              <a:rPr lang="en-US" sz="1200" dirty="0"/>
              <a:t> = Yes</a:t>
            </a:r>
          </a:p>
          <a:p>
            <a:endParaRPr lang="en-US" sz="1200" dirty="0"/>
          </a:p>
          <a:p>
            <a:r>
              <a:rPr lang="en-US" sz="1200" dirty="0"/>
              <a:t>Table Columns:</a:t>
            </a:r>
          </a:p>
          <a:p>
            <a:r>
              <a:rPr lang="en-US" sz="1200" dirty="0"/>
              <a:t>- Submission ID: Title field from </a:t>
            </a:r>
            <a:r>
              <a:rPr lang="en-US" sz="1200" dirty="0" err="1"/>
              <a:t>tbl_VolumeSubmissions</a:t>
            </a:r>
            <a:endParaRPr lang="en-US" sz="1200" dirty="0"/>
          </a:p>
          <a:p>
            <a:r>
              <a:rPr lang="en-US" sz="1200" dirty="0"/>
              <a:t>- Month: </a:t>
            </a:r>
            <a:r>
              <a:rPr lang="en-US" sz="1200" dirty="0" err="1"/>
              <a:t>SubmissionMonth</a:t>
            </a:r>
            <a:r>
              <a:rPr lang="en-US" sz="1200" dirty="0"/>
              <a:t> (displayed as "Month Year")</a:t>
            </a:r>
          </a:p>
          <a:p>
            <a:r>
              <a:rPr lang="en-US" sz="1200" dirty="0"/>
              <a:t>- Submitted: </a:t>
            </a:r>
            <a:r>
              <a:rPr lang="en-US" sz="1200" dirty="0" err="1"/>
              <a:t>SubmittedDate</a:t>
            </a:r>
            <a:r>
              <a:rPr lang="en-US" sz="1200" dirty="0"/>
              <a:t> (formatted as MM/DD/YY)</a:t>
            </a:r>
          </a:p>
          <a:p>
            <a:r>
              <a:rPr lang="en-US" sz="1200" dirty="0"/>
              <a:t>- Test Types: Count of distinct </a:t>
            </a:r>
            <a:r>
              <a:rPr lang="en-US" sz="1200" dirty="0" err="1"/>
              <a:t>TestTypeIDs</a:t>
            </a:r>
            <a:r>
              <a:rPr lang="en-US" sz="1200" dirty="0"/>
              <a:t> in submission</a:t>
            </a:r>
          </a:p>
          <a:p>
            <a:r>
              <a:rPr lang="en-US" sz="1200" dirty="0"/>
              <a:t>- Status: Current workflow status</a:t>
            </a:r>
          </a:p>
          <a:p>
            <a:r>
              <a:rPr lang="en-US" sz="1200" dirty="0"/>
              <a:t>- Actions: Dynamic buttons based on status</a:t>
            </a:r>
          </a:p>
          <a:p>
            <a:endParaRPr lang="en-US" sz="1200" dirty="0"/>
          </a:p>
          <a:p>
            <a:r>
              <a:rPr lang="en-US" sz="1200" dirty="0"/>
              <a:t>Filter Logic:</a:t>
            </a:r>
          </a:p>
          <a:p>
            <a:r>
              <a:rPr lang="en-US" sz="1200" dirty="0"/>
              <a:t>- Month dropdown: Populated from distinct </a:t>
            </a:r>
            <a:r>
              <a:rPr lang="en-US" sz="1200" dirty="0" err="1"/>
              <a:t>SubmissionMonth</a:t>
            </a:r>
            <a:r>
              <a:rPr lang="en-US" sz="1200" dirty="0"/>
              <a:t> values</a:t>
            </a:r>
          </a:p>
          <a:p>
            <a:r>
              <a:rPr lang="en-US" sz="1200" dirty="0"/>
              <a:t>- Status dropdown: Approved, Validated, Flagged, Submitted, Draft</a:t>
            </a:r>
          </a:p>
          <a:p>
            <a:r>
              <a:rPr lang="en-US" sz="1200" dirty="0"/>
              <a:t>- Year dropdown: Populated from distinct years in data</a:t>
            </a:r>
          </a:p>
          <a:p>
            <a:r>
              <a:rPr lang="en-US" sz="1200" dirty="0"/>
              <a:t>- Filters apply in combination (AND logic)</a:t>
            </a:r>
          </a:p>
          <a:p>
            <a:r>
              <a:rPr lang="en-US" sz="1200" dirty="0"/>
              <a:t>- Search: Searches Submission ID and Month fields</a:t>
            </a:r>
          </a:p>
          <a:p>
            <a:endParaRPr lang="en-US" sz="1200" dirty="0"/>
          </a:p>
          <a:p>
            <a:r>
              <a:rPr lang="en-US" sz="1200" dirty="0"/>
              <a:t>Status Display:</a:t>
            </a:r>
          </a:p>
          <a:p>
            <a:r>
              <a:rPr lang="en-US" sz="1200" dirty="0"/>
              <a:t>- Use colored badges for visual scanning</a:t>
            </a:r>
          </a:p>
          <a:p>
            <a:r>
              <a:rPr lang="en-US" sz="1200" dirty="0"/>
              <a:t>- Approved: Green</a:t>
            </a:r>
          </a:p>
          <a:p>
            <a:r>
              <a:rPr lang="en-US" sz="1200" dirty="0"/>
              <a:t>- Validated: Yellow</a:t>
            </a:r>
          </a:p>
          <a:p>
            <a:r>
              <a:rPr lang="en-US" sz="1200" dirty="0"/>
              <a:t>- Flagged: Orange/Red</a:t>
            </a:r>
          </a:p>
          <a:p>
            <a:r>
              <a:rPr lang="en-US" sz="1200" dirty="0"/>
              <a:t>- Submitted: Blue</a:t>
            </a:r>
          </a:p>
          <a:p>
            <a:r>
              <a:rPr lang="en-US" sz="1200" dirty="0"/>
              <a:t>- Draft: Gray</a:t>
            </a:r>
          </a:p>
          <a:p>
            <a:endParaRPr lang="en-US" sz="1200" dirty="0"/>
          </a:p>
          <a:p>
            <a:r>
              <a:rPr lang="en-US" sz="1200" dirty="0"/>
              <a:t>Action Buttons (Context-Sensitive):</a:t>
            </a:r>
          </a:p>
          <a:p>
            <a:r>
              <a:rPr lang="en-US" sz="1200" dirty="0"/>
              <a:t>1. [View]: Always available</a:t>
            </a:r>
          </a:p>
          <a:p>
            <a:r>
              <a:rPr lang="en-US" sz="1200" dirty="0"/>
              <a:t>   - Opens read-only detail view</a:t>
            </a:r>
          </a:p>
          <a:p>
            <a:r>
              <a:rPr lang="en-US" sz="1200" dirty="0"/>
              <a:t>   - Shows same info as confirmation screen</a:t>
            </a:r>
          </a:p>
          <a:p>
            <a:r>
              <a:rPr lang="en-US" sz="1200" dirty="0"/>
              <a:t>   </a:t>
            </a:r>
          </a:p>
          <a:p>
            <a:r>
              <a:rPr lang="en-US" sz="1200" dirty="0"/>
              <a:t>2. [Download]: Available for Approved/Validated</a:t>
            </a:r>
          </a:p>
          <a:p>
            <a:r>
              <a:rPr lang="en-US" sz="1200" dirty="0"/>
              <a:t>   - Downloads PDF receipt</a:t>
            </a:r>
          </a:p>
          <a:p>
            <a:r>
              <a:rPr lang="en-US" sz="1200" dirty="0"/>
              <a:t>   - Same PDF as confirmation screen</a:t>
            </a:r>
          </a:p>
          <a:p>
            <a:r>
              <a:rPr lang="en-US" sz="1200" dirty="0"/>
              <a:t>3. [Resolve]: Available for Flagged only</a:t>
            </a:r>
          </a:p>
          <a:p>
            <a:r>
              <a:rPr lang="en-US" sz="1200" dirty="0"/>
              <a:t>   - Shows flag details</a:t>
            </a:r>
          </a:p>
          <a:p>
            <a:r>
              <a:rPr lang="en-US" sz="1200" dirty="0"/>
              <a:t>   - Allows coordinator to add response/clarification</a:t>
            </a:r>
          </a:p>
          <a:p>
            <a:r>
              <a:rPr lang="en-US" sz="1200" dirty="0"/>
              <a:t>   - Sends notification to analyst</a:t>
            </a:r>
          </a:p>
          <a:p>
            <a:endParaRPr lang="en-US" sz="1200" dirty="0"/>
          </a:p>
          <a:p>
            <a:r>
              <a:rPr lang="en-US" sz="1200" dirty="0"/>
              <a:t>Row Click Behavior:</a:t>
            </a:r>
          </a:p>
          <a:p>
            <a:r>
              <a:rPr lang="en-US" sz="1200" dirty="0"/>
              <a:t>- Click anywhere on row (except buttons) → View details</a:t>
            </a:r>
          </a:p>
          <a:p>
            <a:r>
              <a:rPr lang="en-US" sz="1200" dirty="0"/>
              <a:t>- Hover effect to show it's clickable</a:t>
            </a:r>
          </a:p>
          <a:p>
            <a:endParaRPr lang="en-US" sz="1200" dirty="0"/>
          </a:p>
          <a:p>
            <a:r>
              <a:rPr lang="en-US" sz="1200" dirty="0"/>
              <a:t>Pagination:</a:t>
            </a:r>
          </a:p>
          <a:p>
            <a:r>
              <a:rPr lang="en-US" sz="1200" dirty="0"/>
              <a:t>- Show 5-10 rows per page</a:t>
            </a:r>
          </a:p>
          <a:p>
            <a:r>
              <a:rPr lang="en-US" sz="1200" dirty="0"/>
              <a:t>- Calculate total pages</a:t>
            </a:r>
          </a:p>
          <a:p>
            <a:r>
              <a:rPr lang="en-US" sz="1200" dirty="0"/>
              <a:t>- Enable Previous/Next buttons based on current page</a:t>
            </a:r>
          </a:p>
          <a:p>
            <a:r>
              <a:rPr lang="en-US" sz="1200" dirty="0"/>
              <a:t>- Option: "Show All" for power users</a:t>
            </a:r>
          </a:p>
          <a:p>
            <a:endParaRPr lang="en-US" sz="1200" dirty="0"/>
          </a:p>
          <a:p>
            <a:r>
              <a:rPr lang="en-US" sz="1200" dirty="0"/>
              <a:t>Empty State:</a:t>
            </a:r>
          </a:p>
          <a:p>
            <a:r>
              <a:rPr lang="en-US" sz="1200" dirty="0"/>
              <a:t>- Shown when Filter() returns no results</a:t>
            </a:r>
          </a:p>
          <a:p>
            <a:r>
              <a:rPr lang="en-US" sz="1200" dirty="0"/>
              <a:t>- Friendly message encouraging first submission</a:t>
            </a:r>
          </a:p>
          <a:p>
            <a:r>
              <a:rPr lang="en-US" sz="1200" dirty="0"/>
              <a:t>- Clear call-to-action button</a:t>
            </a:r>
          </a:p>
          <a:p>
            <a:endParaRPr lang="en-US" sz="1200" dirty="0"/>
          </a:p>
          <a:p>
            <a:r>
              <a:rPr lang="en-US" sz="1200" dirty="0"/>
              <a:t>Export to Excel:</a:t>
            </a:r>
          </a:p>
          <a:p>
            <a:r>
              <a:rPr lang="en-US" sz="1200" dirty="0"/>
              <a:t>- Exports currently filtered/visible data</a:t>
            </a:r>
          </a:p>
          <a:p>
            <a:r>
              <a:rPr lang="en-US" sz="1200" dirty="0"/>
              <a:t>- Includes: ID, Month, Submitted Date, Status</a:t>
            </a:r>
          </a:p>
          <a:p>
            <a:r>
              <a:rPr lang="en-US" sz="1200" dirty="0"/>
              <a:t>- Filename: "</a:t>
            </a:r>
            <a:r>
              <a:rPr lang="en-US" sz="1200" dirty="0" err="1"/>
              <a:t>SubmissionHistory</a:t>
            </a:r>
            <a:r>
              <a:rPr lang="en-US" sz="1200" dirty="0"/>
              <a:t>_[</a:t>
            </a:r>
            <a:r>
              <a:rPr lang="en-US" sz="1200" dirty="0" err="1"/>
              <a:t>CountryCode</a:t>
            </a:r>
            <a:r>
              <a:rPr lang="en-US" sz="1200" dirty="0"/>
              <a:t>]_[Date].xlsx"</a:t>
            </a:r>
          </a:p>
          <a:p>
            <a:r>
              <a:rPr lang="en-US" sz="1200" dirty="0"/>
              <a:t>- Opens save dialog or auto-downloads</a:t>
            </a:r>
          </a:p>
          <a:p>
            <a:endParaRPr lang="en-US" sz="1200" dirty="0"/>
          </a:p>
          <a:p>
            <a:r>
              <a:rPr lang="en-US" sz="1200" dirty="0"/>
              <a:t>Submit New Volumes Button:</a:t>
            </a:r>
          </a:p>
          <a:p>
            <a:r>
              <a:rPr lang="en-US" sz="1200" dirty="0"/>
              <a:t>- Navigates to Screen 2 (Submission Form)</a:t>
            </a:r>
          </a:p>
          <a:p>
            <a:r>
              <a:rPr lang="en-US" sz="1200" dirty="0"/>
              <a:t>- Pre-selects current month if not already submitted</a:t>
            </a:r>
          </a:p>
          <a:p>
            <a:r>
              <a:rPr lang="en-US" sz="1200" dirty="0"/>
              <a:t>- Most common action from history screen</a:t>
            </a:r>
          </a:p>
          <a:p>
            <a:endParaRPr lang="en-US" sz="1200" dirty="0"/>
          </a:p>
          <a:p>
            <a:r>
              <a:rPr lang="en-US" sz="1200" dirty="0"/>
              <a:t>Performance Considerations:</a:t>
            </a:r>
          </a:p>
          <a:p>
            <a:r>
              <a:rPr lang="en-US" sz="1200" dirty="0"/>
              <a:t>- For users with 100+ submissions:</a:t>
            </a:r>
          </a:p>
          <a:p>
            <a:r>
              <a:rPr lang="en-US" sz="1200" dirty="0"/>
              <a:t>  - Default to last 12 months</a:t>
            </a:r>
          </a:p>
          <a:p>
            <a:r>
              <a:rPr lang="en-US" sz="1200" dirty="0"/>
              <a:t>  - Pagination is critical</a:t>
            </a:r>
          </a:p>
          <a:p>
            <a:r>
              <a:rPr lang="en-US" sz="1200" dirty="0"/>
              <a:t>  - Consider delegable queries</a:t>
            </a:r>
          </a:p>
          <a:p>
            <a:r>
              <a:rPr lang="en-US" sz="1200" dirty="0"/>
              <a:t>  - Load additional data on demand</a:t>
            </a:r>
          </a:p>
          <a:p>
            <a:endParaRPr lang="en-US" sz="1200" dirty="0"/>
          </a:p>
          <a:p>
            <a:r>
              <a:rPr lang="en-US" sz="1200" dirty="0"/>
              <a:t>Power Apps Implementation:</a:t>
            </a:r>
          </a:p>
          <a:p>
            <a:r>
              <a:rPr lang="en-US" sz="1200" dirty="0"/>
              <a:t>- Gallery control with Items = Filter(</a:t>
            </a:r>
            <a:r>
              <a:rPr lang="en-US" sz="1200" dirty="0" err="1"/>
              <a:t>tbl_VolumeSubmissions</a:t>
            </a:r>
            <a:r>
              <a:rPr lang="en-US" sz="1200" dirty="0"/>
              <a:t>...)</a:t>
            </a:r>
          </a:p>
          <a:p>
            <a:r>
              <a:rPr lang="en-US" sz="1200" dirty="0"/>
              <a:t>- Sort(Filter(...), </a:t>
            </a:r>
            <a:r>
              <a:rPr lang="en-US" sz="1200" dirty="0" err="1"/>
              <a:t>SubmittedDate</a:t>
            </a:r>
            <a:r>
              <a:rPr lang="en-US" sz="1200" dirty="0"/>
              <a:t>, Descending)</a:t>
            </a:r>
          </a:p>
          <a:p>
            <a:r>
              <a:rPr lang="en-US" sz="1200" dirty="0"/>
              <a:t>- Use delegation-friendly operators</a:t>
            </a:r>
          </a:p>
          <a:p>
            <a:r>
              <a:rPr lang="en-US" sz="1200" dirty="0"/>
              <a:t>- Cache filtered results in collection if needed</a:t>
            </a:r>
          </a:p>
          <a:p>
            <a:r>
              <a:rPr lang="en-US" sz="1200" dirty="0"/>
              <a:t>- Combo boxes for filter dropdowns</a:t>
            </a:r>
          </a:p>
          <a:p>
            <a:endParaRPr lang="en-US" sz="1200" dirty="0"/>
          </a:p>
          <a:p>
            <a:r>
              <a:rPr lang="en-US" sz="1200" dirty="0"/>
              <a:t>Navigation:</a:t>
            </a:r>
          </a:p>
          <a:p>
            <a:r>
              <a:rPr lang="en-US" sz="1200" dirty="0"/>
              <a:t>- View button: Navigate(</a:t>
            </a:r>
            <a:r>
              <a:rPr lang="en-US" sz="1200" dirty="0" err="1"/>
              <a:t>DetailScreen</a:t>
            </a:r>
            <a:r>
              <a:rPr lang="en-US" sz="1200" dirty="0"/>
              <a:t>, </a:t>
            </a:r>
            <a:r>
              <a:rPr lang="en-US" sz="1200" dirty="0" err="1"/>
              <a:t>ScreenTransition.None</a:t>
            </a:r>
            <a:r>
              <a:rPr lang="en-US" sz="1200" dirty="0"/>
              <a:t>, {</a:t>
            </a:r>
            <a:r>
              <a:rPr lang="en-US" sz="1200" dirty="0" err="1"/>
              <a:t>SelectedSubmission</a:t>
            </a:r>
            <a:r>
              <a:rPr lang="en-US" sz="1200" dirty="0"/>
              <a:t>: </a:t>
            </a:r>
            <a:r>
              <a:rPr lang="en-US" sz="1200" dirty="0" err="1"/>
              <a:t>ThisItem</a:t>
            </a:r>
            <a:r>
              <a:rPr lang="en-US" sz="1200" dirty="0"/>
              <a:t>})</a:t>
            </a:r>
          </a:p>
          <a:p>
            <a:r>
              <a:rPr lang="en-US" sz="1200" dirty="0"/>
              <a:t>- Submit New: Navigate(</a:t>
            </a:r>
            <a:r>
              <a:rPr lang="en-US" sz="1200" dirty="0" err="1"/>
              <a:t>SubmissionFormScreen</a:t>
            </a:r>
            <a:r>
              <a:rPr lang="en-US" sz="1200" dirty="0"/>
              <a:t>)</a:t>
            </a:r>
          </a:p>
          <a:p>
            <a:r>
              <a:rPr lang="en-US" sz="1200" dirty="0"/>
              <a:t>- Back: Navigate(</a:t>
            </a:r>
            <a:r>
              <a:rPr lang="en-US" sz="1200" dirty="0" err="1"/>
              <a:t>WelcomeScreen</a:t>
            </a:r>
            <a:r>
              <a:rPr lang="en-US" sz="1200" dirty="0"/>
              <a:t>)</a:t>
            </a:r>
          </a:p>
          <a:p>
            <a:endParaRPr lang="en-US" sz="1200" dirty="0"/>
          </a:p>
          <a:p>
            <a:r>
              <a:rPr lang="en-US" sz="1200" dirty="0"/>
              <a:t>Mobile Considerations:</a:t>
            </a:r>
          </a:p>
          <a:p>
            <a:r>
              <a:rPr lang="en-US" sz="1200" dirty="0"/>
              <a:t>- Table becomes vertical cards on narrow screens</a:t>
            </a:r>
          </a:p>
          <a:p>
            <a:r>
              <a:rPr lang="en-US" sz="1200" dirty="0"/>
              <a:t>- Fewer columns visible</a:t>
            </a:r>
          </a:p>
          <a:p>
            <a:r>
              <a:rPr lang="en-US" sz="1200" dirty="0"/>
              <a:t>- Swipe for actions instead of buttons</a:t>
            </a:r>
          </a:p>
          <a:p>
            <a:r>
              <a:rPr lang="en-US" sz="1200" dirty="0"/>
              <a:t>- Filter panel collapses to dropdown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665D84-EEBC-4158-A6E1-5697D04AE0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782EF-3126-49E3-9D22-B519B285522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5380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B5ADD-F5D5-A43F-EA66-62FBFCC7E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EE4EB3-9825-265E-2B58-8F8120E170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7B8720-4DBA-5CBF-99C9-A596C7BE2B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4480560"/>
          </a:xfrm>
        </p:spPr>
        <p:txBody>
          <a:bodyPr/>
          <a:lstStyle/>
          <a:p>
            <a:r>
              <a:rPr lang="en-US" sz="1200" dirty="0"/>
              <a:t>NOTES:</a:t>
            </a:r>
          </a:p>
          <a:p>
            <a:endParaRPr lang="en-US" sz="1200" dirty="0"/>
          </a:p>
          <a:p>
            <a:r>
              <a:rPr lang="en-US" sz="1200" dirty="0"/>
              <a:t>Data Source:</a:t>
            </a:r>
          </a:p>
          <a:p>
            <a:r>
              <a:rPr lang="en-US" sz="1200" dirty="0"/>
              <a:t>- </a:t>
            </a:r>
            <a:r>
              <a:rPr lang="en-US" sz="1200" dirty="0" err="1"/>
              <a:t>tbl_VolumeSubmissions</a:t>
            </a:r>
            <a:endParaRPr lang="en-US" sz="1200" dirty="0"/>
          </a:p>
          <a:p>
            <a:r>
              <a:rPr lang="en-US" sz="1200" dirty="0"/>
              <a:t>- Filter: </a:t>
            </a:r>
            <a:r>
              <a:rPr lang="en-US" sz="1200" dirty="0" err="1"/>
              <a:t>CountryID</a:t>
            </a:r>
            <a:r>
              <a:rPr lang="en-US" sz="1200" dirty="0"/>
              <a:t> = User's assigned country</a:t>
            </a:r>
          </a:p>
          <a:p>
            <a:r>
              <a:rPr lang="en-US" sz="1200" dirty="0"/>
              <a:t>- Order by: </a:t>
            </a:r>
            <a:r>
              <a:rPr lang="en-US" sz="1200" dirty="0" err="1"/>
              <a:t>SubmittedDate</a:t>
            </a:r>
            <a:r>
              <a:rPr lang="en-US" sz="1200" dirty="0"/>
              <a:t> DESC (most recent first)</a:t>
            </a:r>
          </a:p>
          <a:p>
            <a:r>
              <a:rPr lang="en-US" sz="1200" dirty="0"/>
              <a:t>- Include: All statuses except </a:t>
            </a:r>
            <a:r>
              <a:rPr lang="en-US" sz="1200" dirty="0" err="1"/>
              <a:t>IsDeleted</a:t>
            </a:r>
            <a:r>
              <a:rPr lang="en-US" sz="1200" dirty="0"/>
              <a:t> = Yes</a:t>
            </a:r>
          </a:p>
          <a:p>
            <a:endParaRPr lang="en-US" sz="1200" dirty="0"/>
          </a:p>
          <a:p>
            <a:r>
              <a:rPr lang="en-US" sz="1200" dirty="0"/>
              <a:t>Table Columns:</a:t>
            </a:r>
          </a:p>
          <a:p>
            <a:r>
              <a:rPr lang="en-US" sz="1200" dirty="0"/>
              <a:t>- Submission ID: Title field from </a:t>
            </a:r>
            <a:r>
              <a:rPr lang="en-US" sz="1200" dirty="0" err="1"/>
              <a:t>tbl_VolumeSubmissions</a:t>
            </a:r>
            <a:endParaRPr lang="en-US" sz="1200" dirty="0"/>
          </a:p>
          <a:p>
            <a:r>
              <a:rPr lang="en-US" sz="1200" dirty="0"/>
              <a:t>- Month: </a:t>
            </a:r>
            <a:r>
              <a:rPr lang="en-US" sz="1200" dirty="0" err="1"/>
              <a:t>SubmissionMonth</a:t>
            </a:r>
            <a:r>
              <a:rPr lang="en-US" sz="1200" dirty="0"/>
              <a:t> (displayed as "Month Year")</a:t>
            </a:r>
          </a:p>
          <a:p>
            <a:r>
              <a:rPr lang="en-US" sz="1200" dirty="0"/>
              <a:t>- Submitted: </a:t>
            </a:r>
            <a:r>
              <a:rPr lang="en-US" sz="1200" dirty="0" err="1"/>
              <a:t>SubmittedDate</a:t>
            </a:r>
            <a:r>
              <a:rPr lang="en-US" sz="1200" dirty="0"/>
              <a:t> (formatted as MM/DD/YY)</a:t>
            </a:r>
          </a:p>
          <a:p>
            <a:r>
              <a:rPr lang="en-US" sz="1200" dirty="0"/>
              <a:t>- Test Types: Count of distinct </a:t>
            </a:r>
            <a:r>
              <a:rPr lang="en-US" sz="1200" dirty="0" err="1"/>
              <a:t>TestTypeIDs</a:t>
            </a:r>
            <a:r>
              <a:rPr lang="en-US" sz="1200" dirty="0"/>
              <a:t> in submission</a:t>
            </a:r>
          </a:p>
          <a:p>
            <a:r>
              <a:rPr lang="en-US" sz="1200" dirty="0"/>
              <a:t>- Status: Current workflow status</a:t>
            </a:r>
          </a:p>
          <a:p>
            <a:r>
              <a:rPr lang="en-US" sz="1200" dirty="0"/>
              <a:t>- Actions: Dynamic buttons based on status</a:t>
            </a:r>
          </a:p>
          <a:p>
            <a:endParaRPr lang="en-US" sz="1200" dirty="0"/>
          </a:p>
          <a:p>
            <a:r>
              <a:rPr lang="en-US" sz="1200" dirty="0"/>
              <a:t>Filter Logic:</a:t>
            </a:r>
          </a:p>
          <a:p>
            <a:r>
              <a:rPr lang="en-US" sz="1200" dirty="0"/>
              <a:t>- Month dropdown: Populated from distinct </a:t>
            </a:r>
            <a:r>
              <a:rPr lang="en-US" sz="1200" dirty="0" err="1"/>
              <a:t>SubmissionMonth</a:t>
            </a:r>
            <a:r>
              <a:rPr lang="en-US" sz="1200" dirty="0"/>
              <a:t> values</a:t>
            </a:r>
          </a:p>
          <a:p>
            <a:r>
              <a:rPr lang="en-US" sz="1200" dirty="0"/>
              <a:t>- Status dropdown: Approved, Validated, Flagged, Submitted, Draft</a:t>
            </a:r>
          </a:p>
          <a:p>
            <a:r>
              <a:rPr lang="en-US" sz="1200" dirty="0"/>
              <a:t>- Year dropdown: Populated from distinct years in data</a:t>
            </a:r>
          </a:p>
          <a:p>
            <a:r>
              <a:rPr lang="en-US" sz="1200" dirty="0"/>
              <a:t>- Filters apply in combination (AND logic)</a:t>
            </a:r>
          </a:p>
          <a:p>
            <a:r>
              <a:rPr lang="en-US" sz="1200" dirty="0"/>
              <a:t>- Search: Searches Submission ID and Month fields</a:t>
            </a:r>
          </a:p>
          <a:p>
            <a:endParaRPr lang="en-US" sz="1200" dirty="0"/>
          </a:p>
          <a:p>
            <a:r>
              <a:rPr lang="en-US" sz="1200" dirty="0"/>
              <a:t>Status Display:</a:t>
            </a:r>
          </a:p>
          <a:p>
            <a:r>
              <a:rPr lang="en-US" sz="1200" dirty="0"/>
              <a:t>- Use colored badges for visual scanning</a:t>
            </a:r>
          </a:p>
          <a:p>
            <a:r>
              <a:rPr lang="en-US" sz="1200" dirty="0"/>
              <a:t>- Approved: Green</a:t>
            </a:r>
          </a:p>
          <a:p>
            <a:r>
              <a:rPr lang="en-US" sz="1200" dirty="0"/>
              <a:t>- Validated: Yellow</a:t>
            </a:r>
          </a:p>
          <a:p>
            <a:r>
              <a:rPr lang="en-US" sz="1200" dirty="0"/>
              <a:t>- Flagged: Orange/Red</a:t>
            </a:r>
          </a:p>
          <a:p>
            <a:r>
              <a:rPr lang="en-US" sz="1200" dirty="0"/>
              <a:t>- Submitted: Blue</a:t>
            </a:r>
          </a:p>
          <a:p>
            <a:r>
              <a:rPr lang="en-US" sz="1200" dirty="0"/>
              <a:t>- Draft: Gray</a:t>
            </a:r>
          </a:p>
          <a:p>
            <a:endParaRPr lang="en-US" sz="1200" dirty="0"/>
          </a:p>
          <a:p>
            <a:r>
              <a:rPr lang="en-US" sz="1200" dirty="0"/>
              <a:t>Action Buttons (Context-Sensitive):</a:t>
            </a:r>
          </a:p>
          <a:p>
            <a:r>
              <a:rPr lang="en-US" sz="1200" dirty="0"/>
              <a:t>1. [View]: Always available</a:t>
            </a:r>
          </a:p>
          <a:p>
            <a:r>
              <a:rPr lang="en-US" sz="1200" dirty="0"/>
              <a:t>   - Opens read-only detail view</a:t>
            </a:r>
          </a:p>
          <a:p>
            <a:r>
              <a:rPr lang="en-US" sz="1200" dirty="0"/>
              <a:t>   - Shows same info as confirmation screen</a:t>
            </a:r>
          </a:p>
          <a:p>
            <a:r>
              <a:rPr lang="en-US" sz="1200" dirty="0"/>
              <a:t>   </a:t>
            </a:r>
          </a:p>
          <a:p>
            <a:r>
              <a:rPr lang="en-US" sz="1200" dirty="0"/>
              <a:t>2. [Download]: Available for Approved/Validated</a:t>
            </a:r>
          </a:p>
          <a:p>
            <a:r>
              <a:rPr lang="en-US" sz="1200" dirty="0"/>
              <a:t>   - Downloads PDF receipt</a:t>
            </a:r>
          </a:p>
          <a:p>
            <a:r>
              <a:rPr lang="en-US" sz="1200" dirty="0"/>
              <a:t>   - Same PDF as confirmation screen</a:t>
            </a:r>
          </a:p>
          <a:p>
            <a:r>
              <a:rPr lang="en-US" sz="1200" dirty="0"/>
              <a:t>3. [Resolve]: Available for Flagged only</a:t>
            </a:r>
          </a:p>
          <a:p>
            <a:r>
              <a:rPr lang="en-US" sz="1200" dirty="0"/>
              <a:t>   - Shows flag details</a:t>
            </a:r>
          </a:p>
          <a:p>
            <a:r>
              <a:rPr lang="en-US" sz="1200" dirty="0"/>
              <a:t>   - Allows coordinator to add response/clarification</a:t>
            </a:r>
          </a:p>
          <a:p>
            <a:r>
              <a:rPr lang="en-US" sz="1200" dirty="0"/>
              <a:t>   - Sends notification to analyst</a:t>
            </a:r>
          </a:p>
          <a:p>
            <a:endParaRPr lang="en-US" sz="1200" dirty="0"/>
          </a:p>
          <a:p>
            <a:r>
              <a:rPr lang="en-US" sz="1200" dirty="0"/>
              <a:t>Row Click Behavior:</a:t>
            </a:r>
          </a:p>
          <a:p>
            <a:r>
              <a:rPr lang="en-US" sz="1200" dirty="0"/>
              <a:t>- Click anywhere on row (except buttons) → View details</a:t>
            </a:r>
          </a:p>
          <a:p>
            <a:r>
              <a:rPr lang="en-US" sz="1200" dirty="0"/>
              <a:t>- Hover effect to show it's clickable</a:t>
            </a:r>
          </a:p>
          <a:p>
            <a:endParaRPr lang="en-US" sz="1200" dirty="0"/>
          </a:p>
          <a:p>
            <a:r>
              <a:rPr lang="en-US" sz="1200" dirty="0"/>
              <a:t>Pagination:</a:t>
            </a:r>
          </a:p>
          <a:p>
            <a:r>
              <a:rPr lang="en-US" sz="1200" dirty="0"/>
              <a:t>- Show 5-10 rows per page</a:t>
            </a:r>
          </a:p>
          <a:p>
            <a:r>
              <a:rPr lang="en-US" sz="1200" dirty="0"/>
              <a:t>- Calculate total pages</a:t>
            </a:r>
          </a:p>
          <a:p>
            <a:r>
              <a:rPr lang="en-US" sz="1200" dirty="0"/>
              <a:t>- Enable Previous/Next buttons based on current page</a:t>
            </a:r>
          </a:p>
          <a:p>
            <a:r>
              <a:rPr lang="en-US" sz="1200" dirty="0"/>
              <a:t>- Option: "Show All" for power users</a:t>
            </a:r>
          </a:p>
          <a:p>
            <a:endParaRPr lang="en-US" sz="1200" dirty="0"/>
          </a:p>
          <a:p>
            <a:r>
              <a:rPr lang="en-US" sz="1200" dirty="0"/>
              <a:t>Empty State:</a:t>
            </a:r>
          </a:p>
          <a:p>
            <a:r>
              <a:rPr lang="en-US" sz="1200" dirty="0"/>
              <a:t>- Shown when Filter() returns no results</a:t>
            </a:r>
          </a:p>
          <a:p>
            <a:r>
              <a:rPr lang="en-US" sz="1200" dirty="0"/>
              <a:t>- Friendly message encouraging first submission</a:t>
            </a:r>
          </a:p>
          <a:p>
            <a:r>
              <a:rPr lang="en-US" sz="1200" dirty="0"/>
              <a:t>- Clear call-to-action button</a:t>
            </a:r>
          </a:p>
          <a:p>
            <a:endParaRPr lang="en-US" sz="1200" dirty="0"/>
          </a:p>
          <a:p>
            <a:r>
              <a:rPr lang="en-US" sz="1200" dirty="0"/>
              <a:t>Export to Excel:</a:t>
            </a:r>
          </a:p>
          <a:p>
            <a:r>
              <a:rPr lang="en-US" sz="1200" dirty="0"/>
              <a:t>- Exports currently filtered/visible data</a:t>
            </a:r>
          </a:p>
          <a:p>
            <a:r>
              <a:rPr lang="en-US" sz="1200" dirty="0"/>
              <a:t>- Includes: ID, Month, Submitted Date, Status</a:t>
            </a:r>
          </a:p>
          <a:p>
            <a:r>
              <a:rPr lang="en-US" sz="1200" dirty="0"/>
              <a:t>- Filename: "</a:t>
            </a:r>
            <a:r>
              <a:rPr lang="en-US" sz="1200" dirty="0" err="1"/>
              <a:t>SubmissionHistory</a:t>
            </a:r>
            <a:r>
              <a:rPr lang="en-US" sz="1200" dirty="0"/>
              <a:t>_[</a:t>
            </a:r>
            <a:r>
              <a:rPr lang="en-US" sz="1200" dirty="0" err="1"/>
              <a:t>CountryCode</a:t>
            </a:r>
            <a:r>
              <a:rPr lang="en-US" sz="1200" dirty="0"/>
              <a:t>]_[Date].xlsx"</a:t>
            </a:r>
          </a:p>
          <a:p>
            <a:r>
              <a:rPr lang="en-US" sz="1200" dirty="0"/>
              <a:t>- Opens save dialog or auto-downloads</a:t>
            </a:r>
          </a:p>
          <a:p>
            <a:endParaRPr lang="en-US" sz="1200" dirty="0"/>
          </a:p>
          <a:p>
            <a:r>
              <a:rPr lang="en-US" sz="1200" dirty="0"/>
              <a:t>Submit New Volumes Button:</a:t>
            </a:r>
          </a:p>
          <a:p>
            <a:r>
              <a:rPr lang="en-US" sz="1200" dirty="0"/>
              <a:t>- Navigates to Screen 2 (Submission Form)</a:t>
            </a:r>
          </a:p>
          <a:p>
            <a:r>
              <a:rPr lang="en-US" sz="1200" dirty="0"/>
              <a:t>- Pre-selects current month if not already submitted</a:t>
            </a:r>
          </a:p>
          <a:p>
            <a:r>
              <a:rPr lang="en-US" sz="1200" dirty="0"/>
              <a:t>- Most common action from history screen</a:t>
            </a:r>
          </a:p>
          <a:p>
            <a:endParaRPr lang="en-US" sz="1200" dirty="0"/>
          </a:p>
          <a:p>
            <a:r>
              <a:rPr lang="en-US" sz="1200" dirty="0"/>
              <a:t>Performance Considerations:</a:t>
            </a:r>
          </a:p>
          <a:p>
            <a:r>
              <a:rPr lang="en-US" sz="1200" dirty="0"/>
              <a:t>- For users with 100+ submissions:</a:t>
            </a:r>
          </a:p>
          <a:p>
            <a:r>
              <a:rPr lang="en-US" sz="1200" dirty="0"/>
              <a:t>  - Default to last 12 months</a:t>
            </a:r>
          </a:p>
          <a:p>
            <a:r>
              <a:rPr lang="en-US" sz="1200" dirty="0"/>
              <a:t>  - Pagination is critical</a:t>
            </a:r>
          </a:p>
          <a:p>
            <a:r>
              <a:rPr lang="en-US" sz="1200" dirty="0"/>
              <a:t>  - Consider delegable queries</a:t>
            </a:r>
          </a:p>
          <a:p>
            <a:r>
              <a:rPr lang="en-US" sz="1200" dirty="0"/>
              <a:t>  - Load additional data on demand</a:t>
            </a:r>
          </a:p>
          <a:p>
            <a:endParaRPr lang="en-US" sz="1200" dirty="0"/>
          </a:p>
          <a:p>
            <a:r>
              <a:rPr lang="en-US" sz="1200" dirty="0"/>
              <a:t>Power Apps Implementation:</a:t>
            </a:r>
          </a:p>
          <a:p>
            <a:r>
              <a:rPr lang="en-US" sz="1200" dirty="0"/>
              <a:t>- Gallery control with Items = Filter(</a:t>
            </a:r>
            <a:r>
              <a:rPr lang="en-US" sz="1200" dirty="0" err="1"/>
              <a:t>tbl_VolumeSubmissions</a:t>
            </a:r>
            <a:r>
              <a:rPr lang="en-US" sz="1200" dirty="0"/>
              <a:t>...)</a:t>
            </a:r>
          </a:p>
          <a:p>
            <a:r>
              <a:rPr lang="en-US" sz="1200" dirty="0"/>
              <a:t>- Sort(Filter(...), </a:t>
            </a:r>
            <a:r>
              <a:rPr lang="en-US" sz="1200" dirty="0" err="1"/>
              <a:t>SubmittedDate</a:t>
            </a:r>
            <a:r>
              <a:rPr lang="en-US" sz="1200" dirty="0"/>
              <a:t>, Descending)</a:t>
            </a:r>
          </a:p>
          <a:p>
            <a:r>
              <a:rPr lang="en-US" sz="1200" dirty="0"/>
              <a:t>- Use delegation-friendly operators</a:t>
            </a:r>
          </a:p>
          <a:p>
            <a:r>
              <a:rPr lang="en-US" sz="1200" dirty="0"/>
              <a:t>- Cache filtered results in collection if needed</a:t>
            </a:r>
          </a:p>
          <a:p>
            <a:r>
              <a:rPr lang="en-US" sz="1200" dirty="0"/>
              <a:t>- Combo boxes for filter dropdowns</a:t>
            </a:r>
          </a:p>
          <a:p>
            <a:endParaRPr lang="en-US" sz="1200" dirty="0"/>
          </a:p>
          <a:p>
            <a:r>
              <a:rPr lang="en-US" sz="1200" dirty="0"/>
              <a:t>Navigation:</a:t>
            </a:r>
          </a:p>
          <a:p>
            <a:r>
              <a:rPr lang="en-US" sz="1200" dirty="0"/>
              <a:t>- View button: Navigate(</a:t>
            </a:r>
            <a:r>
              <a:rPr lang="en-US" sz="1200" dirty="0" err="1"/>
              <a:t>DetailScreen</a:t>
            </a:r>
            <a:r>
              <a:rPr lang="en-US" sz="1200" dirty="0"/>
              <a:t>, </a:t>
            </a:r>
            <a:r>
              <a:rPr lang="en-US" sz="1200" dirty="0" err="1"/>
              <a:t>ScreenTransition.None</a:t>
            </a:r>
            <a:r>
              <a:rPr lang="en-US" sz="1200" dirty="0"/>
              <a:t>, {</a:t>
            </a:r>
            <a:r>
              <a:rPr lang="en-US" sz="1200" dirty="0" err="1"/>
              <a:t>SelectedSubmission</a:t>
            </a:r>
            <a:r>
              <a:rPr lang="en-US" sz="1200" dirty="0"/>
              <a:t>: </a:t>
            </a:r>
            <a:r>
              <a:rPr lang="en-US" sz="1200" dirty="0" err="1"/>
              <a:t>ThisItem</a:t>
            </a:r>
            <a:r>
              <a:rPr lang="en-US" sz="1200" dirty="0"/>
              <a:t>})</a:t>
            </a:r>
          </a:p>
          <a:p>
            <a:r>
              <a:rPr lang="en-US" sz="1200" dirty="0"/>
              <a:t>- Submit New: Navigate(</a:t>
            </a:r>
            <a:r>
              <a:rPr lang="en-US" sz="1200" dirty="0" err="1"/>
              <a:t>SubmissionFormScreen</a:t>
            </a:r>
            <a:r>
              <a:rPr lang="en-US" sz="1200" dirty="0"/>
              <a:t>)</a:t>
            </a:r>
          </a:p>
          <a:p>
            <a:r>
              <a:rPr lang="en-US" sz="1200" dirty="0"/>
              <a:t>- Back: Navigate(</a:t>
            </a:r>
            <a:r>
              <a:rPr lang="en-US" sz="1200" dirty="0" err="1"/>
              <a:t>WelcomeScreen</a:t>
            </a:r>
            <a:r>
              <a:rPr lang="en-US" sz="1200" dirty="0"/>
              <a:t>)</a:t>
            </a:r>
          </a:p>
          <a:p>
            <a:endParaRPr lang="en-US" sz="1200" dirty="0"/>
          </a:p>
          <a:p>
            <a:r>
              <a:rPr lang="en-US" sz="1200" dirty="0"/>
              <a:t>Mobile Considerations:</a:t>
            </a:r>
          </a:p>
          <a:p>
            <a:r>
              <a:rPr lang="en-US" sz="1200" dirty="0"/>
              <a:t>- Table becomes vertical cards on narrow screens</a:t>
            </a:r>
          </a:p>
          <a:p>
            <a:r>
              <a:rPr lang="en-US" sz="1200" dirty="0"/>
              <a:t>- Fewer columns visible</a:t>
            </a:r>
          </a:p>
          <a:p>
            <a:r>
              <a:rPr lang="en-US" sz="1200" dirty="0"/>
              <a:t>- Swipe for actions instead of buttons</a:t>
            </a:r>
          </a:p>
          <a:p>
            <a:r>
              <a:rPr lang="en-US" sz="1200" dirty="0"/>
              <a:t>- Filter panel collapses to dropdown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8F5DD7-DB01-F4AA-0787-9B813E3119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782EF-3126-49E3-9D22-B519B285522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9618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F7FD9-FF01-432E-7928-B670FC1A69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E44C14-81CB-9BB4-F9C1-66FA1E39D2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AA1C40-2A55-F067-5548-18AD56F63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540FD-1622-4619-B8A4-2E34D7A0DA80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8A989B-2BC6-3975-612A-A4E439AFC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8CCC6F-C207-4BBD-E58D-26DE7F4FF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23EE8-9A0E-4C69-91E5-C253E7338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9663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2ECDD-7686-F2D2-0B28-4B5CA3A6E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1A873E-4477-F7EB-4D0A-BF20E793C2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B38670-1A44-BA5B-CC10-8E7C93BEE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540FD-1622-4619-B8A4-2E34D7A0DA80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D6496E-B075-1C3C-4E75-CDC9C9042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523ACB-75F7-235B-127A-95E450A30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23EE8-9A0E-4C69-91E5-C253E7338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900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8F708-B578-CF5C-2773-9F3D270C8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3FC7B2-9427-6C19-286E-DA5711DC57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1F389B-F263-7BE8-CE36-E14BB7311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540FD-1622-4619-B8A4-2E34D7A0DA80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88CBDA-4DCC-83C6-84AD-553A76A18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8DF57-E89B-52B7-8241-2CE5CA41A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23EE8-9A0E-4C69-91E5-C253E7338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0257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719E1-7C37-AEC6-06BD-F47AC9849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C2481-72E8-3E16-BB69-A50FC678B6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A77EFD-96A7-DBE6-4746-49754D356A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EED2A2-2EEF-F6E2-E93C-E2591BC11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540FD-1622-4619-B8A4-2E34D7A0DA80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E102BA-9318-BA78-32D5-107ECD424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CFA490-88ED-722A-A007-73DABD828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23EE8-9A0E-4C69-91E5-C253E7338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3286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AE548-79D2-D08E-8742-0F07B0138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78288D-94DA-2175-A486-C083129C7D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7D8D95-255A-7448-22D4-43D2E3D183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D645F4-F8D9-4BFE-07DD-E7AEEB4851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25A3E4-5362-1192-B7D3-86D077A515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FB8514-2369-D907-5B99-FF1031A01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540FD-1622-4619-B8A4-2E34D7A0DA80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0E7A10-0E1C-5FFE-F5C8-F166623F9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B22624-8DBC-3E2E-3D93-39E82977C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23EE8-9A0E-4C69-91E5-C253E7338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0296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14EAD-E5D5-84AC-1C16-A49F82389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250883-D165-6C5A-3BE1-48C17CB1B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540FD-1622-4619-B8A4-2E34D7A0DA80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FB5907-5387-7BF8-7ACA-7BBAF0097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8517B2-72EC-15CA-44A7-0556D7D01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23EE8-9A0E-4C69-91E5-C253E7338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349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921DF5-4150-CDFB-B957-DE1F344CA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540FD-1622-4619-B8A4-2E34D7A0DA80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E2C4B0-E5E7-5049-93B5-AB4310095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02F40B-564D-A340-B3B5-48B429204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23EE8-9A0E-4C69-91E5-C253E7338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7103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2B058-C4EA-85EB-2F36-AEE873260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2A95C1-4EAF-E6DC-1D24-5EBE59480C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ABB48B-D80D-9878-072D-D5FF530F90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E53E0B-91A7-B99F-F670-4597AB45B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540FD-1622-4619-B8A4-2E34D7A0DA80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FB2AD3-6256-DB8D-C7ED-F4D2B4323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F51AA3-36B6-B36C-8E3E-F2E016A83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23EE8-9A0E-4C69-91E5-C253E7338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2414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175A3-84E2-8ADD-8179-8EC850E37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D46E46-DAA3-5137-EF7F-1F77DB6EE2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2523FF-92AE-65D9-F86A-93D65996DE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B8CCBF-6CCD-639D-C3B1-7B403510A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540FD-1622-4619-B8A4-2E34D7A0DA80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421D5F-0AAF-7C94-7889-13C209DE6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2BB664-4C0C-AF35-701C-819CEAAE5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23EE8-9A0E-4C69-91E5-C253E7338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544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92BFA-3A34-5D01-84AD-0FB636D95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C7FCDF-D4DE-3712-7AD1-305F4CB79E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2ECA96-32A6-76D8-82D2-C277F37C1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540FD-1622-4619-B8A4-2E34D7A0DA80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51BEC3-13A1-6EF5-F6ED-3CE498EBC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EB16BE-ACFE-3BEB-0921-B2DC07609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23EE8-9A0E-4C69-91E5-C253E7338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239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740263-B485-3679-E0B4-542394608C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83B7FA-D30E-E806-1A65-60A6932A6D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BC9D56-3253-DBD5-F4A3-CD37834B1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540FD-1622-4619-B8A4-2E34D7A0DA80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5B186E-1534-D374-1506-DAFD6F264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791857-41D5-854A-B2D7-3CA5E4006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23EE8-9A0E-4C69-91E5-C253E7338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239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0D8792-BC67-9092-D799-BBAEDBB5D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7D5C4E-104A-E7D6-7282-D49E93A881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2AD294-15DB-2A30-051B-6A593B6C5B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B540FD-1622-4619-B8A4-2E34D7A0DA80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7E815A-2AB8-B0B1-B2CC-3E3CF98BEC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0C00C4-F0F6-FB46-F2C8-5FEB1C250F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323EE8-9A0E-4C69-91E5-C253E7338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909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mailto:alice.katt.demo@outlook.com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CD438-6906-D9C9-0E77-9F81019FEE8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Quality Dashboard - Wireframes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BD00E6-CE73-442F-315F-EF02A928A6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Internal analyst tool for submission review and validation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40A70E-ED90-0B44-8B38-33E1DE598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John D Rolzhausen     November 24, 2025</a:t>
            </a:r>
          </a:p>
        </p:txBody>
      </p:sp>
    </p:spTree>
    <p:extLst>
      <p:ext uri="{BB962C8B-B14F-4D97-AF65-F5344CB8AC3E}">
        <p14:creationId xmlns:p14="http://schemas.microsoft.com/office/powerpoint/2010/main" val="5416310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C1AA4-3D78-1DAC-9F47-3A1A7C72A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3986A-48D7-FE60-326D-5761F00AA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420" y="88028"/>
            <a:ext cx="10515600" cy="554191"/>
          </a:xfrm>
        </p:spPr>
        <p:txBody>
          <a:bodyPr>
            <a:normAutofit/>
          </a:bodyPr>
          <a:lstStyle/>
          <a:p>
            <a:r>
              <a:rPr lang="en-US" sz="3200" dirty="0"/>
              <a:t>Screen 1: Submission Tracking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A2AD9E-B2F2-D73D-E047-C834F9D1EB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420" y="623925"/>
            <a:ext cx="10515600" cy="353901"/>
          </a:xfrm>
        </p:spPr>
        <p:txBody>
          <a:bodyPr>
            <a:normAutofit lnSpcReduction="10000"/>
          </a:bodyPr>
          <a:lstStyle/>
          <a:p>
            <a:r>
              <a:rPr lang="en-US" sz="2000" dirty="0"/>
              <a:t>Analyst's home dashboard - see all country submissions at a glance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E2CA347-2964-2DE0-E314-2B0838FBEF5D}"/>
              </a:ext>
            </a:extLst>
          </p:cNvPr>
          <p:cNvSpPr/>
          <p:nvPr/>
        </p:nvSpPr>
        <p:spPr>
          <a:xfrm>
            <a:off x="540773" y="977826"/>
            <a:ext cx="10653246" cy="564911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┌─────────────┐</a:t>
            </a:r>
          </a:p>
          <a:p>
            <a:pPr algn="ctr"/>
            <a:r>
              <a:rPr lang="en-US" dirty="0"/>
              <a:t>│   PENDING   │</a:t>
            </a:r>
          </a:p>
          <a:p>
            <a:pPr algn="ctr"/>
            <a:r>
              <a:rPr lang="en-US" dirty="0"/>
              <a:t>│      8      │</a:t>
            </a:r>
          </a:p>
          <a:p>
            <a:pPr algn="ctr"/>
            <a:r>
              <a:rPr lang="en-US" dirty="0"/>
              <a:t>│   Review    │</a:t>
            </a:r>
          </a:p>
          <a:p>
            <a:pPr algn="ctr"/>
            <a:r>
              <a:rPr lang="en-US" dirty="0"/>
              <a:t>└─────────────┘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76EADC-8101-1CDE-8FB3-51BAB8DC53DD}"/>
              </a:ext>
            </a:extLst>
          </p:cNvPr>
          <p:cNvSpPr txBox="1"/>
          <p:nvPr/>
        </p:nvSpPr>
        <p:spPr>
          <a:xfrm>
            <a:off x="510346" y="1222786"/>
            <a:ext cx="106836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Submission Tracking - November 2025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02A2791-E280-3DB8-2075-BE4D7802D69C}"/>
              </a:ext>
            </a:extLst>
          </p:cNvPr>
          <p:cNvSpPr/>
          <p:nvPr/>
        </p:nvSpPr>
        <p:spPr>
          <a:xfrm>
            <a:off x="550290" y="976276"/>
            <a:ext cx="10653246" cy="26161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🏢 </a:t>
            </a:r>
            <a:r>
              <a:rPr lang="en-US" dirty="0">
                <a:solidFill>
                  <a:schemeClr val="tx1"/>
                </a:solidFill>
              </a:rPr>
              <a:t>Data Quality Dashboard | Analyst: Alice Katt | [Settings]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10D0D80-A2FD-A14E-0804-3B74E748D9B5}"/>
              </a:ext>
            </a:extLst>
          </p:cNvPr>
          <p:cNvSpPr/>
          <p:nvPr/>
        </p:nvSpPr>
        <p:spPr>
          <a:xfrm>
            <a:off x="678420" y="1518578"/>
            <a:ext cx="914400" cy="914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Submitted</a:t>
            </a:r>
            <a:br>
              <a:rPr lang="en-US" sz="1200" dirty="0">
                <a:solidFill>
                  <a:schemeClr val="tx1"/>
                </a:solidFill>
              </a:rPr>
            </a:br>
            <a:r>
              <a:rPr lang="en-US" sz="1200" dirty="0">
                <a:solidFill>
                  <a:schemeClr val="tx1"/>
                </a:solidFill>
              </a:rPr>
              <a:t>12</a:t>
            </a:r>
            <a:br>
              <a:rPr lang="en-US" sz="1200" dirty="0">
                <a:solidFill>
                  <a:schemeClr val="tx1"/>
                </a:solidFill>
              </a:rPr>
            </a:br>
            <a:r>
              <a:rPr lang="en-US" sz="1200" dirty="0">
                <a:solidFill>
                  <a:schemeClr val="tx1"/>
                </a:solidFill>
              </a:rPr>
              <a:t>of 45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7049CE1-F33B-EF8B-78B7-2C2B06355BC2}"/>
              </a:ext>
            </a:extLst>
          </p:cNvPr>
          <p:cNvSpPr/>
          <p:nvPr/>
        </p:nvSpPr>
        <p:spPr>
          <a:xfrm>
            <a:off x="2175381" y="1530303"/>
            <a:ext cx="914400" cy="914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Pending</a:t>
            </a:r>
            <a:br>
              <a:rPr lang="en-US" sz="1200" dirty="0">
                <a:solidFill>
                  <a:schemeClr val="tx1"/>
                </a:solidFill>
              </a:rPr>
            </a:br>
            <a:r>
              <a:rPr lang="en-US" sz="1200" dirty="0">
                <a:solidFill>
                  <a:schemeClr val="tx1"/>
                </a:solidFill>
              </a:rPr>
              <a:t>8</a:t>
            </a:r>
            <a:br>
              <a:rPr lang="en-US" sz="1200" dirty="0">
                <a:solidFill>
                  <a:schemeClr val="tx1"/>
                </a:solidFill>
              </a:rPr>
            </a:br>
            <a:r>
              <a:rPr lang="en-US" sz="1200" dirty="0">
                <a:solidFill>
                  <a:schemeClr val="tx1"/>
                </a:solidFill>
              </a:rPr>
              <a:t>Review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8372508-5621-45F0-910C-7C7F3B4A7565}"/>
              </a:ext>
            </a:extLst>
          </p:cNvPr>
          <p:cNvSpPr/>
          <p:nvPr/>
        </p:nvSpPr>
        <p:spPr>
          <a:xfrm>
            <a:off x="3677252" y="1530303"/>
            <a:ext cx="914400" cy="914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Flagged</a:t>
            </a:r>
            <a:br>
              <a:rPr lang="en-US" sz="1200" dirty="0">
                <a:solidFill>
                  <a:schemeClr val="tx1"/>
                </a:solidFill>
              </a:rPr>
            </a:br>
            <a:r>
              <a:rPr lang="en-US" sz="1200" dirty="0">
                <a:solidFill>
                  <a:schemeClr val="tx1"/>
                </a:solidFill>
              </a:rPr>
              <a:t>3</a:t>
            </a:r>
            <a:br>
              <a:rPr lang="en-US" sz="1200" dirty="0">
                <a:solidFill>
                  <a:schemeClr val="tx1"/>
                </a:solidFill>
              </a:rPr>
            </a:br>
            <a:r>
              <a:rPr lang="en-US" sz="1200" dirty="0">
                <a:solidFill>
                  <a:schemeClr val="tx1"/>
                </a:solidFill>
              </a:rPr>
              <a:t>Issues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156B469-5964-F2D6-C637-450F685184A9}"/>
              </a:ext>
            </a:extLst>
          </p:cNvPr>
          <p:cNvSpPr/>
          <p:nvPr/>
        </p:nvSpPr>
        <p:spPr>
          <a:xfrm>
            <a:off x="5181600" y="1536428"/>
            <a:ext cx="914400" cy="914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Approved</a:t>
            </a:r>
            <a:br>
              <a:rPr lang="en-US" sz="1200" dirty="0">
                <a:solidFill>
                  <a:schemeClr val="tx1"/>
                </a:solidFill>
              </a:rPr>
            </a:br>
            <a:r>
              <a:rPr lang="en-US" sz="1200" dirty="0">
                <a:solidFill>
                  <a:schemeClr val="tx1"/>
                </a:solidFill>
              </a:rPr>
              <a:t>4</a:t>
            </a:r>
            <a:br>
              <a:rPr lang="en-US" sz="1200" dirty="0">
                <a:solidFill>
                  <a:schemeClr val="tx1"/>
                </a:solidFill>
              </a:rPr>
            </a:br>
            <a:r>
              <a:rPr lang="en-US" sz="1200" dirty="0">
                <a:solidFill>
                  <a:schemeClr val="tx1"/>
                </a:solidFill>
              </a:rPr>
              <a:t>Complete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D902014-8251-1F90-F829-62024CFD390A}"/>
              </a:ext>
            </a:extLst>
          </p:cNvPr>
          <p:cNvSpPr txBox="1"/>
          <p:nvPr/>
        </p:nvSpPr>
        <p:spPr>
          <a:xfrm>
            <a:off x="569942" y="2477287"/>
            <a:ext cx="102845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Deadline: December 3, 2025 (3rd business day)</a:t>
            </a:r>
          </a:p>
          <a:p>
            <a:r>
              <a:rPr lang="en-US" sz="1000" dirty="0"/>
              <a:t>Days remaining: 9 days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F404100-944B-BAC5-4B07-566CF78F3744}"/>
              </a:ext>
            </a:extLst>
          </p:cNvPr>
          <p:cNvSpPr/>
          <p:nvPr/>
        </p:nvSpPr>
        <p:spPr>
          <a:xfrm>
            <a:off x="569942" y="2889206"/>
            <a:ext cx="10373039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dirty="0">
                <a:ln w="0"/>
                <a:solidFill>
                  <a:schemeClr val="tx1"/>
                </a:solidFill>
              </a:rPr>
              <a:t>Filter by:  Region: [All ▼]  Status: [All ▼]  Test Type: [All ▼]  [🔍 Search]  [Reset]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4F1F7EE-EF51-0AA3-C8A0-E6DDED6B6D7A}"/>
              </a:ext>
            </a:extLst>
          </p:cNvPr>
          <p:cNvSpPr/>
          <p:nvPr/>
        </p:nvSpPr>
        <p:spPr>
          <a:xfrm>
            <a:off x="569943" y="3179647"/>
            <a:ext cx="5526058" cy="270052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dirty="0">
                <a:ln w="0"/>
                <a:solidFill>
                  <a:schemeClr val="tx1"/>
                </a:solidFill>
              </a:rPr>
              <a:t>+--------+------------------+---------+------------+---------+----------+---------------+</a:t>
            </a:r>
          </a:p>
          <a:p>
            <a:r>
              <a:rPr lang="en-US" sz="1200" dirty="0">
                <a:ln w="0"/>
                <a:solidFill>
                  <a:schemeClr val="tx1"/>
                </a:solidFill>
              </a:rPr>
              <a:t>| Status | Country          | Region  | Submitted  | Tests   | Flagged  | Actions       |</a:t>
            </a:r>
          </a:p>
          <a:p>
            <a:r>
              <a:rPr lang="en-US" sz="1200" dirty="0">
                <a:ln w="0"/>
                <a:solidFill>
                  <a:schemeClr val="tx1"/>
                </a:solidFill>
              </a:rPr>
              <a:t>+--------+------------------+---------+------------+---------+----------+---------------+</a:t>
            </a:r>
          </a:p>
          <a:p>
            <a:r>
              <a:rPr lang="en-US" sz="1200" dirty="0">
                <a:ln w="0"/>
                <a:solidFill>
                  <a:schemeClr val="tx1"/>
                </a:solidFill>
              </a:rPr>
              <a:t>| 🟢     | Republic of Korea| APAC    | 11/24 9:15 | 3/3     | 0        | [View][Edit]  |</a:t>
            </a:r>
          </a:p>
          <a:p>
            <a:r>
              <a:rPr lang="en-US" sz="1200" dirty="0">
                <a:ln w="0"/>
                <a:solidFill>
                  <a:schemeClr val="tx1"/>
                </a:solidFill>
              </a:rPr>
              <a:t>| 🟢     | Japan            | APAC    | 11/24 14:22| 3/3     | 0        | [View][Edit]  |</a:t>
            </a:r>
          </a:p>
          <a:p>
            <a:r>
              <a:rPr lang="en-US" sz="1200" dirty="0">
                <a:ln w="0"/>
                <a:solidFill>
                  <a:schemeClr val="tx1"/>
                </a:solidFill>
              </a:rPr>
              <a:t>| 🟠     | France           | WE      | 11/24 8:45 | 3/3     | 1        | [View][Review]|</a:t>
            </a:r>
          </a:p>
          <a:p>
            <a:r>
              <a:rPr lang="en-US" sz="1200" dirty="0">
                <a:ln w="0"/>
                <a:solidFill>
                  <a:schemeClr val="tx1"/>
                </a:solidFill>
              </a:rPr>
              <a:t>| 🔵     | United Kingdom   | WE      | Draft      | 2/3     | 0        | [View][Edit]  |</a:t>
            </a:r>
          </a:p>
          <a:p>
            <a:r>
              <a:rPr lang="en-US" sz="1200" dirty="0">
                <a:ln w="0"/>
                <a:solidFill>
                  <a:schemeClr val="tx1"/>
                </a:solidFill>
              </a:rPr>
              <a:t>| 🔴     | Brazil           | LATAM   | Not started| 0/5     | 0        | [Remind]      |</a:t>
            </a:r>
          </a:p>
          <a:p>
            <a:r>
              <a:rPr lang="en-US" sz="1200" dirty="0">
                <a:ln w="0"/>
                <a:solidFill>
                  <a:schemeClr val="tx1"/>
                </a:solidFill>
              </a:rPr>
              <a:t>| 🔵     | Germany          | WE      | 11/23 16:30| 4/4     | 0        | [View][Edit]  |</a:t>
            </a:r>
          </a:p>
          <a:p>
            <a:r>
              <a:rPr lang="en-US" sz="1200" dirty="0">
                <a:ln w="0"/>
                <a:solidFill>
                  <a:schemeClr val="tx1"/>
                </a:solidFill>
              </a:rPr>
              <a:t>+--------+------------------+---------+------------+---------+----------+---------------+</a:t>
            </a:r>
          </a:p>
          <a:p>
            <a:r>
              <a:rPr lang="en-US" sz="1200" dirty="0">
                <a:ln w="0"/>
                <a:solidFill>
                  <a:schemeClr val="tx1"/>
                </a:solidFill>
              </a:rPr>
              <a:t>... (showing 6 of 45 countries)</a:t>
            </a:r>
          </a:p>
          <a:p>
            <a:endParaRPr lang="en-US" sz="1100" dirty="0">
              <a:ln w="0"/>
              <a:solidFill>
                <a:schemeClr val="tx1"/>
              </a:solidFill>
            </a:endParaRPr>
          </a:p>
          <a:p>
            <a:r>
              <a:rPr lang="en-US" sz="1100" dirty="0">
                <a:ln w="0"/>
                <a:solidFill>
                  <a:schemeClr val="tx1"/>
                </a:solidFill>
              </a:rPr>
              <a:t>Showing 1-10 of 45 countries     [ ← Previous ]  Page 1 of 5  [ Next → ]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8279DF2-6E3D-1D58-5ADF-052FD9F10DBB}"/>
              </a:ext>
            </a:extLst>
          </p:cNvPr>
          <p:cNvSpPr txBox="1"/>
          <p:nvPr/>
        </p:nvSpPr>
        <p:spPr>
          <a:xfrm>
            <a:off x="6513871" y="2898086"/>
            <a:ext cx="401123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Status Legend:</a:t>
            </a:r>
          </a:p>
          <a:p>
            <a:r>
              <a:rPr lang="en-US" sz="1200" dirty="0"/>
              <a:t>🟢 Approved (4)</a:t>
            </a:r>
          </a:p>
          <a:p>
            <a:r>
              <a:rPr lang="en-US" sz="1200" dirty="0"/>
              <a:t>🟡 Validated (2)</a:t>
            </a:r>
          </a:p>
          <a:p>
            <a:r>
              <a:rPr lang="en-US" sz="1200" dirty="0"/>
              <a:t>🟠 Flagged - Needs Review (3)</a:t>
            </a:r>
          </a:p>
          <a:p>
            <a:r>
              <a:rPr lang="en-US" sz="1200" dirty="0"/>
              <a:t>🔵 Submitted - Awaiting Review (8)</a:t>
            </a:r>
          </a:p>
          <a:p>
            <a:r>
              <a:rPr lang="en-US" sz="1200" dirty="0"/>
              <a:t>⚪ Draft (15)</a:t>
            </a:r>
          </a:p>
          <a:p>
            <a:r>
              <a:rPr lang="en-US" sz="1200" dirty="0"/>
              <a:t>🔴 Not Started (13)</a:t>
            </a:r>
            <a:br>
              <a:rPr lang="en-US" sz="1200" dirty="0"/>
            </a:br>
            <a:br>
              <a:rPr lang="en-US" sz="1200" dirty="0"/>
            </a:br>
            <a:endParaRPr lang="en-US" sz="1200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275C7481-1C7E-4705-B95E-5E02F697ACDA}"/>
              </a:ext>
            </a:extLst>
          </p:cNvPr>
          <p:cNvSpPr/>
          <p:nvPr/>
        </p:nvSpPr>
        <p:spPr>
          <a:xfrm>
            <a:off x="710994" y="5816990"/>
            <a:ext cx="1317523" cy="26161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 Review Flagged Items (3) 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6EF029DC-3485-6CE3-A3B6-1AEF99B3416D}"/>
              </a:ext>
            </a:extLst>
          </p:cNvPr>
          <p:cNvSpPr/>
          <p:nvPr/>
        </p:nvSpPr>
        <p:spPr>
          <a:xfrm>
            <a:off x="2258347" y="5826791"/>
            <a:ext cx="1317523" cy="26161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[ Send Reminder Emails ] </a:t>
            </a:r>
            <a:endParaRPr lang="en-US" sz="800" dirty="0">
              <a:solidFill>
                <a:schemeClr val="tx1"/>
              </a:solidFill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E9BEC9F9-CB42-3400-E649-D08AB028A7DE}"/>
              </a:ext>
            </a:extLst>
          </p:cNvPr>
          <p:cNvSpPr/>
          <p:nvPr/>
        </p:nvSpPr>
        <p:spPr>
          <a:xfrm>
            <a:off x="3805700" y="5816990"/>
            <a:ext cx="1317523" cy="26161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/>
              <a:t>[ Export Report ]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432448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13453A-1618-BFAE-757C-C08260F36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3C44D-230C-B9FA-0CD2-7B5DE8C31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756" y="127485"/>
            <a:ext cx="10515600" cy="554191"/>
          </a:xfrm>
        </p:spPr>
        <p:txBody>
          <a:bodyPr>
            <a:normAutofit/>
          </a:bodyPr>
          <a:lstStyle/>
          <a:p>
            <a:r>
              <a:rPr lang="en-US" sz="3200" dirty="0"/>
              <a:t>Screen 1: Submission Tracking Overview - Technical Specs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A7538DD-9580-A6E8-B2B3-533A1151D60A}"/>
              </a:ext>
            </a:extLst>
          </p:cNvPr>
          <p:cNvSpPr txBox="1"/>
          <p:nvPr/>
        </p:nvSpPr>
        <p:spPr>
          <a:xfrm>
            <a:off x="550606" y="681676"/>
            <a:ext cx="3431459" cy="64017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NOTES:</a:t>
            </a:r>
          </a:p>
          <a:p>
            <a:endParaRPr lang="en-US" sz="1000" dirty="0"/>
          </a:p>
          <a:p>
            <a:r>
              <a:rPr lang="en-US" sz="1000" dirty="0"/>
              <a:t>Data Sources:</a:t>
            </a:r>
          </a:p>
          <a:p>
            <a:r>
              <a:rPr lang="en-US" sz="1000" dirty="0"/>
              <a:t>- </a:t>
            </a:r>
            <a:r>
              <a:rPr lang="en-US" sz="1000" dirty="0" err="1"/>
              <a:t>tbl_VolumeSubmissions</a:t>
            </a:r>
            <a:r>
              <a:rPr lang="en-US" sz="1000" dirty="0"/>
              <a:t> (all countries, current month)</a:t>
            </a:r>
          </a:p>
          <a:p>
            <a:r>
              <a:rPr lang="en-US" sz="1000" dirty="0"/>
              <a:t>- </a:t>
            </a:r>
            <a:r>
              <a:rPr lang="en-US" sz="1000" dirty="0" err="1"/>
              <a:t>tbl_Countries</a:t>
            </a:r>
            <a:r>
              <a:rPr lang="en-US" sz="1000" dirty="0"/>
              <a:t> (for country names, regions)</a:t>
            </a:r>
          </a:p>
          <a:p>
            <a:r>
              <a:rPr lang="en-US" sz="1000" dirty="0"/>
              <a:t>- </a:t>
            </a:r>
            <a:r>
              <a:rPr lang="en-US" sz="1000" dirty="0" err="1"/>
              <a:t>tbl_CountryTestTypes</a:t>
            </a:r>
            <a:r>
              <a:rPr lang="en-US" sz="1000" dirty="0"/>
              <a:t> (for expected test type count)</a:t>
            </a:r>
          </a:p>
          <a:p>
            <a:r>
              <a:rPr lang="en-US" sz="1000" dirty="0"/>
              <a:t>- </a:t>
            </a:r>
            <a:r>
              <a:rPr lang="en-US" sz="1000" dirty="0" err="1"/>
              <a:t>tbl_UserCountries</a:t>
            </a:r>
            <a:r>
              <a:rPr lang="en-US" sz="1000" dirty="0"/>
              <a:t> (for coordinator info)</a:t>
            </a:r>
          </a:p>
          <a:p>
            <a:r>
              <a:rPr lang="en-US" sz="1000" dirty="0"/>
              <a:t>- </a:t>
            </a:r>
            <a:r>
              <a:rPr lang="en-US" sz="1000" dirty="0" err="1"/>
              <a:t>tbl_DataQualityFlags</a:t>
            </a:r>
            <a:r>
              <a:rPr lang="en-US" sz="1000" dirty="0"/>
              <a:t> (for flagged count)</a:t>
            </a:r>
          </a:p>
          <a:p>
            <a:endParaRPr lang="en-US" sz="1000" dirty="0"/>
          </a:p>
          <a:p>
            <a:r>
              <a:rPr lang="en-US" sz="1000" dirty="0"/>
              <a:t>Page Context:</a:t>
            </a:r>
          </a:p>
          <a:p>
            <a:r>
              <a:rPr lang="en-US" sz="1000" dirty="0"/>
              <a:t>- Month selector at top (defaults to current month)</a:t>
            </a:r>
          </a:p>
          <a:p>
            <a:r>
              <a:rPr lang="en-US" sz="1000" dirty="0"/>
              <a:t>- Shows ALL countries, not filtered by user</a:t>
            </a:r>
          </a:p>
          <a:p>
            <a:r>
              <a:rPr lang="en-US" sz="1000" dirty="0"/>
              <a:t>- Real-time data (refreshes every 5 minutes)</a:t>
            </a:r>
          </a:p>
          <a:p>
            <a:endParaRPr lang="en-US" sz="1000" dirty="0"/>
          </a:p>
          <a:p>
            <a:r>
              <a:rPr lang="en-US" sz="1000" dirty="0"/>
              <a:t>Key Metrics Cards:</a:t>
            </a:r>
          </a:p>
          <a:p>
            <a:r>
              <a:rPr lang="en-US" sz="1000" dirty="0"/>
              <a:t>1. Submitted: Count where Status IN ('</a:t>
            </a:r>
            <a:r>
              <a:rPr lang="en-US" sz="1000" dirty="0" err="1"/>
              <a:t>Submitted','Validated','Flagged','Approved</a:t>
            </a:r>
            <a:r>
              <a:rPr lang="en-US" sz="1000" dirty="0"/>
              <a:t>')</a:t>
            </a:r>
          </a:p>
          <a:p>
            <a:r>
              <a:rPr lang="en-US" sz="1000" dirty="0"/>
              <a:t>2. Pending: Count where Status = 'Submitted' (awaiting first review)</a:t>
            </a:r>
          </a:p>
          <a:p>
            <a:r>
              <a:rPr lang="en-US" sz="1000" dirty="0"/>
              <a:t>3. Flagged: Count where Status = 'Flagged' OR </a:t>
            </a:r>
            <a:r>
              <a:rPr lang="en-US" sz="1000" dirty="0" err="1"/>
              <a:t>DataQualityFlags</a:t>
            </a:r>
            <a:r>
              <a:rPr lang="en-US" sz="1000" dirty="0"/>
              <a:t> &gt; 0</a:t>
            </a:r>
          </a:p>
          <a:p>
            <a:r>
              <a:rPr lang="en-US" sz="1000" dirty="0"/>
              <a:t>4. Approved: Count where Status = 'Approved'</a:t>
            </a:r>
          </a:p>
          <a:p>
            <a:endParaRPr lang="en-US" sz="1000" dirty="0"/>
          </a:p>
          <a:p>
            <a:r>
              <a:rPr lang="en-US" sz="1000" dirty="0"/>
              <a:t>Status Calculation:</a:t>
            </a:r>
          </a:p>
          <a:p>
            <a:r>
              <a:rPr lang="en-US" sz="1000" dirty="0"/>
              <a:t>- 🟢 Approved: Status = 'Approved'</a:t>
            </a:r>
          </a:p>
          <a:p>
            <a:r>
              <a:rPr lang="en-US" sz="1000" dirty="0"/>
              <a:t>- 🟡 Validated: Status = 'Validated'</a:t>
            </a:r>
          </a:p>
          <a:p>
            <a:r>
              <a:rPr lang="en-US" sz="1000" dirty="0"/>
              <a:t>- 🟠 Flagged: Status = 'Flagged' OR has active data quality flags</a:t>
            </a:r>
          </a:p>
          <a:p>
            <a:r>
              <a:rPr lang="en-US" sz="1000" dirty="0"/>
              <a:t>- 🔵 Submitted: Status = 'Submitted' (new, not yet reviewed)</a:t>
            </a:r>
          </a:p>
          <a:p>
            <a:r>
              <a:rPr lang="en-US" sz="1000" dirty="0"/>
              <a:t>- ⚪ Draft: Status = 'Draft' (started but not submitted)</a:t>
            </a:r>
          </a:p>
          <a:p>
            <a:r>
              <a:rPr lang="en-US" sz="1000" dirty="0"/>
              <a:t>- 🔴 Not Started: No record exists for this country/month</a:t>
            </a:r>
          </a:p>
          <a:p>
            <a:endParaRPr lang="en-US" sz="1000" dirty="0"/>
          </a:p>
          <a:p>
            <a:r>
              <a:rPr lang="en-US" sz="1000" dirty="0"/>
              <a:t>Tests Column:</a:t>
            </a:r>
          </a:p>
          <a:p>
            <a:r>
              <a:rPr lang="en-US" sz="1000" dirty="0"/>
              <a:t>- Shows: [Submitted] / [Expected]</a:t>
            </a:r>
          </a:p>
          <a:p>
            <a:r>
              <a:rPr lang="en-US" sz="1000" dirty="0"/>
              <a:t>- Example: 3/3 means all 3 expected test types submitted</a:t>
            </a:r>
          </a:p>
          <a:p>
            <a:r>
              <a:rPr lang="en-US" sz="1000" dirty="0"/>
              <a:t>- Example: 2/3 means missing 1 test type</a:t>
            </a:r>
          </a:p>
          <a:p>
            <a:r>
              <a:rPr lang="en-US" sz="1000" dirty="0"/>
              <a:t>- Expected count from </a:t>
            </a:r>
            <a:r>
              <a:rPr lang="en-US" sz="1000" dirty="0" err="1"/>
              <a:t>tbl_CountryTestTypes</a:t>
            </a:r>
            <a:r>
              <a:rPr lang="en-US" sz="1000" dirty="0"/>
              <a:t> WHERE </a:t>
            </a:r>
            <a:r>
              <a:rPr lang="en-US" sz="1000" dirty="0" err="1"/>
              <a:t>IsActive</a:t>
            </a:r>
            <a:r>
              <a:rPr lang="en-US" sz="1000" dirty="0"/>
              <a:t> = Yes</a:t>
            </a:r>
          </a:p>
          <a:p>
            <a:endParaRPr lang="en-US" sz="1000" dirty="0"/>
          </a:p>
          <a:p>
            <a:endParaRPr lang="en-US" sz="1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AEFDCA-DF23-6D97-BC93-5DA9496185D9}"/>
              </a:ext>
            </a:extLst>
          </p:cNvPr>
          <p:cNvSpPr txBox="1"/>
          <p:nvPr/>
        </p:nvSpPr>
        <p:spPr>
          <a:xfrm>
            <a:off x="3982065" y="681676"/>
            <a:ext cx="3431459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Filter Logic:</a:t>
            </a:r>
          </a:p>
          <a:p>
            <a:r>
              <a:rPr lang="en-US" sz="1000" dirty="0"/>
              <a:t>- Region: Filters to countries in selected region</a:t>
            </a:r>
          </a:p>
          <a:p>
            <a:r>
              <a:rPr lang="en-US" sz="1000" dirty="0"/>
              <a:t>- Status: Filters to selected status</a:t>
            </a:r>
          </a:p>
          <a:p>
            <a:r>
              <a:rPr lang="en-US" sz="1000" dirty="0"/>
              <a:t>- Test Type: Shows only countries offering that test type</a:t>
            </a:r>
          </a:p>
          <a:p>
            <a:r>
              <a:rPr lang="en-US" sz="1000" dirty="0"/>
              <a:t>- Search: Searches country names</a:t>
            </a:r>
          </a:p>
          <a:p>
            <a:r>
              <a:rPr lang="en-US" sz="1000" dirty="0"/>
              <a:t>- All filters combine with AND logic</a:t>
            </a:r>
          </a:p>
          <a:p>
            <a:endParaRPr lang="en-US" sz="1000" dirty="0"/>
          </a:p>
          <a:p>
            <a:r>
              <a:rPr lang="en-US" sz="1000" dirty="0"/>
              <a:t>Table Sorting:</a:t>
            </a:r>
          </a:p>
          <a:p>
            <a:r>
              <a:rPr lang="en-US" sz="1000" dirty="0"/>
              <a:t>- Default: Sort by Status priority (Flagged first, then Submitted, etc.)</a:t>
            </a:r>
          </a:p>
          <a:p>
            <a:r>
              <a:rPr lang="en-US" sz="1000" dirty="0"/>
              <a:t>- Click column headers to sort</a:t>
            </a:r>
          </a:p>
          <a:p>
            <a:r>
              <a:rPr lang="en-US" sz="1000" dirty="0"/>
              <a:t>- Secondary sort: Submitted date (most recent first)</a:t>
            </a:r>
          </a:p>
          <a:p>
            <a:endParaRPr lang="en-US" sz="1000" dirty="0"/>
          </a:p>
          <a:p>
            <a:r>
              <a:rPr lang="en-US" sz="1000" dirty="0"/>
              <a:t>Action Buttons (Context-Sensitive):</a:t>
            </a:r>
          </a:p>
          <a:p>
            <a:r>
              <a:rPr lang="en-US" sz="1000" dirty="0"/>
              <a:t>1. [View]: Always available - opens read-only detail view</a:t>
            </a:r>
          </a:p>
          <a:p>
            <a:r>
              <a:rPr lang="en-US" sz="1000" dirty="0"/>
              <a:t>2. [Edit]: Available if Status = Draft OR Submitted (not yet approved)</a:t>
            </a:r>
          </a:p>
          <a:p>
            <a:r>
              <a:rPr lang="en-US" sz="1000" dirty="0"/>
              <a:t>3. [Review]: Available if Status = Flagged (opens review workflow)</a:t>
            </a:r>
          </a:p>
          <a:p>
            <a:r>
              <a:rPr lang="en-US" sz="1000" dirty="0"/>
              <a:t>4. [Remind]: Available if Status = Not Started or Draft (sends email)</a:t>
            </a:r>
          </a:p>
          <a:p>
            <a:endParaRPr lang="en-US" sz="1000" dirty="0"/>
          </a:p>
          <a:p>
            <a:r>
              <a:rPr lang="en-US" sz="1000" dirty="0"/>
              <a:t>Quick Actions:</a:t>
            </a:r>
          </a:p>
          <a:p>
            <a:r>
              <a:rPr lang="en-US" sz="1000" dirty="0"/>
              <a:t>1. "Review Flagged Items": </a:t>
            </a:r>
          </a:p>
          <a:p>
            <a:r>
              <a:rPr lang="en-US" sz="1000" dirty="0"/>
              <a:t>   - Navigates to Screen 2 (Review Queue)</a:t>
            </a:r>
          </a:p>
          <a:p>
            <a:r>
              <a:rPr lang="en-US" sz="1000" dirty="0"/>
              <a:t>   - Pre-filtered to flagged submissions only</a:t>
            </a:r>
          </a:p>
          <a:p>
            <a:r>
              <a:rPr lang="en-US" sz="1000" dirty="0"/>
              <a:t>   - Shows count in badge</a:t>
            </a:r>
          </a:p>
          <a:p>
            <a:endParaRPr lang="en-US" sz="1000" dirty="0"/>
          </a:p>
          <a:p>
            <a:r>
              <a:rPr lang="en-US" sz="1000" dirty="0"/>
              <a:t>2. "Send Reminder Emails":</a:t>
            </a:r>
          </a:p>
          <a:p>
            <a:r>
              <a:rPr lang="en-US" sz="1000" dirty="0"/>
              <a:t>   - Opens email template selector</a:t>
            </a:r>
          </a:p>
          <a:p>
            <a:r>
              <a:rPr lang="en-US" sz="1000" dirty="0"/>
              <a:t>   - Pre-selects countries that are late/not started</a:t>
            </a:r>
          </a:p>
          <a:p>
            <a:r>
              <a:rPr lang="en-US" sz="1000" dirty="0"/>
              <a:t>   - Batch send capability</a:t>
            </a:r>
          </a:p>
          <a:p>
            <a:endParaRPr lang="en-US" sz="1000" dirty="0"/>
          </a:p>
          <a:p>
            <a:r>
              <a:rPr lang="en-US" sz="1000" dirty="0"/>
              <a:t>3. "Export Report":</a:t>
            </a:r>
          </a:p>
          <a:p>
            <a:r>
              <a:rPr lang="en-US" sz="1000" dirty="0"/>
              <a:t>   - Downloads Excel with current filtered view</a:t>
            </a:r>
          </a:p>
          <a:p>
            <a:r>
              <a:rPr lang="en-US" sz="1000" dirty="0"/>
              <a:t>   - Includes: Country, Region, Status, Submitted Date, Test Count</a:t>
            </a:r>
          </a:p>
          <a:p>
            <a:r>
              <a:rPr lang="en-US" sz="1000" dirty="0"/>
              <a:t>   - Filename: "</a:t>
            </a:r>
            <a:r>
              <a:rPr lang="en-US" sz="1000" dirty="0" err="1"/>
              <a:t>SubmissionStatus</a:t>
            </a:r>
            <a:r>
              <a:rPr lang="en-US" sz="1000" dirty="0"/>
              <a:t>_[Month]_[Date].xlsx"</a:t>
            </a:r>
          </a:p>
          <a:p>
            <a:endParaRPr lang="en-US" sz="1000" dirty="0"/>
          </a:p>
          <a:p>
            <a:endParaRPr lang="en-US" sz="1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CFB9FF-E8C0-B4DA-F6BB-64E9D5FBC707}"/>
              </a:ext>
            </a:extLst>
          </p:cNvPr>
          <p:cNvSpPr txBox="1"/>
          <p:nvPr/>
        </p:nvSpPr>
        <p:spPr>
          <a:xfrm>
            <a:off x="7413524" y="681676"/>
            <a:ext cx="3431459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Pagination:</a:t>
            </a:r>
          </a:p>
          <a:p>
            <a:r>
              <a:rPr lang="en-US" sz="1000" dirty="0"/>
              <a:t>- Show 10 countries per page (configurable)</a:t>
            </a:r>
          </a:p>
          <a:p>
            <a:r>
              <a:rPr lang="en-US" sz="1000" dirty="0"/>
              <a:t>- Performance optimization for 100+ country scenarios</a:t>
            </a:r>
          </a:p>
          <a:p>
            <a:endParaRPr lang="en-US" sz="1000" dirty="0"/>
          </a:p>
          <a:p>
            <a:r>
              <a:rPr lang="en-US" sz="1000" dirty="0"/>
              <a:t>Auto-Refresh:</a:t>
            </a:r>
          </a:p>
          <a:p>
            <a:r>
              <a:rPr lang="en-US" sz="1000" dirty="0"/>
              <a:t>- Data refreshes every 5 minutes automatically</a:t>
            </a:r>
          </a:p>
          <a:p>
            <a:r>
              <a:rPr lang="en-US" sz="1000" dirty="0"/>
              <a:t>- Manual refresh button available</a:t>
            </a:r>
          </a:p>
          <a:p>
            <a:r>
              <a:rPr lang="en-US" sz="1000" dirty="0"/>
              <a:t>- Shows "Last updated: [timestamp]"</a:t>
            </a:r>
          </a:p>
          <a:p>
            <a:endParaRPr lang="en-US" sz="1000" dirty="0"/>
          </a:p>
          <a:p>
            <a:r>
              <a:rPr lang="en-US" sz="1000" dirty="0"/>
              <a:t>Row Click Behavior:</a:t>
            </a:r>
          </a:p>
          <a:p>
            <a:r>
              <a:rPr lang="en-US" sz="1000" dirty="0"/>
              <a:t>- Click anywhere on row → View detail screen</a:t>
            </a:r>
          </a:p>
          <a:p>
            <a:r>
              <a:rPr lang="en-US" sz="1000" dirty="0"/>
              <a:t>- Shows submission details (same as confirmation screen)</a:t>
            </a:r>
          </a:p>
          <a:p>
            <a:r>
              <a:rPr lang="en-US" sz="1000" dirty="0"/>
              <a:t>- Read-only unless Edit button clicked</a:t>
            </a:r>
          </a:p>
          <a:p>
            <a:endParaRPr lang="en-US" sz="1000" dirty="0"/>
          </a:p>
          <a:p>
            <a:r>
              <a:rPr lang="en-US" sz="1000" dirty="0"/>
              <a:t>Color Coding:</a:t>
            </a:r>
          </a:p>
          <a:p>
            <a:r>
              <a:rPr lang="en-US" sz="1000" dirty="0"/>
              <a:t>- Red rows (🔴): Overdue or not started (past deadline)</a:t>
            </a:r>
          </a:p>
          <a:p>
            <a:r>
              <a:rPr lang="en-US" sz="1000" dirty="0"/>
              <a:t>- Orange rows (🟠): Flagged, needs immediate attention</a:t>
            </a:r>
          </a:p>
          <a:p>
            <a:r>
              <a:rPr lang="en-US" sz="1000" dirty="0"/>
              <a:t>- Green rows (🟢): Approved, all good</a:t>
            </a:r>
          </a:p>
          <a:p>
            <a:r>
              <a:rPr lang="en-US" sz="1000" dirty="0"/>
              <a:t>- Gray rows (⚪): Draft, in progress</a:t>
            </a:r>
          </a:p>
          <a:p>
            <a:endParaRPr lang="en-US" sz="1000" dirty="0"/>
          </a:p>
          <a:p>
            <a:r>
              <a:rPr lang="en-US" sz="1000" dirty="0"/>
              <a:t>Navigation:</a:t>
            </a:r>
          </a:p>
          <a:p>
            <a:r>
              <a:rPr lang="en-US" sz="1000" dirty="0"/>
              <a:t>- View button → Detail screen</a:t>
            </a:r>
          </a:p>
          <a:p>
            <a:r>
              <a:rPr lang="en-US" sz="1000" dirty="0"/>
              <a:t>- Edit button → Edit form (pre-populated)</a:t>
            </a:r>
          </a:p>
          <a:p>
            <a:r>
              <a:rPr lang="en-US" sz="1000" dirty="0"/>
              <a:t>- Review button → Screen 2 (Review Queue)</a:t>
            </a:r>
          </a:p>
          <a:p>
            <a:r>
              <a:rPr lang="en-US" sz="1000" dirty="0"/>
              <a:t>- Country name click → Full submission history for that country</a:t>
            </a:r>
          </a:p>
          <a:p>
            <a:endParaRPr lang="en-US" sz="1000" dirty="0"/>
          </a:p>
          <a:p>
            <a:r>
              <a:rPr lang="en-US" sz="1000" dirty="0"/>
              <a:t>Power Apps Implementation:</a:t>
            </a:r>
          </a:p>
          <a:p>
            <a:r>
              <a:rPr lang="en-US" sz="1000" dirty="0"/>
              <a:t>- Gallery control with Items = Sort(Filter(</a:t>
            </a:r>
            <a:r>
              <a:rPr lang="en-US" sz="1000" dirty="0" err="1"/>
              <a:t>tbl_VolumeSubmissions</a:t>
            </a:r>
            <a:r>
              <a:rPr lang="en-US" sz="1000" dirty="0"/>
              <a:t>...), ...)</a:t>
            </a:r>
          </a:p>
          <a:p>
            <a:r>
              <a:rPr lang="en-US" sz="1000" dirty="0"/>
              <a:t>- Real-time calculations using </a:t>
            </a:r>
            <a:r>
              <a:rPr lang="en-US" sz="1000" dirty="0" err="1"/>
              <a:t>CountRows</a:t>
            </a:r>
            <a:r>
              <a:rPr lang="en-US" sz="1000" dirty="0"/>
              <a:t>(), Filter()</a:t>
            </a:r>
          </a:p>
          <a:p>
            <a:r>
              <a:rPr lang="en-US" sz="1000" dirty="0"/>
              <a:t>- Status logic in gallery template</a:t>
            </a:r>
          </a:p>
          <a:p>
            <a:r>
              <a:rPr lang="en-US" sz="1000" dirty="0"/>
              <a:t>- Timer control for auto-refresh (5 min = 300000 </a:t>
            </a:r>
            <a:r>
              <a:rPr lang="en-US" sz="1000" dirty="0" err="1"/>
              <a:t>ms</a:t>
            </a:r>
            <a:r>
              <a:rPr lang="en-US" sz="1000" dirty="0"/>
              <a:t>)</a:t>
            </a:r>
          </a:p>
          <a:p>
            <a:r>
              <a:rPr lang="en-US" sz="1000" dirty="0"/>
              <a:t>- Concurrent data loads for performance</a:t>
            </a:r>
          </a:p>
        </p:txBody>
      </p:sp>
    </p:spTree>
    <p:extLst>
      <p:ext uri="{BB962C8B-B14F-4D97-AF65-F5344CB8AC3E}">
        <p14:creationId xmlns:p14="http://schemas.microsoft.com/office/powerpoint/2010/main" val="5528495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60BC23-A149-5400-D7B0-E8716C5A8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C1BF7-19FF-701F-9848-A29929014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420" y="88028"/>
            <a:ext cx="10515600" cy="554191"/>
          </a:xfrm>
        </p:spPr>
        <p:txBody>
          <a:bodyPr>
            <a:normAutofit/>
          </a:bodyPr>
          <a:lstStyle/>
          <a:p>
            <a:r>
              <a:rPr lang="en-US" sz="3200" dirty="0"/>
              <a:t>Screen 2: Review Queue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AAE640-F765-4BD2-0A2F-E081942381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420" y="623925"/>
            <a:ext cx="10515600" cy="353901"/>
          </a:xfrm>
        </p:spPr>
        <p:txBody>
          <a:bodyPr>
            <a:normAutofit lnSpcReduction="10000"/>
          </a:bodyPr>
          <a:lstStyle/>
          <a:p>
            <a:r>
              <a:rPr lang="en-US" sz="2000" dirty="0"/>
              <a:t>Detailed review of flagged submissions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6E6AA8-2421-DE34-9484-8E654955EDA3}"/>
              </a:ext>
            </a:extLst>
          </p:cNvPr>
          <p:cNvSpPr txBox="1"/>
          <p:nvPr/>
        </p:nvSpPr>
        <p:spPr>
          <a:xfrm>
            <a:off x="510346" y="1222786"/>
            <a:ext cx="106836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[ ← Back to Overview ] Home &gt; Review Queue</a:t>
            </a:r>
          </a:p>
          <a:p>
            <a:r>
              <a:rPr lang="en-US" sz="1400" b="1" dirty="0"/>
              <a:t>Review Queue - 3 Items Requiring Attention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8E98541-B077-ABBE-D299-9D15D46B2846}"/>
              </a:ext>
            </a:extLst>
          </p:cNvPr>
          <p:cNvSpPr/>
          <p:nvPr/>
        </p:nvSpPr>
        <p:spPr>
          <a:xfrm>
            <a:off x="550290" y="976276"/>
            <a:ext cx="10653246" cy="26161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🏢 </a:t>
            </a:r>
            <a:r>
              <a:rPr lang="en-US" dirty="0">
                <a:solidFill>
                  <a:schemeClr val="tx1"/>
                </a:solidFill>
              </a:rPr>
              <a:t>Data Quality Dashboard | Analyst: Alice Katt | [Settings]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304F940-26DD-DD49-FBD7-A7329CBD4035}"/>
              </a:ext>
            </a:extLst>
          </p:cNvPr>
          <p:cNvSpPr/>
          <p:nvPr/>
        </p:nvSpPr>
        <p:spPr>
          <a:xfrm>
            <a:off x="510346" y="1691103"/>
            <a:ext cx="10373039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dirty="0">
                <a:ln w="0"/>
                <a:solidFill>
                  <a:schemeClr val="tx1"/>
                </a:solidFill>
              </a:rPr>
              <a:t>Show: [All Flagged ▼]  Sort by: [Priority ▼]  Country: [All ▼]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2C2F119-84BA-725E-7A62-70E19321929E}"/>
              </a:ext>
            </a:extLst>
          </p:cNvPr>
          <p:cNvSpPr/>
          <p:nvPr/>
        </p:nvSpPr>
        <p:spPr>
          <a:xfrm>
            <a:off x="678420" y="2091213"/>
            <a:ext cx="10525117" cy="455539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1879A4-490F-51E7-DDA5-52A43AFA03A2}"/>
              </a:ext>
            </a:extLst>
          </p:cNvPr>
          <p:cNvSpPr txBox="1"/>
          <p:nvPr/>
        </p:nvSpPr>
        <p:spPr>
          <a:xfrm>
            <a:off x="816076" y="2251587"/>
            <a:ext cx="408038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🟠 FLAGGED: France - November 2025                      </a:t>
            </a:r>
          </a:p>
          <a:p>
            <a:r>
              <a:rPr lang="en-US" sz="1200" dirty="0"/>
              <a:t>Submission ID: SUB-202511-FRA-001                   </a:t>
            </a:r>
          </a:p>
          <a:p>
            <a:r>
              <a:rPr lang="en-US" sz="1200" dirty="0"/>
              <a:t>Submitted: November 24, 2025 at 8:45 AM                </a:t>
            </a:r>
          </a:p>
          <a:p>
            <a:r>
              <a:rPr lang="en-US" sz="1200" dirty="0"/>
              <a:t>Coordinator: Marie Dubois (marie.dubois.demo@outlook.com)</a:t>
            </a:r>
          </a:p>
          <a:p>
            <a:br>
              <a:rPr lang="en-US" sz="1200" dirty="0"/>
            </a:br>
            <a:r>
              <a:rPr lang="en-US" sz="1200" dirty="0"/>
              <a:t>FLAGS (2):                                               </a:t>
            </a:r>
          </a:p>
          <a:p>
            <a:r>
              <a:rPr lang="en-US" sz="1200" dirty="0"/>
              <a:t>⚠️ Anomaly - High: PM Cert actual 16% below budget</a:t>
            </a:r>
          </a:p>
          <a:p>
            <a:r>
              <a:rPr lang="en-US" sz="1200" dirty="0"/>
              <a:t>⚠️ Variance: PM Cert down 23% vs prior month           </a:t>
            </a:r>
          </a:p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BA8CF0-DDF0-3766-D31C-56E409FCCC58}"/>
              </a:ext>
            </a:extLst>
          </p:cNvPr>
          <p:cNvSpPr txBox="1"/>
          <p:nvPr/>
        </p:nvSpPr>
        <p:spPr>
          <a:xfrm>
            <a:off x="678420" y="4382353"/>
            <a:ext cx="558472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┌────────────────────────────────────────────────────────────────────┐</a:t>
            </a:r>
          </a:p>
          <a:p>
            <a:r>
              <a:rPr lang="en-US" sz="1200" dirty="0"/>
              <a:t>│ Test Type                                             │ Submitted │ Budget │ Prior Month │ Variance   │ │───────────────────────────────────────────────────────────────────  │  │ Leadership Fundamentals                450                500               475                -5% ✓         │</a:t>
            </a:r>
          </a:p>
          <a:p>
            <a:r>
              <a:rPr lang="en-US" sz="1200" dirty="0"/>
              <a:t>│ Data Analytics Essentials                   320                350               340                -6% ✓          </a:t>
            </a:r>
          </a:p>
          <a:p>
            <a:r>
              <a:rPr lang="en-US" sz="1200" dirty="0"/>
              <a:t>│ Project Management Cert Prep   ⚠️ 125             150               162               -23% ⚠️    │</a:t>
            </a:r>
          </a:p>
          <a:p>
            <a:r>
              <a:rPr lang="en-US" sz="1200" dirty="0"/>
              <a:t>└────────────────────────────────────────────────────────────────────┘</a:t>
            </a:r>
          </a:p>
          <a:p>
            <a:endParaRPr lang="en-US" sz="1200" dirty="0"/>
          </a:p>
          <a:p>
            <a:r>
              <a:rPr lang="en-US" sz="1200" dirty="0"/>
              <a:t>Legend: ✓ Within tolerance  ⚠️ Outside threshold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F59BF29-BE9D-1EB9-F96A-3DDA2FACD374}"/>
              </a:ext>
            </a:extLst>
          </p:cNvPr>
          <p:cNvSpPr txBox="1"/>
          <p:nvPr/>
        </p:nvSpPr>
        <p:spPr>
          <a:xfrm>
            <a:off x="4652950" y="2103985"/>
            <a:ext cx="315386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Anomaly Analysis</a:t>
            </a:r>
          </a:p>
          <a:p>
            <a:r>
              <a:rPr lang="en-US" sz="1200" dirty="0"/>
              <a:t>                                                        </a:t>
            </a:r>
          </a:p>
          <a:p>
            <a:r>
              <a:rPr lang="en-US" sz="1200" dirty="0"/>
              <a:t>PM Cert Prep - Actual Volume: 125                      </a:t>
            </a:r>
          </a:p>
          <a:p>
            <a:r>
              <a:rPr lang="en-US" sz="1200" dirty="0"/>
              <a:t>• 16.7% below budget (150)                              </a:t>
            </a:r>
          </a:p>
          <a:p>
            <a:r>
              <a:rPr lang="en-US" sz="1200" dirty="0"/>
              <a:t>• 22.8% decrease vs prior month (162)                   </a:t>
            </a:r>
          </a:p>
          <a:p>
            <a:r>
              <a:rPr lang="en-US" sz="1200" dirty="0"/>
              <a:t>• Historical avg (6 months): 158                        </a:t>
            </a:r>
          </a:p>
          <a:p>
            <a:r>
              <a:rPr lang="en-US" sz="1200" dirty="0"/>
              <a:t>                                                         </a:t>
            </a:r>
          </a:p>
          <a:p>
            <a:r>
              <a:rPr lang="en-US" sz="1200" dirty="0"/>
              <a:t>Possible causes:                                         </a:t>
            </a:r>
          </a:p>
          <a:p>
            <a:r>
              <a:rPr lang="en-US" sz="1200" dirty="0"/>
              <a:t>• Seasonal variation (holiday season)                    </a:t>
            </a:r>
          </a:p>
          <a:p>
            <a:r>
              <a:rPr lang="en-US" sz="1200" dirty="0"/>
              <a:t>• Marketing campaign delay                               </a:t>
            </a:r>
          </a:p>
          <a:p>
            <a:r>
              <a:rPr lang="en-US" sz="1200" dirty="0"/>
              <a:t>• Pricing changes                                        </a:t>
            </a:r>
          </a:p>
          <a:p>
            <a:r>
              <a:rPr lang="en-US" sz="1200" dirty="0"/>
              <a:t>• Test schedule adjustments                             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EB0D10D-1914-02B7-D6AE-5A78814FD1F0}"/>
              </a:ext>
            </a:extLst>
          </p:cNvPr>
          <p:cNvSpPr txBox="1"/>
          <p:nvPr/>
        </p:nvSpPr>
        <p:spPr>
          <a:xfrm>
            <a:off x="7806813" y="2113087"/>
            <a:ext cx="31538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Coordinator Notes:</a:t>
            </a:r>
            <a:br>
              <a:rPr lang="en-US" sz="1200" dirty="0"/>
            </a:br>
            <a:r>
              <a:rPr lang="en-US" sz="1200" dirty="0"/>
              <a:t>(None provided)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72FA2C2-019F-8E51-65C4-F6E81F8F9889}"/>
              </a:ext>
            </a:extLst>
          </p:cNvPr>
          <p:cNvSpPr txBox="1"/>
          <p:nvPr/>
        </p:nvSpPr>
        <p:spPr>
          <a:xfrm>
            <a:off x="7677904" y="3058093"/>
            <a:ext cx="315386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Analyst Review:</a:t>
            </a:r>
            <a:br>
              <a:rPr lang="en-US" sz="1200" dirty="0"/>
            </a:br>
            <a:r>
              <a:rPr lang="en-US" sz="1200" dirty="0"/>
              <a:t>[Text area for analyst notes]</a:t>
            </a:r>
            <a:br>
              <a:rPr lang="en-US" sz="1200" dirty="0"/>
            </a:br>
            <a:endParaRPr lang="en-US" sz="1200" dirty="0"/>
          </a:p>
          <a:p>
            <a:r>
              <a:rPr lang="en-US" sz="1200" dirty="0"/>
              <a:t> Enter your analysis, questions, or approval notes...</a:t>
            </a:r>
            <a:br>
              <a:rPr lang="en-US" sz="1200" dirty="0"/>
            </a:br>
            <a:br>
              <a:rPr lang="en-US" sz="1200" dirty="0"/>
            </a:br>
            <a:r>
              <a:rPr lang="en-US" sz="1200" dirty="0"/>
              <a:t>Resolution: [Select action ▼]</a:t>
            </a:r>
          </a:p>
          <a:p>
            <a:r>
              <a:rPr lang="en-US" sz="1200" dirty="0"/>
              <a:t> Options: Approve | Request Clarification | Reject | Manually Adjust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BEDDC7D8-04A0-C9B9-FB3C-F0D1BFEE808A}"/>
              </a:ext>
            </a:extLst>
          </p:cNvPr>
          <p:cNvSpPr/>
          <p:nvPr/>
        </p:nvSpPr>
        <p:spPr>
          <a:xfrm>
            <a:off x="7543636" y="5366417"/>
            <a:ext cx="1317523" cy="26161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[ Manual Adjust ] </a:t>
            </a:r>
            <a:endParaRPr lang="en-US" sz="800" dirty="0">
              <a:solidFill>
                <a:schemeClr val="tx1"/>
              </a:solidFill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AF5FFE1-83DB-5702-6384-2A10AD4CF3E1}"/>
              </a:ext>
            </a:extLst>
          </p:cNvPr>
          <p:cNvSpPr/>
          <p:nvPr/>
        </p:nvSpPr>
        <p:spPr>
          <a:xfrm>
            <a:off x="7543636" y="4997164"/>
            <a:ext cx="1317523" cy="261610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/>
              <a:t>[ Approve &amp; Continue ]</a:t>
            </a:r>
            <a:endParaRPr lang="en-US" sz="800" dirty="0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7BCCEB63-E92F-8212-B75B-9B6BC685048F}"/>
              </a:ext>
            </a:extLst>
          </p:cNvPr>
          <p:cNvSpPr/>
          <p:nvPr/>
        </p:nvSpPr>
        <p:spPr>
          <a:xfrm>
            <a:off x="9115430" y="4997164"/>
            <a:ext cx="1317523" cy="26161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[ Request Clarification ]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71989FE0-94AF-50C2-D90A-30C7DE8665C8}"/>
              </a:ext>
            </a:extLst>
          </p:cNvPr>
          <p:cNvSpPr/>
          <p:nvPr/>
        </p:nvSpPr>
        <p:spPr>
          <a:xfrm>
            <a:off x="9115430" y="5375530"/>
            <a:ext cx="1317523" cy="261610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[ Skip for Now ]</a:t>
            </a:r>
            <a:endParaRPr lang="en-US" sz="800" dirty="0">
              <a:solidFill>
                <a:schemeClr val="tx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94DA57D-1062-8B4B-0826-D6868C46315D}"/>
              </a:ext>
            </a:extLst>
          </p:cNvPr>
          <p:cNvSpPr txBox="1"/>
          <p:nvPr/>
        </p:nvSpPr>
        <p:spPr>
          <a:xfrm>
            <a:off x="6431216" y="6043902"/>
            <a:ext cx="45294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Reviewing item 1 of 3     [ ← Previous ]  [ Next → ]     [ Jump to: [▼] ]</a:t>
            </a:r>
          </a:p>
        </p:txBody>
      </p:sp>
    </p:spTree>
    <p:extLst>
      <p:ext uri="{BB962C8B-B14F-4D97-AF65-F5344CB8AC3E}">
        <p14:creationId xmlns:p14="http://schemas.microsoft.com/office/powerpoint/2010/main" val="21386274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8BF79-F513-C2EE-3261-533A4D6F6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8233C-16F7-3326-258E-7CA97ADDD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756" y="127485"/>
            <a:ext cx="10515600" cy="554191"/>
          </a:xfrm>
        </p:spPr>
        <p:txBody>
          <a:bodyPr>
            <a:normAutofit/>
          </a:bodyPr>
          <a:lstStyle/>
          <a:p>
            <a:r>
              <a:rPr lang="en-US" sz="3200" dirty="0"/>
              <a:t>Screen 2: Review Queue - Technical Specs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478689C-3B96-26E3-A86A-92AF019D2AE3}"/>
              </a:ext>
            </a:extLst>
          </p:cNvPr>
          <p:cNvSpPr txBox="1"/>
          <p:nvPr/>
        </p:nvSpPr>
        <p:spPr>
          <a:xfrm>
            <a:off x="550606" y="681676"/>
            <a:ext cx="3431459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Data Sources:</a:t>
            </a:r>
          </a:p>
          <a:p>
            <a:r>
              <a:rPr lang="en-US" sz="1000" dirty="0"/>
              <a:t>- </a:t>
            </a:r>
            <a:r>
              <a:rPr lang="en-US" sz="1000" dirty="0" err="1"/>
              <a:t>tbl_VolumeSubmissions</a:t>
            </a:r>
            <a:r>
              <a:rPr lang="en-US" sz="1000" dirty="0"/>
              <a:t> (all countries, current month)</a:t>
            </a:r>
          </a:p>
          <a:p>
            <a:r>
              <a:rPr lang="en-US" sz="1000" dirty="0"/>
              <a:t>- </a:t>
            </a:r>
            <a:r>
              <a:rPr lang="en-US" sz="1000" dirty="0" err="1"/>
              <a:t>tbl_Countries</a:t>
            </a:r>
            <a:r>
              <a:rPr lang="en-US" sz="1000" dirty="0"/>
              <a:t> (for country names, regions)</a:t>
            </a:r>
          </a:p>
          <a:p>
            <a:r>
              <a:rPr lang="en-US" sz="1000" dirty="0"/>
              <a:t>- </a:t>
            </a:r>
            <a:r>
              <a:rPr lang="en-US" sz="1000" dirty="0" err="1"/>
              <a:t>tbl_CountryTestTypes</a:t>
            </a:r>
            <a:r>
              <a:rPr lang="en-US" sz="1000" dirty="0"/>
              <a:t> (for expected test type count)</a:t>
            </a:r>
          </a:p>
          <a:p>
            <a:r>
              <a:rPr lang="en-US" sz="1000" dirty="0"/>
              <a:t>- </a:t>
            </a:r>
            <a:r>
              <a:rPr lang="en-US" sz="1000" dirty="0" err="1"/>
              <a:t>tbl_UserCountries</a:t>
            </a:r>
            <a:r>
              <a:rPr lang="en-US" sz="1000" dirty="0"/>
              <a:t> (for coordinator info)</a:t>
            </a:r>
          </a:p>
          <a:p>
            <a:r>
              <a:rPr lang="en-US" sz="1000" dirty="0"/>
              <a:t>- </a:t>
            </a:r>
            <a:r>
              <a:rPr lang="en-US" sz="1000" dirty="0" err="1"/>
              <a:t>tbl_DataQualityFlags</a:t>
            </a:r>
            <a:r>
              <a:rPr lang="en-US" sz="1000" dirty="0"/>
              <a:t> (for flagged count)</a:t>
            </a:r>
          </a:p>
          <a:p>
            <a:endParaRPr lang="en-US" sz="1000" dirty="0"/>
          </a:p>
          <a:p>
            <a:r>
              <a:rPr lang="en-US" sz="1000" dirty="0"/>
              <a:t>Page Context:</a:t>
            </a:r>
          </a:p>
          <a:p>
            <a:r>
              <a:rPr lang="en-US" sz="1000" dirty="0"/>
              <a:t>- Month selector at top (defaults to current month)</a:t>
            </a:r>
          </a:p>
          <a:p>
            <a:r>
              <a:rPr lang="en-US" sz="1000" dirty="0"/>
              <a:t>- Shows ALL countries, not filtered by user</a:t>
            </a:r>
          </a:p>
          <a:p>
            <a:r>
              <a:rPr lang="en-US" sz="1000" dirty="0"/>
              <a:t>- Real-time data (refreshes every 5 minutes)</a:t>
            </a:r>
          </a:p>
          <a:p>
            <a:endParaRPr lang="en-US" sz="1000" dirty="0"/>
          </a:p>
          <a:p>
            <a:r>
              <a:rPr lang="en-US" sz="1000" dirty="0"/>
              <a:t>Key Metrics Cards:</a:t>
            </a:r>
          </a:p>
          <a:p>
            <a:r>
              <a:rPr lang="en-US" sz="1000" dirty="0"/>
              <a:t>1. Submitted: Count where Status IN ('</a:t>
            </a:r>
            <a:r>
              <a:rPr lang="en-US" sz="1000" dirty="0" err="1"/>
              <a:t>Submitted','Validated','Flagged','Approved</a:t>
            </a:r>
            <a:r>
              <a:rPr lang="en-US" sz="1000" dirty="0"/>
              <a:t>')</a:t>
            </a:r>
          </a:p>
          <a:p>
            <a:r>
              <a:rPr lang="en-US" sz="1000" dirty="0"/>
              <a:t>2. Pending: Count where Status = 'Submitted' (awaiting first review)</a:t>
            </a:r>
          </a:p>
          <a:p>
            <a:r>
              <a:rPr lang="en-US" sz="1000" dirty="0"/>
              <a:t>3. Flagged: Count where Status = 'Flagged' OR </a:t>
            </a:r>
            <a:r>
              <a:rPr lang="en-US" sz="1000" dirty="0" err="1"/>
              <a:t>DataQualityFlags</a:t>
            </a:r>
            <a:r>
              <a:rPr lang="en-US" sz="1000" dirty="0"/>
              <a:t> &gt; 0</a:t>
            </a:r>
          </a:p>
          <a:p>
            <a:r>
              <a:rPr lang="en-US" sz="1000" dirty="0"/>
              <a:t>4. Approved: Count where Status = 'Approved'</a:t>
            </a:r>
          </a:p>
          <a:p>
            <a:endParaRPr lang="en-US" sz="1000" dirty="0"/>
          </a:p>
          <a:p>
            <a:r>
              <a:rPr lang="en-US" sz="1000" dirty="0"/>
              <a:t>Status Calculation:</a:t>
            </a:r>
          </a:p>
          <a:p>
            <a:r>
              <a:rPr lang="en-US" sz="1000" dirty="0"/>
              <a:t>- 🟢 Approved: Status = 'Approved'</a:t>
            </a:r>
          </a:p>
          <a:p>
            <a:r>
              <a:rPr lang="en-US" sz="1000" dirty="0"/>
              <a:t>- 🟡 Validated: Status = 'Validated'</a:t>
            </a:r>
          </a:p>
          <a:p>
            <a:r>
              <a:rPr lang="en-US" sz="1000" dirty="0"/>
              <a:t>- 🟠 Flagged: Status = 'Flagged' OR has active data quality flags</a:t>
            </a:r>
          </a:p>
          <a:p>
            <a:r>
              <a:rPr lang="en-US" sz="1000" dirty="0"/>
              <a:t>- 🔵 Submitted: Status = 'Submitted' (new, not yet reviewed)</a:t>
            </a:r>
          </a:p>
          <a:p>
            <a:r>
              <a:rPr lang="en-US" sz="1000" dirty="0"/>
              <a:t>- ⚪ Draft: Status = 'Draft' (started but not submitted)</a:t>
            </a:r>
          </a:p>
          <a:p>
            <a:r>
              <a:rPr lang="en-US" sz="1000" dirty="0"/>
              <a:t>- 🔴 Not Started: No record exists for this country/month</a:t>
            </a:r>
          </a:p>
          <a:p>
            <a:endParaRPr lang="en-US" sz="1000" dirty="0"/>
          </a:p>
          <a:p>
            <a:r>
              <a:rPr lang="en-US" sz="1000" dirty="0"/>
              <a:t>Tests Column:</a:t>
            </a:r>
          </a:p>
          <a:p>
            <a:r>
              <a:rPr lang="en-US" sz="1000" dirty="0"/>
              <a:t>- Shows: [Submitted] / [Expected]</a:t>
            </a:r>
          </a:p>
          <a:p>
            <a:r>
              <a:rPr lang="en-US" sz="1000" dirty="0"/>
              <a:t>- Example: 3/3 means all 3 expected test types submitted</a:t>
            </a:r>
          </a:p>
          <a:p>
            <a:r>
              <a:rPr lang="en-US" sz="1000" dirty="0"/>
              <a:t>- Example: 2/3 means missing 1 test type</a:t>
            </a:r>
          </a:p>
          <a:p>
            <a:r>
              <a:rPr lang="en-US" sz="1000" dirty="0"/>
              <a:t>- Expected count from </a:t>
            </a:r>
            <a:r>
              <a:rPr lang="en-US" sz="1000" dirty="0" err="1"/>
              <a:t>tbl_CountryTestTypes</a:t>
            </a:r>
            <a:r>
              <a:rPr lang="en-US" sz="1000" dirty="0"/>
              <a:t> WHERE </a:t>
            </a:r>
            <a:r>
              <a:rPr lang="en-US" sz="1000" dirty="0" err="1"/>
              <a:t>IsActive</a:t>
            </a:r>
            <a:r>
              <a:rPr lang="en-US" sz="1000" dirty="0"/>
              <a:t> = Yes</a:t>
            </a:r>
          </a:p>
          <a:p>
            <a:endParaRPr lang="en-US" sz="1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E13E78-CFC9-839D-F91F-1DE1FCB83D12}"/>
              </a:ext>
            </a:extLst>
          </p:cNvPr>
          <p:cNvSpPr txBox="1"/>
          <p:nvPr/>
        </p:nvSpPr>
        <p:spPr>
          <a:xfrm>
            <a:off x="3982065" y="681676"/>
            <a:ext cx="3431459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3. Anomaly Details:</a:t>
            </a:r>
          </a:p>
          <a:p>
            <a:r>
              <a:rPr lang="en-US" sz="1000" dirty="0"/>
              <a:t>   - Auto-generated analysis based on flag type</a:t>
            </a:r>
          </a:p>
          <a:p>
            <a:r>
              <a:rPr lang="en-US" sz="1000" dirty="0"/>
              <a:t>   - Shows specific numbers and percentages</a:t>
            </a:r>
          </a:p>
          <a:p>
            <a:r>
              <a:rPr lang="en-US" sz="1000" dirty="0"/>
              <a:t>   - Historical context (6-month average)</a:t>
            </a:r>
          </a:p>
          <a:p>
            <a:r>
              <a:rPr lang="en-US" sz="1000" dirty="0"/>
              <a:t>   - Suggested possible causes (predefined list based on patterns)</a:t>
            </a:r>
          </a:p>
          <a:p>
            <a:r>
              <a:rPr lang="en-US" sz="1000" dirty="0"/>
              <a:t>   </a:t>
            </a:r>
          </a:p>
          <a:p>
            <a:r>
              <a:rPr lang="en-US" sz="1000" dirty="0"/>
              <a:t>4. Coordinator Notes:</a:t>
            </a:r>
          </a:p>
          <a:p>
            <a:r>
              <a:rPr lang="en-US" sz="1000" dirty="0"/>
              <a:t>   - Pulled from </a:t>
            </a:r>
            <a:r>
              <a:rPr lang="en-US" sz="1000" dirty="0" err="1"/>
              <a:t>VolumeSubmissions.ValidationNotes</a:t>
            </a:r>
            <a:endParaRPr lang="en-US" sz="1000" dirty="0"/>
          </a:p>
          <a:p>
            <a:r>
              <a:rPr lang="en-US" sz="1000" dirty="0"/>
              <a:t>   - Shows if coordinator provided explanation during submission</a:t>
            </a:r>
          </a:p>
          <a:p>
            <a:r>
              <a:rPr lang="en-US" sz="1000" dirty="0"/>
              <a:t>   - Empty if no notes provided</a:t>
            </a:r>
          </a:p>
          <a:p>
            <a:endParaRPr lang="en-US" sz="1000" dirty="0"/>
          </a:p>
          <a:p>
            <a:r>
              <a:rPr lang="en-US" sz="1000" dirty="0"/>
              <a:t>ANALYST ACTIONS:</a:t>
            </a:r>
          </a:p>
          <a:p>
            <a:endParaRPr lang="en-US" sz="1000" dirty="0"/>
          </a:p>
          <a:p>
            <a:r>
              <a:rPr lang="en-US" sz="1000" dirty="0"/>
              <a:t>1. Approve &amp; Continue:</a:t>
            </a:r>
          </a:p>
          <a:p>
            <a:r>
              <a:rPr lang="en-US" sz="1000" dirty="0"/>
              <a:t>   - Changes submission Status to 'Validated'</a:t>
            </a:r>
          </a:p>
          <a:p>
            <a:r>
              <a:rPr lang="en-US" sz="1000" dirty="0"/>
              <a:t>   - Changes all related </a:t>
            </a:r>
            <a:r>
              <a:rPr lang="en-US" sz="1000" dirty="0" err="1"/>
              <a:t>DataQualityFlags</a:t>
            </a:r>
            <a:r>
              <a:rPr lang="en-US" sz="1000" dirty="0"/>
              <a:t> Status to 'Dismissed'</a:t>
            </a:r>
          </a:p>
          <a:p>
            <a:r>
              <a:rPr lang="en-US" sz="1000" dirty="0"/>
              <a:t>   - Sets </a:t>
            </a:r>
            <a:r>
              <a:rPr lang="en-US" sz="1000" dirty="0" err="1"/>
              <a:t>ValidatedDate</a:t>
            </a:r>
            <a:r>
              <a:rPr lang="en-US" sz="1000" dirty="0"/>
              <a:t>, </a:t>
            </a:r>
            <a:r>
              <a:rPr lang="en-US" sz="1000" dirty="0" err="1"/>
              <a:t>ValidatedByEmail</a:t>
            </a:r>
            <a:r>
              <a:rPr lang="en-US" sz="1000" dirty="0"/>
              <a:t>, </a:t>
            </a:r>
            <a:r>
              <a:rPr lang="en-US" sz="1000" dirty="0" err="1"/>
              <a:t>ValidatedByName</a:t>
            </a:r>
            <a:endParaRPr lang="en-US" sz="1000" dirty="0"/>
          </a:p>
          <a:p>
            <a:r>
              <a:rPr lang="en-US" sz="1000" dirty="0"/>
              <a:t>   - Adds analyst notes to </a:t>
            </a:r>
            <a:r>
              <a:rPr lang="en-US" sz="1000" dirty="0" err="1"/>
              <a:t>ValidationNotes</a:t>
            </a:r>
            <a:r>
              <a:rPr lang="en-US" sz="1000" dirty="0"/>
              <a:t> field</a:t>
            </a:r>
          </a:p>
          <a:p>
            <a:r>
              <a:rPr lang="en-US" sz="1000" dirty="0"/>
              <a:t>   - Logs action in </a:t>
            </a:r>
            <a:r>
              <a:rPr lang="en-US" sz="1000" dirty="0" err="1"/>
              <a:t>tbl_SubmissionHistory</a:t>
            </a:r>
            <a:endParaRPr lang="en-US" sz="1000" dirty="0"/>
          </a:p>
          <a:p>
            <a:r>
              <a:rPr lang="en-US" sz="1000" dirty="0"/>
              <a:t>   - Auto-advances to next item in queue</a:t>
            </a:r>
          </a:p>
          <a:p>
            <a:r>
              <a:rPr lang="en-US" sz="1000" dirty="0"/>
              <a:t>   - Sends email notification to coordinator (approved)</a:t>
            </a:r>
          </a:p>
          <a:p>
            <a:endParaRPr lang="en-US" sz="1000" dirty="0"/>
          </a:p>
          <a:p>
            <a:r>
              <a:rPr lang="en-US" sz="1000" dirty="0"/>
              <a:t>2. Request Clarification:</a:t>
            </a:r>
          </a:p>
          <a:p>
            <a:r>
              <a:rPr lang="en-US" sz="1000" dirty="0"/>
              <a:t>   - Keeps Status as 'Flagged'</a:t>
            </a:r>
          </a:p>
          <a:p>
            <a:r>
              <a:rPr lang="en-US" sz="1000" dirty="0"/>
              <a:t>   - Changes </a:t>
            </a:r>
            <a:r>
              <a:rPr lang="en-US" sz="1000" dirty="0" err="1"/>
              <a:t>DataQualityFlags</a:t>
            </a:r>
            <a:r>
              <a:rPr lang="en-US" sz="1000" dirty="0"/>
              <a:t> Status to 'Pending Response'</a:t>
            </a:r>
          </a:p>
          <a:p>
            <a:r>
              <a:rPr lang="en-US" sz="1000" dirty="0"/>
              <a:t>   - Sends email to coordinator with analyst's questions</a:t>
            </a:r>
          </a:p>
          <a:p>
            <a:r>
              <a:rPr lang="en-US" sz="1000" dirty="0"/>
              <a:t>   - Logs communication in </a:t>
            </a:r>
            <a:r>
              <a:rPr lang="en-US" sz="1000" dirty="0" err="1"/>
              <a:t>tbl_Communications</a:t>
            </a:r>
            <a:endParaRPr lang="en-US" sz="1000" dirty="0"/>
          </a:p>
          <a:p>
            <a:r>
              <a:rPr lang="en-US" sz="1000" dirty="0"/>
              <a:t>   - Submission moves to "Waiting for Response" queue</a:t>
            </a:r>
          </a:p>
          <a:p>
            <a:r>
              <a:rPr lang="en-US" sz="1000" dirty="0"/>
              <a:t>   - Coordinator receives email with link to respond</a:t>
            </a:r>
          </a:p>
          <a:p>
            <a:r>
              <a:rPr lang="en-US" sz="1000" dirty="0"/>
              <a:t>   - Analyst notified when coordinator responds</a:t>
            </a:r>
          </a:p>
          <a:p>
            <a:endParaRPr lang="en-US" sz="1000" dirty="0"/>
          </a:p>
          <a:p>
            <a:endParaRPr lang="en-US" sz="1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8CC7FC-5B56-145F-B842-35D8F8B8A2CA}"/>
              </a:ext>
            </a:extLst>
          </p:cNvPr>
          <p:cNvSpPr txBox="1"/>
          <p:nvPr/>
        </p:nvSpPr>
        <p:spPr>
          <a:xfrm>
            <a:off x="7413524" y="681676"/>
            <a:ext cx="3431459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3. Manual Adjust:</a:t>
            </a:r>
          </a:p>
          <a:p>
            <a:r>
              <a:rPr lang="en-US" sz="1000" dirty="0"/>
              <a:t>   - Opens inline edit form</a:t>
            </a:r>
          </a:p>
          <a:p>
            <a:r>
              <a:rPr lang="en-US" sz="1000" dirty="0"/>
              <a:t>   - Shows current values in editable fields</a:t>
            </a:r>
          </a:p>
          <a:p>
            <a:r>
              <a:rPr lang="en-US" sz="1000" dirty="0"/>
              <a:t>   - Requires reason code (dropdown + free text)</a:t>
            </a:r>
          </a:p>
          <a:p>
            <a:r>
              <a:rPr lang="en-US" sz="1000" dirty="0"/>
              <a:t>   - Changes Status to 'Validated'</a:t>
            </a:r>
          </a:p>
          <a:p>
            <a:r>
              <a:rPr lang="en-US" sz="1000" dirty="0"/>
              <a:t>   - Logs original and new values in </a:t>
            </a:r>
            <a:r>
              <a:rPr lang="en-US" sz="1000" dirty="0" err="1"/>
              <a:t>tbl_SubmissionHistory</a:t>
            </a:r>
            <a:endParaRPr lang="en-US" sz="1000" dirty="0"/>
          </a:p>
          <a:p>
            <a:r>
              <a:rPr lang="en-US" sz="1000" dirty="0"/>
              <a:t>   - Sets flag: </a:t>
            </a:r>
            <a:r>
              <a:rPr lang="en-US" sz="1000" dirty="0" err="1"/>
              <a:t>ManuallyAdjusted</a:t>
            </a:r>
            <a:r>
              <a:rPr lang="en-US" sz="1000" dirty="0"/>
              <a:t> = Yes</a:t>
            </a:r>
          </a:p>
          <a:p>
            <a:r>
              <a:rPr lang="en-US" sz="1000" dirty="0"/>
              <a:t>   - Audit trail preserved</a:t>
            </a:r>
          </a:p>
          <a:p>
            <a:r>
              <a:rPr lang="en-US" sz="1000" dirty="0"/>
              <a:t>   - Coordinator notified of adjustment with explanation</a:t>
            </a:r>
          </a:p>
          <a:p>
            <a:endParaRPr lang="en-US" sz="1000" dirty="0"/>
          </a:p>
          <a:p>
            <a:r>
              <a:rPr lang="en-US" sz="1000" dirty="0"/>
              <a:t>4. Skip for Now:</a:t>
            </a:r>
          </a:p>
          <a:p>
            <a:r>
              <a:rPr lang="en-US" sz="1000" dirty="0"/>
              <a:t>   - No status changes</a:t>
            </a:r>
          </a:p>
          <a:p>
            <a:r>
              <a:rPr lang="en-US" sz="1000" dirty="0"/>
              <a:t>   - Moves to end of review queue</a:t>
            </a:r>
          </a:p>
          <a:p>
            <a:r>
              <a:rPr lang="en-US" sz="1000" dirty="0"/>
              <a:t>   - Allows analyst to come back later</a:t>
            </a:r>
          </a:p>
          <a:p>
            <a:r>
              <a:rPr lang="en-US" sz="1000" dirty="0"/>
              <a:t>   - Logs that item was skipped (analytics on difficult reviews)</a:t>
            </a:r>
          </a:p>
          <a:p>
            <a:endParaRPr lang="en-US" sz="1000" dirty="0"/>
          </a:p>
          <a:p>
            <a:r>
              <a:rPr lang="en-US" sz="1000" dirty="0"/>
              <a:t>RESOLUTION DROPDOWN:</a:t>
            </a:r>
          </a:p>
          <a:p>
            <a:r>
              <a:rPr lang="en-US" sz="1000" dirty="0"/>
              <a:t>- Approve: Standard approval (no edits needed)</a:t>
            </a:r>
          </a:p>
          <a:p>
            <a:r>
              <a:rPr lang="en-US" sz="1000" dirty="0"/>
              <a:t>- Request Clarification: Send questions to coordinator</a:t>
            </a:r>
          </a:p>
          <a:p>
            <a:r>
              <a:rPr lang="en-US" sz="1000" dirty="0"/>
              <a:t>- Reject: Not used often (sends back for resubmission)</a:t>
            </a:r>
          </a:p>
          <a:p>
            <a:r>
              <a:rPr lang="en-US" sz="1000" dirty="0"/>
              <a:t>- Manually Adjust: Analyst makes corrections</a:t>
            </a:r>
          </a:p>
          <a:p>
            <a:endParaRPr lang="en-US" sz="1000" dirty="0"/>
          </a:p>
          <a:p>
            <a:r>
              <a:rPr lang="en-US" sz="1000" dirty="0"/>
              <a:t>MESSAGE TEMPLATES (Request Clarification):</a:t>
            </a:r>
          </a:p>
          <a:p>
            <a:r>
              <a:rPr lang="en-US" sz="1000" dirty="0"/>
              <a:t>- "Missing Data Explanation" - "Please provide explanation for zero volumes"</a:t>
            </a:r>
          </a:p>
          <a:p>
            <a:r>
              <a:rPr lang="en-US" sz="1000" dirty="0"/>
              <a:t>- "Variance Explanation" - "Please explain significant variance from prior month"</a:t>
            </a:r>
          </a:p>
          <a:p>
            <a:r>
              <a:rPr lang="en-US" sz="1000" dirty="0"/>
              <a:t>- "Budget Misalignment" - "Volumes significantly different from budget, please verify"</a:t>
            </a:r>
          </a:p>
          <a:p>
            <a:r>
              <a:rPr lang="en-US" sz="1000" dirty="0"/>
              <a:t>- "Data Entry Error?" - "Values seem unusual, please double-check entry"</a:t>
            </a:r>
          </a:p>
          <a:p>
            <a:r>
              <a:rPr lang="en-US" sz="1000" dirty="0"/>
              <a:t>- Custom - Analyst writes own message</a:t>
            </a:r>
          </a:p>
          <a:p>
            <a:endParaRPr lang="en-US" sz="1000" dirty="0"/>
          </a:p>
          <a:p>
            <a:r>
              <a:rPr lang="en-US" sz="1000" dirty="0"/>
              <a:t>QUEUE NAVIGATION:</a:t>
            </a:r>
          </a:p>
          <a:p>
            <a:r>
              <a:rPr lang="en-US" sz="1000" dirty="0"/>
              <a:t>- Sequential: Previous/Next buttons</a:t>
            </a:r>
          </a:p>
          <a:p>
            <a:r>
              <a:rPr lang="en-US" sz="1000" dirty="0"/>
              <a:t>- Jump to: Dropdown showing all queued items</a:t>
            </a:r>
          </a:p>
          <a:p>
            <a:r>
              <a:rPr lang="en-US" sz="1000" dirty="0"/>
              <a:t>- Return to overview: Back button</a:t>
            </a:r>
          </a:p>
          <a:p>
            <a:r>
              <a:rPr lang="en-US" sz="1000" dirty="0"/>
              <a:t>- Auto-advance after Approve (configurable in settings)</a:t>
            </a:r>
          </a:p>
          <a:p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4754283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88A39-DBF3-138D-00C9-E1D092191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38B88-B804-9B01-0EA9-F0C391AA7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756" y="127485"/>
            <a:ext cx="10515600" cy="554191"/>
          </a:xfrm>
        </p:spPr>
        <p:txBody>
          <a:bodyPr>
            <a:normAutofit/>
          </a:bodyPr>
          <a:lstStyle/>
          <a:p>
            <a:r>
              <a:rPr lang="en-US" sz="3200" dirty="0"/>
              <a:t>Screen 2: Review Queue - Technical Specs (2)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A816269-B37A-8A61-6F52-D2D1AFB9C204}"/>
              </a:ext>
            </a:extLst>
          </p:cNvPr>
          <p:cNvSpPr txBox="1"/>
          <p:nvPr/>
        </p:nvSpPr>
        <p:spPr>
          <a:xfrm>
            <a:off x="550606" y="681676"/>
            <a:ext cx="3431459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PRIORITY CALCULATION:</a:t>
            </a:r>
          </a:p>
          <a:p>
            <a:r>
              <a:rPr lang="en-US" sz="1000" dirty="0"/>
              <a:t>- Critical: Multiple flags OR variance &gt;50%</a:t>
            </a:r>
          </a:p>
          <a:p>
            <a:r>
              <a:rPr lang="en-US" sz="1000" dirty="0"/>
              <a:t>- High: Single anomaly flag OR variance &gt;25%</a:t>
            </a:r>
          </a:p>
          <a:p>
            <a:r>
              <a:rPr lang="en-US" sz="1000" dirty="0"/>
              <a:t>- Medium: Budget variance OR missing data</a:t>
            </a:r>
          </a:p>
          <a:p>
            <a:r>
              <a:rPr lang="en-US" sz="1000" dirty="0"/>
              <a:t>- Low: Format issues OR minor discrepancies</a:t>
            </a:r>
          </a:p>
          <a:p>
            <a:endParaRPr lang="en-US" sz="1000" dirty="0"/>
          </a:p>
          <a:p>
            <a:r>
              <a:rPr lang="en-US" sz="1000" dirty="0"/>
              <a:t>COMPARISON DATA SOURCES:</a:t>
            </a:r>
          </a:p>
          <a:p>
            <a:r>
              <a:rPr lang="en-US" sz="1000" dirty="0"/>
              <a:t>- Budget: Most recent submission where </a:t>
            </a:r>
            <a:r>
              <a:rPr lang="en-US" sz="1000" dirty="0" err="1"/>
              <a:t>BudgetVolume</a:t>
            </a:r>
            <a:r>
              <a:rPr lang="en-US" sz="1000" dirty="0"/>
              <a:t> IS NOT NULL for that test/country</a:t>
            </a:r>
          </a:p>
          <a:p>
            <a:r>
              <a:rPr lang="en-US" sz="1000" dirty="0"/>
              <a:t>- Prior Month: </a:t>
            </a:r>
            <a:r>
              <a:rPr lang="en-US" sz="1000" dirty="0" err="1"/>
              <a:t>VolumeSubmissions</a:t>
            </a:r>
            <a:r>
              <a:rPr lang="en-US" sz="1000" dirty="0"/>
              <a:t> WHERE </a:t>
            </a:r>
            <a:r>
              <a:rPr lang="en-US" sz="1000" dirty="0" err="1"/>
              <a:t>SubmissionMonth</a:t>
            </a:r>
            <a:r>
              <a:rPr lang="en-US" sz="1000" dirty="0"/>
              <a:t> = [Current Month - 1 month]</a:t>
            </a:r>
          </a:p>
          <a:p>
            <a:r>
              <a:rPr lang="en-US" sz="1000" dirty="0"/>
              <a:t>- Historical Avg: AVG of </a:t>
            </a:r>
            <a:r>
              <a:rPr lang="en-US" sz="1000" dirty="0" err="1"/>
              <a:t>ActualVolume</a:t>
            </a:r>
            <a:r>
              <a:rPr lang="en-US" sz="1000" dirty="0"/>
              <a:t> for past 6 months (if available)</a:t>
            </a:r>
          </a:p>
          <a:p>
            <a:endParaRPr lang="en-US" sz="1000" dirty="0"/>
          </a:p>
          <a:p>
            <a:r>
              <a:rPr lang="en-US" sz="1000" dirty="0"/>
              <a:t>TOLERANCE THRESHOLDS:</a:t>
            </a:r>
          </a:p>
          <a:p>
            <a:r>
              <a:rPr lang="en-US" sz="1000" dirty="0"/>
              <a:t>- Pulled from </a:t>
            </a:r>
            <a:r>
              <a:rPr lang="en-US" sz="1000" dirty="0" err="1"/>
              <a:t>tbl_SystemConfig</a:t>
            </a:r>
            <a:endParaRPr lang="en-US" sz="1000" dirty="0"/>
          </a:p>
          <a:p>
            <a:r>
              <a:rPr lang="en-US" sz="1000" dirty="0"/>
              <a:t>- </a:t>
            </a:r>
            <a:r>
              <a:rPr lang="en-US" sz="1000" dirty="0" err="1"/>
              <a:t>AnomalyThresholdPct</a:t>
            </a:r>
            <a:r>
              <a:rPr lang="en-US" sz="1000" dirty="0"/>
              <a:t> (default 50%)</a:t>
            </a:r>
          </a:p>
          <a:p>
            <a:r>
              <a:rPr lang="en-US" sz="1000" dirty="0"/>
              <a:t>- </a:t>
            </a:r>
            <a:r>
              <a:rPr lang="en-US" sz="1000" dirty="0" err="1"/>
              <a:t>BudgetVarianceThresholdPct</a:t>
            </a:r>
            <a:r>
              <a:rPr lang="en-US" sz="1000" dirty="0"/>
              <a:t> (default 25%)</a:t>
            </a:r>
          </a:p>
          <a:p>
            <a:r>
              <a:rPr lang="en-US" sz="1000" dirty="0"/>
              <a:t>- Configurable by test type (some tests more volatile)</a:t>
            </a:r>
          </a:p>
          <a:p>
            <a:endParaRPr lang="en-US" sz="1000" dirty="0"/>
          </a:p>
          <a:p>
            <a:r>
              <a:rPr lang="en-US" sz="1000" dirty="0"/>
              <a:t>PERFORMANCE CONSIDERATIONS:</a:t>
            </a:r>
          </a:p>
          <a:p>
            <a:r>
              <a:rPr lang="en-US" sz="1000" dirty="0"/>
              <a:t>- Load comparison data when card displayed (not all at once)</a:t>
            </a:r>
          </a:p>
          <a:p>
            <a:r>
              <a:rPr lang="en-US" sz="1000" dirty="0"/>
              <a:t>- Cache prior month data (doesn't change)</a:t>
            </a:r>
          </a:p>
          <a:p>
            <a:r>
              <a:rPr lang="en-US" sz="1000" dirty="0"/>
              <a:t>- Prefetch next item in queue for faster navigation</a:t>
            </a:r>
          </a:p>
          <a:p>
            <a:r>
              <a:rPr lang="en-US" sz="1000" dirty="0"/>
              <a:t>- Limit historical analysis to 6 months (performance)</a:t>
            </a:r>
          </a:p>
          <a:p>
            <a:endParaRPr lang="en-US" sz="1000" dirty="0"/>
          </a:p>
          <a:p>
            <a:r>
              <a:rPr lang="en-US" sz="1000" dirty="0"/>
              <a:t>KEYBOARD SHORTCUTS (Power User Feature):</a:t>
            </a:r>
          </a:p>
          <a:p>
            <a:r>
              <a:rPr lang="en-US" sz="1000" dirty="0"/>
              <a:t>- </a:t>
            </a:r>
            <a:r>
              <a:rPr lang="en-US" sz="1000" dirty="0" err="1"/>
              <a:t>Ctrl+A</a:t>
            </a:r>
            <a:r>
              <a:rPr lang="en-US" sz="1000" dirty="0"/>
              <a:t>: Approve &amp; Continue</a:t>
            </a:r>
          </a:p>
          <a:p>
            <a:r>
              <a:rPr lang="en-US" sz="1000" dirty="0"/>
              <a:t>- </a:t>
            </a:r>
            <a:r>
              <a:rPr lang="en-US" sz="1000" dirty="0" err="1"/>
              <a:t>Ctrl+R</a:t>
            </a:r>
            <a:r>
              <a:rPr lang="en-US" sz="1000" dirty="0"/>
              <a:t>: Request Clarification</a:t>
            </a:r>
          </a:p>
          <a:p>
            <a:r>
              <a:rPr lang="en-US" sz="1000" dirty="0"/>
              <a:t>- </a:t>
            </a:r>
            <a:r>
              <a:rPr lang="en-US" sz="1000" dirty="0" err="1"/>
              <a:t>Ctrl+E</a:t>
            </a:r>
            <a:r>
              <a:rPr lang="en-US" sz="1000" dirty="0"/>
              <a:t>: Manual Adjust</a:t>
            </a:r>
          </a:p>
          <a:p>
            <a:r>
              <a:rPr lang="en-US" sz="1000" dirty="0"/>
              <a:t>- </a:t>
            </a:r>
            <a:r>
              <a:rPr lang="en-US" sz="1000" dirty="0" err="1"/>
              <a:t>Ctrl+S</a:t>
            </a:r>
            <a:r>
              <a:rPr lang="en-US" sz="1000" dirty="0"/>
              <a:t>: Skip</a:t>
            </a:r>
          </a:p>
          <a:p>
            <a:r>
              <a:rPr lang="en-US" sz="1000" dirty="0"/>
              <a:t>- Arrow keys: Previous/Next</a:t>
            </a:r>
          </a:p>
          <a:p>
            <a:r>
              <a:rPr lang="en-US" sz="1000" dirty="0"/>
              <a:t>- </a:t>
            </a:r>
            <a:r>
              <a:rPr lang="en-US" sz="1000" dirty="0" err="1"/>
              <a:t>Ctrl+H</a:t>
            </a:r>
            <a:r>
              <a:rPr lang="en-US" sz="1000" dirty="0"/>
              <a:t>: View full submission history</a:t>
            </a:r>
          </a:p>
          <a:p>
            <a:endParaRPr lang="en-US" sz="1000" dirty="0"/>
          </a:p>
          <a:p>
            <a:endParaRPr lang="en-US" sz="1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CDA56A-EC5F-FFE3-4862-B1A193580CA2}"/>
              </a:ext>
            </a:extLst>
          </p:cNvPr>
          <p:cNvSpPr txBox="1"/>
          <p:nvPr/>
        </p:nvSpPr>
        <p:spPr>
          <a:xfrm>
            <a:off x="3982065" y="681676"/>
            <a:ext cx="3431459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EMAIL NOTIFICATIONS:</a:t>
            </a:r>
          </a:p>
          <a:p>
            <a:r>
              <a:rPr lang="en-US" sz="1000" dirty="0"/>
              <a:t>- Approved: "Your submission for [Country] [Month] has been validated"</a:t>
            </a:r>
          </a:p>
          <a:p>
            <a:r>
              <a:rPr lang="en-US" sz="1000" dirty="0"/>
              <a:t>- Clarification: "Questions about your [Month] submission" (includes analyst message)</a:t>
            </a:r>
          </a:p>
          <a:p>
            <a:r>
              <a:rPr lang="en-US" sz="1000" dirty="0"/>
              <a:t>- Manually Adjusted: "Your submission has been adjusted by analyst" (includes what changed)</a:t>
            </a:r>
          </a:p>
          <a:p>
            <a:endParaRPr lang="en-US" sz="1000" dirty="0"/>
          </a:p>
          <a:p>
            <a:r>
              <a:rPr lang="en-US" sz="1000" dirty="0"/>
              <a:t>POWER APPS IMPLEMENTATION:</a:t>
            </a:r>
          </a:p>
          <a:p>
            <a:r>
              <a:rPr lang="en-US" sz="1000" dirty="0"/>
              <a:t>- Form control (not Gallery) for focused one-at-a-time review</a:t>
            </a:r>
          </a:p>
          <a:p>
            <a:r>
              <a:rPr lang="en-US" sz="1000" dirty="0"/>
              <a:t>- Context variable: </a:t>
            </a:r>
            <a:r>
              <a:rPr lang="en-US" sz="1000" dirty="0" err="1"/>
              <a:t>varCurrentReviewItem</a:t>
            </a:r>
            <a:endParaRPr lang="en-US" sz="1000" dirty="0"/>
          </a:p>
          <a:p>
            <a:r>
              <a:rPr lang="en-US" sz="1000" dirty="0"/>
              <a:t>- Navigate with </a:t>
            </a:r>
            <a:r>
              <a:rPr lang="en-US" sz="1000" dirty="0" err="1"/>
              <a:t>UpdateContext</a:t>
            </a:r>
            <a:r>
              <a:rPr lang="en-US" sz="1000" dirty="0"/>
              <a:t> to change current item</a:t>
            </a:r>
          </a:p>
          <a:p>
            <a:r>
              <a:rPr lang="en-US" sz="1000" dirty="0"/>
              <a:t>- Patch() for status updates</a:t>
            </a:r>
          </a:p>
          <a:p>
            <a:r>
              <a:rPr lang="en-US" sz="1000" dirty="0"/>
              <a:t>- Concurrent() for multiple table updates (submission + flags + history)</a:t>
            </a:r>
          </a:p>
          <a:p>
            <a:r>
              <a:rPr lang="en-US" sz="1000" dirty="0"/>
              <a:t>- Collection for queue (</a:t>
            </a:r>
            <a:r>
              <a:rPr lang="en-US" sz="1000" dirty="0" err="1"/>
              <a:t>colReviewQueue</a:t>
            </a:r>
            <a:r>
              <a:rPr lang="en-US" sz="1000" dirty="0"/>
              <a:t>) - refresh after each action</a:t>
            </a:r>
          </a:p>
          <a:p>
            <a:r>
              <a:rPr lang="en-US" sz="1000" dirty="0"/>
              <a:t>- Filtered Gallery on right showing remaining queue items</a:t>
            </a:r>
          </a:p>
          <a:p>
            <a:r>
              <a:rPr lang="en-US" sz="1000" dirty="0"/>
              <a:t>- Timer for session tracking (how long on each review)</a:t>
            </a:r>
          </a:p>
          <a:p>
            <a:endParaRPr lang="en-US" sz="1000" dirty="0"/>
          </a:p>
          <a:p>
            <a:r>
              <a:rPr lang="en-US" sz="1000" dirty="0"/>
              <a:t>ACCESSIBILITY:</a:t>
            </a:r>
          </a:p>
          <a:p>
            <a:r>
              <a:rPr lang="en-US" sz="1000" dirty="0"/>
              <a:t>- Tab order: Card header → Comparison table → Notes → Actions</a:t>
            </a:r>
          </a:p>
          <a:p>
            <a:r>
              <a:rPr lang="en-US" sz="1000" dirty="0"/>
              <a:t>- Screen reader labels on all buttons</a:t>
            </a:r>
          </a:p>
          <a:p>
            <a:r>
              <a:rPr lang="en-US" sz="1000" dirty="0"/>
              <a:t>- Keyboard navigation throughout</a:t>
            </a:r>
          </a:p>
          <a:p>
            <a:r>
              <a:rPr lang="en-US" sz="1000" dirty="0"/>
              <a:t>- High contrast mode support</a:t>
            </a:r>
          </a:p>
          <a:p>
            <a:endParaRPr lang="en-US" sz="1000" dirty="0"/>
          </a:p>
          <a:p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9722179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DE9D1-D9AD-9D8F-301B-C68597F22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5ED6F-A2B6-5E80-B64A-3FEBCC98D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420" y="88028"/>
            <a:ext cx="10515600" cy="554191"/>
          </a:xfrm>
        </p:spPr>
        <p:txBody>
          <a:bodyPr>
            <a:normAutofit/>
          </a:bodyPr>
          <a:lstStyle/>
          <a:p>
            <a:r>
              <a:rPr lang="en-US" sz="3200" dirty="0"/>
              <a:t>Screen 3: Manual Entry 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5A52CE-C411-21E2-CBD2-FDEEBCDF51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420" y="623925"/>
            <a:ext cx="10515600" cy="353901"/>
          </a:xfrm>
        </p:spPr>
        <p:txBody>
          <a:bodyPr>
            <a:normAutofit lnSpcReduction="10000"/>
          </a:bodyPr>
          <a:lstStyle/>
          <a:p>
            <a:r>
              <a:rPr lang="en-US" sz="2000" dirty="0"/>
              <a:t>Emergency/phone volume entry with audit trail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C97591C-9864-8571-FF01-1ED83225DB5E}"/>
              </a:ext>
            </a:extLst>
          </p:cNvPr>
          <p:cNvSpPr/>
          <p:nvPr/>
        </p:nvSpPr>
        <p:spPr>
          <a:xfrm>
            <a:off x="540773" y="977826"/>
            <a:ext cx="10653246" cy="564911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┌─────────────┐</a:t>
            </a:r>
          </a:p>
          <a:p>
            <a:pPr algn="ctr"/>
            <a:r>
              <a:rPr lang="en-US" dirty="0"/>
              <a:t>│   PENDING   │</a:t>
            </a:r>
          </a:p>
          <a:p>
            <a:pPr algn="ctr"/>
            <a:r>
              <a:rPr lang="en-US" dirty="0"/>
              <a:t>│      8      │</a:t>
            </a:r>
          </a:p>
          <a:p>
            <a:pPr algn="ctr"/>
            <a:r>
              <a:rPr lang="en-US" dirty="0"/>
              <a:t>│   Review    │</a:t>
            </a:r>
          </a:p>
          <a:p>
            <a:pPr algn="ctr"/>
            <a:r>
              <a:rPr lang="en-US" dirty="0"/>
              <a:t>└─────────────┘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897404E-99A0-4A7F-F8AA-EEBBDEB76DD9}"/>
              </a:ext>
            </a:extLst>
          </p:cNvPr>
          <p:cNvSpPr/>
          <p:nvPr/>
        </p:nvSpPr>
        <p:spPr>
          <a:xfrm>
            <a:off x="550290" y="976276"/>
            <a:ext cx="10653246" cy="26161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🏢 </a:t>
            </a:r>
            <a:r>
              <a:rPr lang="en-US" dirty="0">
                <a:solidFill>
                  <a:schemeClr val="tx1"/>
                </a:solidFill>
              </a:rPr>
              <a:t>Data Quality Dashboard | Analyst: Alice Katt | [Settings]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1C913FD1-729C-7931-300F-91503AEA35B4}"/>
              </a:ext>
            </a:extLst>
          </p:cNvPr>
          <p:cNvSpPr/>
          <p:nvPr/>
        </p:nvSpPr>
        <p:spPr>
          <a:xfrm>
            <a:off x="5312478" y="6047024"/>
            <a:ext cx="1317523" cy="26161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Save &amp; Submit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19A159EA-54C6-553F-F114-A801249DB896}"/>
              </a:ext>
            </a:extLst>
          </p:cNvPr>
          <p:cNvSpPr/>
          <p:nvPr/>
        </p:nvSpPr>
        <p:spPr>
          <a:xfrm>
            <a:off x="6830026" y="6047024"/>
            <a:ext cx="1317523" cy="261610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Save as Draft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5BB8D49B-6DA8-156D-D532-408512DD6474}"/>
              </a:ext>
            </a:extLst>
          </p:cNvPr>
          <p:cNvSpPr/>
          <p:nvPr/>
        </p:nvSpPr>
        <p:spPr>
          <a:xfrm>
            <a:off x="8377379" y="6037223"/>
            <a:ext cx="1317523" cy="26161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rgbClr val="FF0000"/>
                </a:solidFill>
              </a:rPr>
              <a:t>Cancel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75FA40-764C-FAF6-1AC7-0C0413DCAEDE}"/>
              </a:ext>
            </a:extLst>
          </p:cNvPr>
          <p:cNvSpPr txBox="1"/>
          <p:nvPr/>
        </p:nvSpPr>
        <p:spPr>
          <a:xfrm>
            <a:off x="531256" y="1252113"/>
            <a:ext cx="56609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[ ← Back to Overview ] Home &gt; Manual Entry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5124F0-4A8D-8DF0-A89C-3FBF703EB9AC}"/>
              </a:ext>
            </a:extLst>
          </p:cNvPr>
          <p:cNvSpPr/>
          <p:nvPr/>
        </p:nvSpPr>
        <p:spPr>
          <a:xfrm>
            <a:off x="670729" y="1590237"/>
            <a:ext cx="10412367" cy="50189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⚠️ </a:t>
            </a:r>
            <a:r>
              <a:rPr lang="en-US" sz="1600" dirty="0">
                <a:solidFill>
                  <a:schemeClr val="tx1"/>
                </a:solidFill>
              </a:rPr>
              <a:t>MANUAL ENTRY MODE - This submission will be marked as analyst-entered and require reason documentation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D6C8D6-594A-818A-0F29-8C7F267739DD}"/>
              </a:ext>
            </a:extLst>
          </p:cNvPr>
          <p:cNvSpPr txBox="1"/>
          <p:nvPr/>
        </p:nvSpPr>
        <p:spPr>
          <a:xfrm>
            <a:off x="761216" y="2168641"/>
            <a:ext cx="4412229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Manual Entry Reason (Required)</a:t>
            </a:r>
            <a:br>
              <a:rPr lang="en-US" sz="1200" dirty="0"/>
            </a:br>
            <a:br>
              <a:rPr lang="en-US" sz="1200" dirty="0"/>
            </a:br>
            <a:r>
              <a:rPr lang="en-US" sz="1200" dirty="0"/>
              <a:t>Reason Code: [Select reason ▼]</a:t>
            </a:r>
          </a:p>
          <a:p>
            <a:r>
              <a:rPr lang="en-US" sz="1200" dirty="0"/>
              <a:t>Options: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Phone  Call from Coordinator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System Downtime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Coordinator Unable to Access Portal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Emergency Deadline Extension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Data Correction (Original Entry Error)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Other (explain below)</a:t>
            </a:r>
            <a:br>
              <a:rPr lang="en-US" sz="1200" dirty="0"/>
            </a:br>
            <a:br>
              <a:rPr lang="en-US" sz="1200" dirty="0"/>
            </a:br>
            <a:r>
              <a:rPr lang="en-US" sz="1200" dirty="0"/>
              <a:t>Detailed Explanation: [Required, minimum 50 characters]</a:t>
            </a:r>
          </a:p>
          <a:p>
            <a:r>
              <a:rPr lang="en-US" sz="1200" dirty="0"/>
              <a:t>     ______________________________________________________</a:t>
            </a:r>
          </a:p>
          <a:p>
            <a:r>
              <a:rPr lang="en-US" sz="1200" dirty="0"/>
              <a:t>     ______________________________________________________</a:t>
            </a:r>
          </a:p>
          <a:p>
            <a:r>
              <a:rPr lang="en-US" sz="1200" dirty="0"/>
              <a:t>     ______________________________________________________</a:t>
            </a:r>
            <a:br>
              <a:rPr lang="en-US" sz="1200" dirty="0"/>
            </a:br>
            <a:br>
              <a:rPr lang="en-US" sz="1200" dirty="0"/>
            </a:br>
            <a:r>
              <a:rPr lang="en-US" sz="1200" dirty="0"/>
              <a:t>Coordinator Contact Method:</a:t>
            </a:r>
          </a:p>
          <a:p>
            <a:r>
              <a:rPr lang="en-US" sz="1200" dirty="0"/>
              <a:t>○ Phone Call ○ Email ○ In Person ○ Teams/Slack </a:t>
            </a:r>
          </a:p>
          <a:p>
            <a:endParaRPr lang="en-US" sz="1200" dirty="0"/>
          </a:p>
          <a:p>
            <a:r>
              <a:rPr lang="en-US" sz="1200" dirty="0"/>
              <a:t>Coordinator Name: [___________________] </a:t>
            </a:r>
          </a:p>
          <a:p>
            <a:r>
              <a:rPr lang="en-US" sz="1200" dirty="0"/>
              <a:t>Coordinator Email: [___________________] </a:t>
            </a:r>
          </a:p>
          <a:p>
            <a:endParaRPr lang="en-US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B3D627-ECB4-2461-1B49-7F2197A3FA98}"/>
              </a:ext>
            </a:extLst>
          </p:cNvPr>
          <p:cNvSpPr txBox="1"/>
          <p:nvPr/>
        </p:nvSpPr>
        <p:spPr>
          <a:xfrm>
            <a:off x="5132740" y="2302595"/>
            <a:ext cx="595035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┌─────────────────────────────────────────────────────────────────────────┐</a:t>
            </a:r>
          </a:p>
          <a:p>
            <a:r>
              <a:rPr lang="en-US" sz="1200" dirty="0"/>
              <a:t>│ Test Type                                              │ Actual Volume │ Budget Volume │ Forecast Volume│</a:t>
            </a:r>
          </a:p>
          <a:p>
            <a:r>
              <a:rPr lang="en-US" sz="1200" dirty="0"/>
              <a:t>│──────────────────────────────┼───────────────┼───────────────┼───────</a:t>
            </a:r>
          </a:p>
          <a:p>
            <a:r>
              <a:rPr lang="en-US" sz="1200" dirty="0"/>
              <a:t>│ Leadership Fundamentals            │ [____450____] │ [_____500_____] │ [_____475____ _]  │</a:t>
            </a:r>
          </a:p>
          <a:p>
            <a:r>
              <a:rPr lang="en-US" sz="1200" dirty="0"/>
              <a:t>│ Data Analytics Essentials              │ [____320____] │ [_____350_____] │ [_____340____ _]  │</a:t>
            </a:r>
          </a:p>
          <a:p>
            <a:r>
              <a:rPr lang="en-US" sz="1200" dirty="0"/>
              <a:t>│ Project Management Cert Prep   │ [____125____] │ [_____150_____] │ [_____130____ _]  │</a:t>
            </a:r>
          </a:p>
          <a:p>
            <a:r>
              <a:rPr lang="en-US" sz="1200" dirty="0"/>
              <a:t>└─────────────────────────────────────────────────────────────────────────┘</a:t>
            </a:r>
          </a:p>
          <a:p>
            <a:endParaRPr lang="en-US" sz="1200" dirty="0"/>
          </a:p>
          <a:p>
            <a:r>
              <a:rPr lang="en-US" sz="1200" dirty="0"/>
              <a:t>* All fields accept whole numbers only (0-999999)</a:t>
            </a:r>
          </a:p>
          <a:p>
            <a:r>
              <a:rPr lang="en-US" sz="1200" dirty="0"/>
              <a:t>* At least one volume type required per test</a:t>
            </a:r>
            <a:br>
              <a:rPr lang="en-US" sz="1200" dirty="0"/>
            </a:br>
            <a:br>
              <a:rPr lang="en-US" sz="1200" dirty="0"/>
            </a:br>
            <a:r>
              <a:rPr lang="en-US" sz="1200" dirty="0"/>
              <a:t>☐ This entry contains estimated data</a:t>
            </a:r>
          </a:p>
          <a:p>
            <a:r>
              <a:rPr lang="en-US" sz="1200" dirty="0"/>
              <a:t>        Reason: [_________________________________]</a:t>
            </a:r>
          </a:p>
          <a:p>
            <a:r>
              <a:rPr lang="en-US" sz="1200" dirty="0"/>
              <a:t>        (Required if estimated data is checked)</a:t>
            </a:r>
          </a:p>
          <a:p>
            <a:endParaRPr lang="en-US" sz="1200" dirty="0"/>
          </a:p>
          <a:p>
            <a:r>
              <a:rPr lang="en-US" sz="1200" dirty="0"/>
              <a:t>Analyst Notes (Optional - for internal reference):</a:t>
            </a:r>
          </a:p>
          <a:p>
            <a:r>
              <a:rPr lang="en-US" sz="1200" dirty="0"/>
              <a:t>    [___________________________________________________________]</a:t>
            </a:r>
          </a:p>
          <a:p>
            <a:r>
              <a:rPr lang="en-US" sz="1200" dirty="0"/>
              <a:t>    [___________________________________________________________]</a:t>
            </a:r>
          </a:p>
        </p:txBody>
      </p:sp>
    </p:spTree>
    <p:extLst>
      <p:ext uri="{BB962C8B-B14F-4D97-AF65-F5344CB8AC3E}">
        <p14:creationId xmlns:p14="http://schemas.microsoft.com/office/powerpoint/2010/main" val="32025004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42088-1003-4EDD-7783-518994549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943B2-E4C7-A63A-B616-C7E6DA670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756" y="127485"/>
            <a:ext cx="10515600" cy="554191"/>
          </a:xfrm>
        </p:spPr>
        <p:txBody>
          <a:bodyPr>
            <a:normAutofit/>
          </a:bodyPr>
          <a:lstStyle/>
          <a:p>
            <a:r>
              <a:rPr lang="en-US" sz="3200" dirty="0"/>
              <a:t>Screen 3: Manual Entry Form - Technical Specs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A052C6C-D6B5-F255-C8D6-04912A39BCF4}"/>
              </a:ext>
            </a:extLst>
          </p:cNvPr>
          <p:cNvSpPr txBox="1"/>
          <p:nvPr/>
        </p:nvSpPr>
        <p:spPr>
          <a:xfrm>
            <a:off x="550606" y="681676"/>
            <a:ext cx="3431459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DATA SOURCES:</a:t>
            </a:r>
          </a:p>
          <a:p>
            <a:r>
              <a:rPr lang="en-US" sz="1000" dirty="0"/>
              <a:t>- </a:t>
            </a:r>
            <a:r>
              <a:rPr lang="en-US" sz="1000" dirty="0" err="1"/>
              <a:t>tbl_Countries</a:t>
            </a:r>
            <a:r>
              <a:rPr lang="en-US" sz="1000" dirty="0"/>
              <a:t> (for country dropdown - all countries, not filtered)</a:t>
            </a:r>
          </a:p>
          <a:p>
            <a:r>
              <a:rPr lang="en-US" sz="1000" dirty="0"/>
              <a:t>- </a:t>
            </a:r>
            <a:r>
              <a:rPr lang="en-US" sz="1000" dirty="0" err="1"/>
              <a:t>tbl_CountryTestTypes</a:t>
            </a:r>
            <a:r>
              <a:rPr lang="en-US" sz="1000" dirty="0"/>
              <a:t> (for test types based on selected country)</a:t>
            </a:r>
          </a:p>
          <a:p>
            <a:r>
              <a:rPr lang="en-US" sz="1000" dirty="0"/>
              <a:t>- </a:t>
            </a:r>
            <a:r>
              <a:rPr lang="en-US" sz="1000" dirty="0" err="1"/>
              <a:t>tbl_UserCountries</a:t>
            </a:r>
            <a:r>
              <a:rPr lang="en-US" sz="1000" dirty="0"/>
              <a:t> (to show who the coordinator on record is)</a:t>
            </a:r>
          </a:p>
          <a:p>
            <a:r>
              <a:rPr lang="en-US" sz="1000" dirty="0"/>
              <a:t>- </a:t>
            </a:r>
            <a:r>
              <a:rPr lang="en-US" sz="1000" dirty="0" err="1"/>
              <a:t>tbl_VolumeSubmissions</a:t>
            </a:r>
            <a:r>
              <a:rPr lang="en-US" sz="1000" dirty="0"/>
              <a:t> (to check for existing submissions)</a:t>
            </a:r>
          </a:p>
          <a:p>
            <a:r>
              <a:rPr lang="en-US" sz="1000" dirty="0"/>
              <a:t>- </a:t>
            </a:r>
            <a:r>
              <a:rPr lang="en-US" sz="1000" dirty="0" err="1"/>
              <a:t>tbl_SubmissionHistory</a:t>
            </a:r>
            <a:r>
              <a:rPr lang="en-US" sz="1000" dirty="0"/>
              <a:t> (to log manual entry reason)</a:t>
            </a:r>
          </a:p>
          <a:p>
            <a:endParaRPr lang="en-US" sz="1000" dirty="0"/>
          </a:p>
          <a:p>
            <a:r>
              <a:rPr lang="en-US" sz="1000" dirty="0"/>
              <a:t>PAGE CONTEXT:</a:t>
            </a:r>
          </a:p>
          <a:p>
            <a:r>
              <a:rPr lang="en-US" sz="1000" dirty="0"/>
              <a:t>- Accessible from Submission Tracking Overview or Review Queue</a:t>
            </a:r>
          </a:p>
          <a:p>
            <a:r>
              <a:rPr lang="en-US" sz="1000" dirty="0"/>
              <a:t>- Used when coordinator cannot access portal or emergency entry needed</a:t>
            </a:r>
          </a:p>
          <a:p>
            <a:r>
              <a:rPr lang="en-US" sz="1000" dirty="0"/>
              <a:t>- Creates submission on behalf of coordinator</a:t>
            </a:r>
          </a:p>
          <a:p>
            <a:r>
              <a:rPr lang="en-US" sz="1000" dirty="0"/>
              <a:t>- Requires comprehensive audit documentation</a:t>
            </a:r>
          </a:p>
          <a:p>
            <a:endParaRPr lang="en-US" sz="1000" dirty="0"/>
          </a:p>
          <a:p>
            <a:r>
              <a:rPr lang="en-US" sz="1000" dirty="0"/>
              <a:t>DIFFERENCES FROM COORDINATOR SUBMISSION PORTAL:</a:t>
            </a:r>
          </a:p>
          <a:p>
            <a:r>
              <a:rPr lang="en-US" sz="1000" dirty="0"/>
              <a:t>1. Analyst can select ANY country (not limited to assigned countries)</a:t>
            </a:r>
          </a:p>
          <a:p>
            <a:r>
              <a:rPr lang="en-US" sz="1000" dirty="0"/>
              <a:t>2. MUST provide reason code and detailed explanation</a:t>
            </a:r>
          </a:p>
          <a:p>
            <a:r>
              <a:rPr lang="en-US" sz="1000" dirty="0"/>
              <a:t>3. Must document how coordinator was contacted</a:t>
            </a:r>
          </a:p>
          <a:p>
            <a:r>
              <a:rPr lang="en-US" sz="1000" dirty="0"/>
              <a:t>4. Submission marked with </a:t>
            </a:r>
            <a:r>
              <a:rPr lang="en-US" sz="1000" dirty="0" err="1"/>
              <a:t>SubmissionMethod</a:t>
            </a:r>
            <a:r>
              <a:rPr lang="en-US" sz="1000" dirty="0"/>
              <a:t> = "Manual"</a:t>
            </a:r>
          </a:p>
          <a:p>
            <a:r>
              <a:rPr lang="en-US" sz="1000" dirty="0"/>
              <a:t>5. </a:t>
            </a:r>
            <a:r>
              <a:rPr lang="en-US" sz="1000" dirty="0" err="1"/>
              <a:t>ManualEntry</a:t>
            </a:r>
            <a:r>
              <a:rPr lang="en-US" sz="1000" dirty="0"/>
              <a:t> flag set to Yes for filtering/reporting</a:t>
            </a:r>
          </a:p>
          <a:p>
            <a:r>
              <a:rPr lang="en-US" sz="1000" dirty="0"/>
              <a:t>6. Coordinator notified after submission</a:t>
            </a:r>
          </a:p>
          <a:p>
            <a:endParaRPr lang="en-US" sz="1000" dirty="0"/>
          </a:p>
          <a:p>
            <a:endParaRPr lang="en-US" sz="1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6A2199-DA59-D4CC-1BFA-1FD81A16E4CF}"/>
              </a:ext>
            </a:extLst>
          </p:cNvPr>
          <p:cNvSpPr txBox="1"/>
          <p:nvPr/>
        </p:nvSpPr>
        <p:spPr>
          <a:xfrm>
            <a:off x="3982065" y="681676"/>
            <a:ext cx="3431459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MANUAL ENTRY REASON SECTION:</a:t>
            </a:r>
          </a:p>
          <a:p>
            <a:endParaRPr lang="en-US" sz="1000" dirty="0"/>
          </a:p>
          <a:p>
            <a:r>
              <a:rPr lang="en-US" sz="1000" dirty="0"/>
              <a:t>Reason Code Dropdown:</a:t>
            </a:r>
          </a:p>
          <a:p>
            <a:r>
              <a:rPr lang="en-US" sz="1000" dirty="0"/>
              <a:t>- Phone Call from Coordinator: Most common - coordinator called with volumes</a:t>
            </a:r>
          </a:p>
          <a:p>
            <a:r>
              <a:rPr lang="en-US" sz="1000" dirty="0"/>
              <a:t>- System Downtime: Portal unavailable, emergency entry needed</a:t>
            </a:r>
          </a:p>
          <a:p>
            <a:r>
              <a:rPr lang="en-US" sz="1000" dirty="0"/>
              <a:t>- Coordinator Unable to Access Portal: Technical issues on coordinator's end</a:t>
            </a:r>
          </a:p>
          <a:p>
            <a:r>
              <a:rPr lang="en-US" sz="1000" dirty="0"/>
              <a:t>- Emergency Deadline Extension: Late submission approved by management</a:t>
            </a:r>
          </a:p>
          <a:p>
            <a:r>
              <a:rPr lang="en-US" sz="1000" dirty="0"/>
              <a:t>- Data Correction (Original Entry Error): Fixing a mistake in original submission</a:t>
            </a:r>
          </a:p>
          <a:p>
            <a:r>
              <a:rPr lang="en-US" sz="1000" dirty="0"/>
              <a:t>- Other: Requires detailed explanation in text field</a:t>
            </a:r>
          </a:p>
          <a:p>
            <a:endParaRPr lang="en-US" sz="1000" dirty="0"/>
          </a:p>
          <a:p>
            <a:r>
              <a:rPr lang="en-US" sz="1000" dirty="0"/>
              <a:t>Detailed Explanation Field:</a:t>
            </a:r>
          </a:p>
          <a:p>
            <a:r>
              <a:rPr lang="en-US" sz="1000" dirty="0"/>
              <a:t>- Required (minimum 50 characters)</a:t>
            </a:r>
          </a:p>
          <a:p>
            <a:r>
              <a:rPr lang="en-US" sz="1000" dirty="0"/>
              <a:t>- Captures context that reason code doesn't cover</a:t>
            </a:r>
          </a:p>
          <a:p>
            <a:r>
              <a:rPr lang="en-US" sz="1000" dirty="0"/>
              <a:t>- Examples:</a:t>
            </a:r>
          </a:p>
          <a:p>
            <a:r>
              <a:rPr lang="en-US" sz="1000" dirty="0"/>
              <a:t>  * "Ji-Won called at 3 PM, portal was down, deadline today"</a:t>
            </a:r>
          </a:p>
          <a:p>
            <a:r>
              <a:rPr lang="en-US" sz="1000" dirty="0"/>
              <a:t>  * "Marie emailed volumes, traveling without laptop access"</a:t>
            </a:r>
          </a:p>
          <a:p>
            <a:r>
              <a:rPr lang="en-US" sz="1000" dirty="0"/>
              <a:t>  * "Emergency approval from CFO for late Brazil submission"</a:t>
            </a:r>
          </a:p>
          <a:p>
            <a:r>
              <a:rPr lang="en-US" sz="1000" dirty="0"/>
              <a:t>- Stored in </a:t>
            </a:r>
            <a:r>
              <a:rPr lang="en-US" sz="1000" dirty="0" err="1"/>
              <a:t>SubmissionHistory.ChangeReason</a:t>
            </a:r>
            <a:endParaRPr lang="en-US" sz="1000" dirty="0"/>
          </a:p>
          <a:p>
            <a:endParaRPr lang="en-US" sz="1000" dirty="0"/>
          </a:p>
          <a:p>
            <a:r>
              <a:rPr lang="en-US" sz="1000" dirty="0"/>
              <a:t>Coordinator Contact Method:</a:t>
            </a:r>
          </a:p>
          <a:p>
            <a:r>
              <a:rPr lang="en-US" sz="1000" dirty="0"/>
              <a:t>- Documents how volumes were obtained</a:t>
            </a:r>
          </a:p>
          <a:p>
            <a:r>
              <a:rPr lang="en-US" sz="1000" dirty="0"/>
              <a:t>- Options: Phone Call, Email, In Person, Teams/Slack</a:t>
            </a:r>
          </a:p>
          <a:p>
            <a:r>
              <a:rPr lang="en-US" sz="1000" dirty="0"/>
              <a:t>- Required for audit trail</a:t>
            </a:r>
          </a:p>
          <a:p>
            <a:r>
              <a:rPr lang="en-US" sz="1000" dirty="0"/>
              <a:t>- Helps identify patterns (if lots of phone calls, may indicate portal UX issues)</a:t>
            </a:r>
          </a:p>
          <a:p>
            <a:endParaRPr lang="en-US" sz="1000" dirty="0"/>
          </a:p>
          <a:p>
            <a:r>
              <a:rPr lang="en-US" sz="1000" dirty="0"/>
              <a:t>Coordinator Name/Email:</a:t>
            </a:r>
          </a:p>
          <a:p>
            <a:r>
              <a:rPr lang="en-US" sz="1000" dirty="0"/>
              <a:t>- Auto-populated when country selected (from </a:t>
            </a:r>
            <a:r>
              <a:rPr lang="en-US" sz="1000" dirty="0" err="1"/>
              <a:t>tbl_UserCountries</a:t>
            </a:r>
            <a:r>
              <a:rPr lang="en-US" sz="1000" dirty="0"/>
              <a:t>)</a:t>
            </a:r>
          </a:p>
          <a:p>
            <a:r>
              <a:rPr lang="en-US" sz="1000" dirty="0"/>
              <a:t>- Editable in case backup coordinator provided volumes</a:t>
            </a:r>
          </a:p>
          <a:p>
            <a:r>
              <a:rPr lang="en-US" sz="1000" dirty="0"/>
              <a:t>- Used for notification email</a:t>
            </a:r>
          </a:p>
          <a:p>
            <a:endParaRPr lang="en-US" sz="1000" dirty="0"/>
          </a:p>
          <a:p>
            <a:endParaRPr lang="en-US" sz="1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23429C-8464-E77A-5F54-640AE3BF83B5}"/>
              </a:ext>
            </a:extLst>
          </p:cNvPr>
          <p:cNvSpPr txBox="1"/>
          <p:nvPr/>
        </p:nvSpPr>
        <p:spPr>
          <a:xfrm>
            <a:off x="7413524" y="681676"/>
            <a:ext cx="3431459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COUNTRY SELECTION:</a:t>
            </a:r>
          </a:p>
          <a:p>
            <a:r>
              <a:rPr lang="en-US" sz="1000" dirty="0"/>
              <a:t>- Dropdown shows ALL countries (analysts can enter for anyone)</a:t>
            </a:r>
          </a:p>
          <a:p>
            <a:r>
              <a:rPr lang="en-US" sz="1000" dirty="0"/>
              <a:t>- Not filtered by user like coordinator portal</a:t>
            </a:r>
          </a:p>
          <a:p>
            <a:r>
              <a:rPr lang="en-US" sz="1000" dirty="0"/>
              <a:t>- After selection, shows:</a:t>
            </a:r>
          </a:p>
          <a:p>
            <a:r>
              <a:rPr lang="en-US" sz="1000" dirty="0"/>
              <a:t>  * Coordinator on record</a:t>
            </a:r>
          </a:p>
          <a:p>
            <a:r>
              <a:rPr lang="en-US" sz="1000" dirty="0"/>
              <a:t>  * Number of test types expected</a:t>
            </a:r>
          </a:p>
          <a:p>
            <a:r>
              <a:rPr lang="en-US" sz="1000" dirty="0"/>
              <a:t>  * Whether submission already exists for that month</a:t>
            </a:r>
          </a:p>
          <a:p>
            <a:endParaRPr lang="en-US" sz="1000" dirty="0"/>
          </a:p>
          <a:p>
            <a:r>
              <a:rPr lang="en-US" sz="1000" dirty="0"/>
              <a:t>EXISTING SUBMISSION CHECK:</a:t>
            </a:r>
          </a:p>
          <a:p>
            <a:r>
              <a:rPr lang="en-US" sz="1000" dirty="0"/>
              <a:t>- When country + month selected, check if submission exists</a:t>
            </a:r>
          </a:p>
          <a:p>
            <a:r>
              <a:rPr lang="en-US" sz="1000" dirty="0"/>
              <a:t>- If Status = 'Draft': Load existing draft, allow editing</a:t>
            </a:r>
          </a:p>
          <a:p>
            <a:r>
              <a:rPr lang="en-US" sz="1000" dirty="0"/>
              <a:t>- If Status = 'Submitted' or later: Show warning "Submission already exists, are you creating a correction?"</a:t>
            </a:r>
          </a:p>
          <a:p>
            <a:r>
              <a:rPr lang="en-US" sz="1000" dirty="0"/>
              <a:t>- If correction: Requires reason code "Data Correction"</a:t>
            </a:r>
          </a:p>
          <a:p>
            <a:endParaRPr lang="en-US" sz="1000" dirty="0"/>
          </a:p>
          <a:p>
            <a:r>
              <a:rPr lang="en-US" sz="1000" dirty="0"/>
              <a:t>VOLUME ENTRY FORM:</a:t>
            </a:r>
          </a:p>
          <a:p>
            <a:r>
              <a:rPr lang="en-US" sz="1000" dirty="0"/>
              <a:t>- Identical to coordinator submission portal (Screen 2)</a:t>
            </a:r>
          </a:p>
          <a:p>
            <a:r>
              <a:rPr lang="en-US" sz="1000" dirty="0"/>
              <a:t>- Test types loaded from </a:t>
            </a:r>
            <a:r>
              <a:rPr lang="en-US" sz="1000" dirty="0" err="1"/>
              <a:t>tbl_CountryTestTypes</a:t>
            </a:r>
            <a:r>
              <a:rPr lang="en-US" sz="1000" dirty="0"/>
              <a:t> filtered by selected country</a:t>
            </a:r>
          </a:p>
          <a:p>
            <a:r>
              <a:rPr lang="en-US" sz="1000" dirty="0"/>
              <a:t>- Three columns: Actual, Budget, Forecast</a:t>
            </a:r>
          </a:p>
          <a:p>
            <a:r>
              <a:rPr lang="en-US" sz="1000" dirty="0"/>
              <a:t>- Same validation rules: &gt;= 0, whole numbers only</a:t>
            </a:r>
          </a:p>
          <a:p>
            <a:r>
              <a:rPr lang="en-US" sz="1000" dirty="0"/>
              <a:t>- At least one volume required per test type row</a:t>
            </a:r>
          </a:p>
          <a:p>
            <a:endParaRPr lang="en-US" sz="1000" dirty="0"/>
          </a:p>
          <a:p>
            <a:r>
              <a:rPr lang="en-US" sz="1000" dirty="0"/>
              <a:t>VALIDATION (Same as Coordinator Portal):</a:t>
            </a:r>
          </a:p>
          <a:p>
            <a:r>
              <a:rPr lang="en-US" sz="1000" dirty="0"/>
              <a:t>- Real-time validation on all fields</a:t>
            </a:r>
          </a:p>
          <a:p>
            <a:r>
              <a:rPr lang="en-US" sz="1000" dirty="0"/>
              <a:t>- Reason code required before submission enabled</a:t>
            </a:r>
          </a:p>
          <a:p>
            <a:r>
              <a:rPr lang="en-US" sz="1000" dirty="0"/>
              <a:t>- Detailed explanation minimum 50 characters</a:t>
            </a:r>
          </a:p>
          <a:p>
            <a:r>
              <a:rPr lang="en-US" sz="1000" dirty="0"/>
              <a:t>- At least one volume field per test type</a:t>
            </a:r>
          </a:p>
          <a:p>
            <a:r>
              <a:rPr lang="en-US" sz="1000" dirty="0"/>
              <a:t>- Submit button disabled until all validation passes</a:t>
            </a:r>
          </a:p>
          <a:p>
            <a:endParaRPr lang="en-US" sz="1000" dirty="0"/>
          </a:p>
          <a:p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1471489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6E608-3423-7357-96FF-8FFA3B35A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EA5C5-C952-6157-1767-1BB075CAA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756" y="127485"/>
            <a:ext cx="10515600" cy="554191"/>
          </a:xfrm>
        </p:spPr>
        <p:txBody>
          <a:bodyPr>
            <a:normAutofit/>
          </a:bodyPr>
          <a:lstStyle/>
          <a:p>
            <a:r>
              <a:rPr lang="en-US" sz="3200" dirty="0"/>
              <a:t>Screen 3: Manual Entry Form- Technical Specs (2)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9FDC450-1E80-8C01-E27D-5D4321C62185}"/>
              </a:ext>
            </a:extLst>
          </p:cNvPr>
          <p:cNvSpPr txBox="1"/>
          <p:nvPr/>
        </p:nvSpPr>
        <p:spPr>
          <a:xfrm>
            <a:off x="550606" y="681676"/>
            <a:ext cx="3431459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SUBMISSION PROCESS:</a:t>
            </a:r>
          </a:p>
          <a:p>
            <a:endParaRPr lang="en-US" sz="1000" dirty="0"/>
          </a:p>
          <a:p>
            <a:r>
              <a:rPr lang="en-US" sz="1000" dirty="0"/>
              <a:t>1. Save &amp; Submit:</a:t>
            </a:r>
          </a:p>
          <a:p>
            <a:r>
              <a:rPr lang="en-US" sz="1000" dirty="0"/>
              <a:t>   - Creates record in </a:t>
            </a:r>
            <a:r>
              <a:rPr lang="en-US" sz="1000" dirty="0" err="1"/>
              <a:t>tbl_VolumeSubmissions</a:t>
            </a:r>
            <a:endParaRPr lang="en-US" sz="1000" dirty="0"/>
          </a:p>
          <a:p>
            <a:r>
              <a:rPr lang="en-US" sz="1000" dirty="0"/>
              <a:t>   - Sets </a:t>
            </a:r>
            <a:r>
              <a:rPr lang="en-US" sz="1000" dirty="0" err="1"/>
              <a:t>SubmittedByEmail</a:t>
            </a:r>
            <a:r>
              <a:rPr lang="en-US" sz="1000" dirty="0"/>
              <a:t> = Analyst email (Alice)</a:t>
            </a:r>
          </a:p>
          <a:p>
            <a:r>
              <a:rPr lang="en-US" sz="1000" dirty="0"/>
              <a:t>   - Sets </a:t>
            </a:r>
            <a:r>
              <a:rPr lang="en-US" sz="1000" dirty="0" err="1"/>
              <a:t>SubmissionMethod</a:t>
            </a:r>
            <a:r>
              <a:rPr lang="en-US" sz="1000" dirty="0"/>
              <a:t> = "Manual"</a:t>
            </a:r>
          </a:p>
          <a:p>
            <a:r>
              <a:rPr lang="en-US" sz="1000" dirty="0"/>
              <a:t>   - Sets Status = "Submitted" (goes into validation queue)</a:t>
            </a:r>
          </a:p>
          <a:p>
            <a:r>
              <a:rPr lang="en-US" sz="1000" dirty="0"/>
              <a:t>   - Creates </a:t>
            </a:r>
            <a:r>
              <a:rPr lang="en-US" sz="1000" dirty="0" err="1"/>
              <a:t>tbl_SubmissionHistory</a:t>
            </a:r>
            <a:r>
              <a:rPr lang="en-US" sz="1000" dirty="0"/>
              <a:t> record with:</a:t>
            </a:r>
          </a:p>
          <a:p>
            <a:r>
              <a:rPr lang="en-US" sz="1000" dirty="0"/>
              <a:t>     * </a:t>
            </a:r>
            <a:r>
              <a:rPr lang="en-US" sz="1000" dirty="0" err="1"/>
              <a:t>ChangeType</a:t>
            </a:r>
            <a:r>
              <a:rPr lang="en-US" sz="1000" dirty="0"/>
              <a:t> = "Created"</a:t>
            </a:r>
          </a:p>
          <a:p>
            <a:r>
              <a:rPr lang="en-US" sz="1000" dirty="0"/>
              <a:t>     * </a:t>
            </a:r>
            <a:r>
              <a:rPr lang="en-US" sz="1000" dirty="0" err="1"/>
              <a:t>ChangeReason</a:t>
            </a:r>
            <a:r>
              <a:rPr lang="en-US" sz="1000" dirty="0"/>
              <a:t> = [Reason code + detailed explanation]</a:t>
            </a:r>
          </a:p>
          <a:p>
            <a:r>
              <a:rPr lang="en-US" sz="1000" dirty="0"/>
              <a:t>     * Notes about manual entry</a:t>
            </a:r>
          </a:p>
          <a:p>
            <a:r>
              <a:rPr lang="en-US" sz="1000" dirty="0"/>
              <a:t>   - Sends email to coordinator:</a:t>
            </a:r>
          </a:p>
          <a:p>
            <a:r>
              <a:rPr lang="en-US" sz="1000" dirty="0"/>
              <a:t>     * Subject: "Volumes submitted on your behalf for [Month]"</a:t>
            </a:r>
          </a:p>
          <a:p>
            <a:r>
              <a:rPr lang="en-US" sz="1000" dirty="0"/>
              <a:t>     * Body: Explains analyst entered volumes, provides submission ID</a:t>
            </a:r>
          </a:p>
          <a:p>
            <a:r>
              <a:rPr lang="en-US" sz="1000" dirty="0"/>
              <a:t>     * Includes PDF receipt</a:t>
            </a:r>
          </a:p>
          <a:p>
            <a:r>
              <a:rPr lang="en-US" sz="1000" dirty="0"/>
              <a:t>     * Shows reason for manual entry</a:t>
            </a:r>
          </a:p>
          <a:p>
            <a:r>
              <a:rPr lang="en-US" sz="1000" dirty="0"/>
              <a:t>   - Returns to Submission Tracking Overview</a:t>
            </a:r>
          </a:p>
          <a:p>
            <a:endParaRPr lang="en-US" sz="1000" dirty="0"/>
          </a:p>
          <a:p>
            <a:r>
              <a:rPr lang="en-US" sz="1000" dirty="0"/>
              <a:t>2. Save as Draft:</a:t>
            </a:r>
          </a:p>
          <a:p>
            <a:r>
              <a:rPr lang="en-US" sz="1000" dirty="0"/>
              <a:t>   - Saves with Status = "Draft"</a:t>
            </a:r>
          </a:p>
          <a:p>
            <a:r>
              <a:rPr lang="en-US" sz="1000" dirty="0"/>
              <a:t>   - Allows analyst to come back later</a:t>
            </a:r>
          </a:p>
          <a:p>
            <a:r>
              <a:rPr lang="en-US" sz="1000" dirty="0"/>
              <a:t>   - Does NOT send notification to coordinator</a:t>
            </a:r>
          </a:p>
          <a:p>
            <a:r>
              <a:rPr lang="en-US" sz="1000" dirty="0"/>
              <a:t>   - Reason code saved but submission not finalized</a:t>
            </a:r>
          </a:p>
          <a:p>
            <a:endParaRPr lang="en-US" sz="1000" dirty="0"/>
          </a:p>
          <a:p>
            <a:r>
              <a:rPr lang="en-US" sz="1000" dirty="0"/>
              <a:t>3. Cancel:</a:t>
            </a:r>
          </a:p>
          <a:p>
            <a:r>
              <a:rPr lang="en-US" sz="1000" dirty="0"/>
              <a:t>   - Confirms "Discard changes?" if any data entered</a:t>
            </a:r>
          </a:p>
          <a:p>
            <a:r>
              <a:rPr lang="en-US" sz="1000" dirty="0"/>
              <a:t>   - Returns to previous screen (Overview or Review Queue)</a:t>
            </a:r>
          </a:p>
          <a:p>
            <a:r>
              <a:rPr lang="en-US" sz="1000" dirty="0"/>
              <a:t>   - No records created</a:t>
            </a:r>
          </a:p>
          <a:p>
            <a:endParaRPr lang="en-US" sz="1000" dirty="0"/>
          </a:p>
          <a:p>
            <a:r>
              <a:rPr lang="en-US" sz="1000" dirty="0"/>
              <a:t>AUDIT TRAIL:</a:t>
            </a:r>
          </a:p>
          <a:p>
            <a:r>
              <a:rPr lang="en-US" sz="1000" dirty="0"/>
              <a:t>- Every manual entry logged in </a:t>
            </a:r>
            <a:r>
              <a:rPr lang="en-US" sz="1000" dirty="0" err="1"/>
              <a:t>tbl_SubmissionHistory</a:t>
            </a:r>
            <a:endParaRPr lang="en-US" sz="1000" dirty="0"/>
          </a:p>
          <a:p>
            <a:r>
              <a:rPr lang="en-US" sz="1000" dirty="0"/>
              <a:t>- </a:t>
            </a:r>
            <a:r>
              <a:rPr lang="en-US" sz="1000" dirty="0" err="1"/>
              <a:t>ManualEntry</a:t>
            </a:r>
            <a:r>
              <a:rPr lang="en-US" sz="1000" dirty="0"/>
              <a:t> flag = Yes in </a:t>
            </a:r>
            <a:r>
              <a:rPr lang="en-US" sz="1000" dirty="0" err="1"/>
              <a:t>tbl_VolumeSubmissions</a:t>
            </a:r>
            <a:endParaRPr lang="en-US" sz="1000" dirty="0"/>
          </a:p>
          <a:p>
            <a:r>
              <a:rPr lang="en-US" sz="1000" dirty="0"/>
              <a:t>- Reason code and explanation preserved</a:t>
            </a:r>
          </a:p>
          <a:p>
            <a:r>
              <a:rPr lang="en-US" sz="1000" dirty="0"/>
              <a:t>- Can filter reports to show "manually entered submissions"</a:t>
            </a:r>
          </a:p>
          <a:p>
            <a:r>
              <a:rPr lang="en-US" sz="1000" dirty="0"/>
              <a:t>- Analytics: Track frequency of manual entries by country/analyst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5C02CC-2E65-81B7-ABA4-A59BAD67B658}"/>
              </a:ext>
            </a:extLst>
          </p:cNvPr>
          <p:cNvSpPr txBox="1"/>
          <p:nvPr/>
        </p:nvSpPr>
        <p:spPr>
          <a:xfrm>
            <a:off x="3982065" y="681676"/>
            <a:ext cx="3431459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COORDINATOR NOTIFICATION EMAIL:</a:t>
            </a:r>
          </a:p>
          <a:p>
            <a:r>
              <a:rPr lang="en-US" sz="1000" dirty="0"/>
              <a:t>- Subject: "Enrollment Volumes Submitted on Your Behalf - [Month]"</a:t>
            </a:r>
          </a:p>
          <a:p>
            <a:r>
              <a:rPr lang="en-US" sz="1000" dirty="0"/>
              <a:t>- Body template:</a:t>
            </a:r>
          </a:p>
          <a:p>
            <a:r>
              <a:rPr lang="en-US" sz="1000" dirty="0"/>
              <a:t>  * "Hi [Coordinator Name],"</a:t>
            </a:r>
          </a:p>
          <a:p>
            <a:r>
              <a:rPr lang="en-US" sz="1000" dirty="0"/>
              <a:t>  * "Your enrollment volumes for [Country] - [Month] have been submitted by [Analyst Name]."</a:t>
            </a:r>
          </a:p>
          <a:p>
            <a:r>
              <a:rPr lang="en-US" sz="1000" dirty="0"/>
              <a:t>  * "Submission ID: [SUB-XXXXXX]"</a:t>
            </a:r>
          </a:p>
          <a:p>
            <a:r>
              <a:rPr lang="en-US" sz="1000" dirty="0"/>
              <a:t>  * "Reason: [Reason Code - Detailed Explanation]"</a:t>
            </a:r>
          </a:p>
          <a:p>
            <a:r>
              <a:rPr lang="en-US" sz="1000" dirty="0"/>
              <a:t>  * "Contact method: [Phone/Email/</a:t>
            </a:r>
            <a:r>
              <a:rPr lang="en-US" sz="1000" dirty="0" err="1"/>
              <a:t>etc</a:t>
            </a:r>
            <a:r>
              <a:rPr lang="en-US" sz="1000" dirty="0"/>
              <a:t>]"</a:t>
            </a:r>
          </a:p>
          <a:p>
            <a:r>
              <a:rPr lang="en-US" sz="1000" dirty="0"/>
              <a:t>  * "Summary of submitted volumes: [Test types with volumes]"</a:t>
            </a:r>
          </a:p>
          <a:p>
            <a:r>
              <a:rPr lang="en-US" sz="1000" dirty="0"/>
              <a:t>  * "If you have questions, please contact the data quality team."</a:t>
            </a:r>
          </a:p>
          <a:p>
            <a:r>
              <a:rPr lang="en-US" sz="1000" dirty="0"/>
              <a:t>  * "Thank you!"</a:t>
            </a:r>
          </a:p>
          <a:p>
            <a:r>
              <a:rPr lang="en-US" sz="1000" dirty="0"/>
              <a:t>- Includes PDF receipt attachment</a:t>
            </a:r>
          </a:p>
          <a:p>
            <a:r>
              <a:rPr lang="en-US" sz="1000" dirty="0"/>
              <a:t>- Reply-to: Analyst email or data quality team email</a:t>
            </a:r>
          </a:p>
          <a:p>
            <a:endParaRPr lang="en-US" sz="1000" dirty="0"/>
          </a:p>
          <a:p>
            <a:r>
              <a:rPr lang="en-US" sz="1000" dirty="0"/>
              <a:t>DATA QUALITY REVIEW:</a:t>
            </a:r>
          </a:p>
          <a:p>
            <a:r>
              <a:rPr lang="en-US" sz="1000" dirty="0"/>
              <a:t>- Manual entries go through same validation as regular submissions</a:t>
            </a:r>
          </a:p>
          <a:p>
            <a:r>
              <a:rPr lang="en-US" sz="1000" dirty="0"/>
              <a:t>- May trigger anomaly flags like any other submission</a:t>
            </a:r>
          </a:p>
          <a:p>
            <a:r>
              <a:rPr lang="en-US" sz="1000" dirty="0"/>
              <a:t>- Analyst can review their own manual entry OR assign to another analyst</a:t>
            </a:r>
          </a:p>
          <a:p>
            <a:r>
              <a:rPr lang="en-US" sz="1000" dirty="0"/>
              <a:t>- Best practice: Different analyst validates manual entries for independence</a:t>
            </a:r>
          </a:p>
          <a:p>
            <a:endParaRPr lang="en-US" sz="1000" dirty="0"/>
          </a:p>
          <a:p>
            <a:r>
              <a:rPr lang="en-US" sz="1000" dirty="0"/>
              <a:t>ERROR HANDLING:</a:t>
            </a:r>
          </a:p>
          <a:p>
            <a:r>
              <a:rPr lang="en-US" sz="1000" dirty="0"/>
              <a:t>- If country already submitted for month (and not Draft):</a:t>
            </a:r>
          </a:p>
          <a:p>
            <a:r>
              <a:rPr lang="en-US" sz="1000" dirty="0"/>
              <a:t>  * Show warning modal</a:t>
            </a:r>
          </a:p>
          <a:p>
            <a:r>
              <a:rPr lang="en-US" sz="1000" dirty="0"/>
              <a:t>  * Options: "Cancel" or "Continue as Correction"</a:t>
            </a:r>
          </a:p>
          <a:p>
            <a:r>
              <a:rPr lang="en-US" sz="1000" dirty="0"/>
              <a:t>  * If correction: Requires specific reason code</a:t>
            </a:r>
          </a:p>
          <a:p>
            <a:r>
              <a:rPr lang="en-US" sz="1000" dirty="0"/>
              <a:t>- If network fails during submission:</a:t>
            </a:r>
          </a:p>
          <a:p>
            <a:r>
              <a:rPr lang="en-US" sz="1000" dirty="0"/>
              <a:t>  * Data cached locally</a:t>
            </a:r>
          </a:p>
          <a:p>
            <a:r>
              <a:rPr lang="en-US" sz="1000" dirty="0"/>
              <a:t>  * Retry logic</a:t>
            </a:r>
          </a:p>
          <a:p>
            <a:r>
              <a:rPr lang="en-US" sz="1000" dirty="0"/>
              <a:t>  * "Save Draft" option to preserve work</a:t>
            </a:r>
          </a:p>
          <a:p>
            <a:endParaRPr lang="en-US" sz="1000" dirty="0"/>
          </a:p>
          <a:p>
            <a:endParaRPr lang="en-US" sz="1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E7CCCC-5DC9-2839-8F53-2CA21094EF38}"/>
              </a:ext>
            </a:extLst>
          </p:cNvPr>
          <p:cNvSpPr txBox="1"/>
          <p:nvPr/>
        </p:nvSpPr>
        <p:spPr>
          <a:xfrm>
            <a:off x="7413524" y="681676"/>
            <a:ext cx="3431459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REPORTING/ANALYTICS:</a:t>
            </a:r>
          </a:p>
          <a:p>
            <a:r>
              <a:rPr lang="en-US" sz="1000" dirty="0"/>
              <a:t>- Track manual entry frequency by:</a:t>
            </a:r>
          </a:p>
          <a:p>
            <a:r>
              <a:rPr lang="en-US" sz="1000" dirty="0"/>
              <a:t>  * Country (which countries require most manual intervention?)</a:t>
            </a:r>
          </a:p>
          <a:p>
            <a:r>
              <a:rPr lang="en-US" sz="1000" dirty="0"/>
              <a:t>  * Reason code (why are manual entries needed?)</a:t>
            </a:r>
          </a:p>
          <a:p>
            <a:r>
              <a:rPr lang="en-US" sz="1000" dirty="0"/>
              <a:t>  * Analyst (who does most manual entries?)</a:t>
            </a:r>
          </a:p>
          <a:p>
            <a:r>
              <a:rPr lang="en-US" sz="1000" dirty="0"/>
              <a:t>  * Time of month (pattern around deadlines?)</a:t>
            </a:r>
          </a:p>
          <a:p>
            <a:r>
              <a:rPr lang="en-US" sz="1000" dirty="0"/>
              <a:t>- Use insights to improve coordinator portal UX</a:t>
            </a:r>
          </a:p>
          <a:p>
            <a:endParaRPr lang="en-US" sz="1000" dirty="0"/>
          </a:p>
          <a:p>
            <a:r>
              <a:rPr lang="en-US" sz="1000" dirty="0"/>
              <a:t>POWER APPS IMPLEMENTATION:</a:t>
            </a:r>
          </a:p>
          <a:p>
            <a:r>
              <a:rPr lang="en-US" sz="1000" dirty="0"/>
              <a:t>- Form control (not Gallery)</a:t>
            </a:r>
          </a:p>
          <a:p>
            <a:r>
              <a:rPr lang="en-US" sz="1000" dirty="0"/>
              <a:t>- Dropdown for country: Items = </a:t>
            </a:r>
            <a:r>
              <a:rPr lang="en-US" sz="1000" dirty="0" err="1"/>
              <a:t>tbl_Countries</a:t>
            </a:r>
            <a:r>
              <a:rPr lang="en-US" sz="1000" dirty="0"/>
              <a:t> WHERE Status = 'Active'</a:t>
            </a:r>
          </a:p>
          <a:p>
            <a:r>
              <a:rPr lang="en-US" sz="1000" dirty="0"/>
              <a:t>- </a:t>
            </a:r>
            <a:r>
              <a:rPr lang="en-US" sz="1000" dirty="0" err="1"/>
              <a:t>OnChange</a:t>
            </a:r>
            <a:r>
              <a:rPr lang="en-US" sz="1000" dirty="0"/>
              <a:t> for country: Load test types, show coordinator info</a:t>
            </a:r>
          </a:p>
          <a:p>
            <a:r>
              <a:rPr lang="en-US" sz="1000" dirty="0"/>
              <a:t>- Dropdown for reason code: Combo box with predefined values</a:t>
            </a:r>
          </a:p>
          <a:p>
            <a:r>
              <a:rPr lang="en-US" sz="1000" dirty="0"/>
              <a:t>- Text input validation: Len() &gt;= 50 for detailed explanation</a:t>
            </a:r>
          </a:p>
          <a:p>
            <a:r>
              <a:rPr lang="en-US" sz="1000" dirty="0"/>
              <a:t>- Patch() to </a:t>
            </a:r>
            <a:r>
              <a:rPr lang="en-US" sz="1000" dirty="0" err="1"/>
              <a:t>tbl_VolumeSubmissions</a:t>
            </a:r>
            <a:r>
              <a:rPr lang="en-US" sz="1000" dirty="0"/>
              <a:t> with </a:t>
            </a:r>
            <a:r>
              <a:rPr lang="en-US" sz="1000" dirty="0" err="1"/>
              <a:t>SubmissionMethod</a:t>
            </a:r>
            <a:r>
              <a:rPr lang="en-US" sz="1000" dirty="0"/>
              <a:t> = "Manual"</a:t>
            </a:r>
          </a:p>
          <a:p>
            <a:r>
              <a:rPr lang="en-US" sz="1000" dirty="0"/>
              <a:t>- Concurrent() for multiple table writes (submission + history)</a:t>
            </a:r>
          </a:p>
          <a:p>
            <a:r>
              <a:rPr lang="en-US" sz="1000" dirty="0"/>
              <a:t>- Navigate() back to overview after submission</a:t>
            </a:r>
          </a:p>
          <a:p>
            <a:r>
              <a:rPr lang="en-US" sz="1000" dirty="0"/>
              <a:t>- Context variables for form state management</a:t>
            </a:r>
          </a:p>
          <a:p>
            <a:endParaRPr lang="en-US" sz="1000" dirty="0"/>
          </a:p>
          <a:p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4468926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31EFE-B34A-59CE-58A4-A80806172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1CF5B-4568-1FB2-365B-B9FD2BBCC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420" y="88028"/>
            <a:ext cx="10515600" cy="554191"/>
          </a:xfrm>
        </p:spPr>
        <p:txBody>
          <a:bodyPr>
            <a:normAutofit/>
          </a:bodyPr>
          <a:lstStyle/>
          <a:p>
            <a:r>
              <a:rPr lang="en-US" sz="3200" dirty="0"/>
              <a:t>Screen 4: Communication Center  (View Message)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9960A2-5414-6F48-082B-535CF5B863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420" y="623925"/>
            <a:ext cx="10515600" cy="353901"/>
          </a:xfrm>
        </p:spPr>
        <p:txBody>
          <a:bodyPr>
            <a:normAutofit lnSpcReduction="10000"/>
          </a:bodyPr>
          <a:lstStyle/>
          <a:p>
            <a:r>
              <a:rPr lang="en-US" sz="2000" dirty="0"/>
              <a:t>Message coordinators about submissions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A281A1-0E77-084B-5368-307C0C5A65A8}"/>
              </a:ext>
            </a:extLst>
          </p:cNvPr>
          <p:cNvSpPr txBox="1"/>
          <p:nvPr/>
        </p:nvSpPr>
        <p:spPr>
          <a:xfrm>
            <a:off x="510346" y="1222786"/>
            <a:ext cx="106836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[ ← Back to Overview ] Home &gt; Communication Center</a:t>
            </a:r>
            <a:br>
              <a:rPr lang="en-US" sz="1000" dirty="0"/>
            </a:br>
            <a:r>
              <a:rPr lang="en-US" sz="1400" b="1" dirty="0"/>
              <a:t>Communication Center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BEBAA6E-5600-AB7D-BE1A-77FAC9371C95}"/>
              </a:ext>
            </a:extLst>
          </p:cNvPr>
          <p:cNvSpPr/>
          <p:nvPr/>
        </p:nvSpPr>
        <p:spPr>
          <a:xfrm>
            <a:off x="550290" y="976276"/>
            <a:ext cx="10653246" cy="26161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🏢 </a:t>
            </a:r>
            <a:r>
              <a:rPr lang="en-US" dirty="0">
                <a:solidFill>
                  <a:schemeClr val="tx1"/>
                </a:solidFill>
              </a:rPr>
              <a:t>Data Quality Dashboard | Analyst: Alice Katt | [Settings]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AA7BB41-61DC-42F8-6132-BAEA1AE157B9}"/>
              </a:ext>
            </a:extLst>
          </p:cNvPr>
          <p:cNvSpPr/>
          <p:nvPr/>
        </p:nvSpPr>
        <p:spPr>
          <a:xfrm>
            <a:off x="510346" y="1691102"/>
            <a:ext cx="4710583" cy="23830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dirty="0">
                <a:ln w="0"/>
                <a:solidFill>
                  <a:schemeClr val="tx1"/>
                </a:solidFill>
              </a:rPr>
              <a:t>View: [All Messages ▼]  Country: [All ▼]  Status: [All ▼]  [🔍 Search]   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6725CC-F8F7-C7B9-1DB4-EBCCF8E72449}"/>
              </a:ext>
            </a:extLst>
          </p:cNvPr>
          <p:cNvSpPr/>
          <p:nvPr/>
        </p:nvSpPr>
        <p:spPr>
          <a:xfrm>
            <a:off x="550290" y="1936062"/>
            <a:ext cx="10653247" cy="439501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4595316-0CEF-6E07-FDE2-3134DBBBCB27}"/>
              </a:ext>
            </a:extLst>
          </p:cNvPr>
          <p:cNvSpPr/>
          <p:nvPr/>
        </p:nvSpPr>
        <p:spPr>
          <a:xfrm>
            <a:off x="8686793" y="1341110"/>
            <a:ext cx="2507226" cy="4616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Compose New Message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593CE96-467E-FA2B-C2E6-6CACFAD301D6}"/>
              </a:ext>
            </a:extLst>
          </p:cNvPr>
          <p:cNvSpPr txBox="1"/>
          <p:nvPr/>
        </p:nvSpPr>
        <p:spPr>
          <a:xfrm>
            <a:off x="550290" y="2054386"/>
            <a:ext cx="6460110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┌───────────────────────────────────────────────────────────────────────────────────────┐</a:t>
            </a:r>
          </a:p>
          <a:p>
            <a:r>
              <a:rPr lang="en-US" sz="1100" dirty="0"/>
              <a:t>│ Date/Time   │ To/From                                  │ Country │ Subject                                        │ Status         │ Actions    │</a:t>
            </a:r>
          </a:p>
          <a:p>
            <a:r>
              <a:rPr lang="en-US" sz="1100" dirty="0"/>
              <a:t>│───────────────────────────────────────────────────────────────────────────────────────│</a:t>
            </a:r>
          </a:p>
          <a:p>
            <a:r>
              <a:rPr lang="en-US" sz="1100" dirty="0"/>
              <a:t>│ 11/24 14:30 │ To: Marie Dubois                │ France     │ Clarification: Nov volumes │ Sent             │ [View]      │</a:t>
            </a:r>
          </a:p>
          <a:p>
            <a:r>
              <a:rPr lang="en-US" sz="1100" dirty="0"/>
              <a:t>│ 11/23 09:15 │ From: Ji-Won Kim               │ Japan      │ Re: October submission      │ </a:t>
            </a:r>
            <a:r>
              <a:rPr lang="en-US" sz="1100" dirty="0" err="1"/>
              <a:t>Recieved</a:t>
            </a:r>
            <a:r>
              <a:rPr lang="en-US" sz="1100" dirty="0"/>
              <a:t>    │ [View]      │</a:t>
            </a:r>
          </a:p>
          <a:p>
            <a:r>
              <a:rPr lang="en-US" sz="1100" dirty="0"/>
              <a:t>│ 11/22 16:45 │ To: Marie Dubois                │ Brazil       │ Reminder: November           │ Sent             │ [View]      │</a:t>
            </a:r>
          </a:p>
          <a:p>
            <a:r>
              <a:rPr lang="en-US" sz="1100" dirty="0"/>
              <a:t>│ 11/20 11:00 │ To: Multiple Coordinators│ Various  │ Submission Reminder         │ Sent             │ [View]      │</a:t>
            </a:r>
          </a:p>
          <a:p>
            <a:r>
              <a:rPr lang="en-US" sz="1100" dirty="0"/>
              <a:t>└───────────────────────────────────────────────────────────────────────────────────────┘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rPr lang="en-US" sz="1100" dirty="0"/>
              <a:t>Showing 4 recent messages [ ← Previous ] Page 1 of 2 [ Next → ]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36431D6-D897-4DE6-956F-AE8DFA805328}"/>
              </a:ext>
            </a:extLst>
          </p:cNvPr>
          <p:cNvSpPr txBox="1"/>
          <p:nvPr/>
        </p:nvSpPr>
        <p:spPr>
          <a:xfrm>
            <a:off x="550290" y="3670213"/>
            <a:ext cx="5781684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Message Details </a:t>
            </a:r>
            <a:br>
              <a:rPr lang="en-US" sz="1100" dirty="0"/>
            </a:br>
            <a:br>
              <a:rPr lang="en-US" sz="1100" dirty="0"/>
            </a:br>
            <a:r>
              <a:rPr lang="en-US" sz="1100" dirty="0"/>
              <a:t>Date: November 24, 2025 at 2:30 </a:t>
            </a:r>
          </a:p>
          <a:p>
            <a:r>
              <a:rPr lang="en-US" sz="1100" dirty="0"/>
              <a:t>From: Alice Katt (</a:t>
            </a:r>
            <a:r>
              <a:rPr lang="en-US" sz="1100" dirty="0">
                <a:hlinkClick r:id="rId3"/>
              </a:rPr>
              <a:t>alice.katt.demo@outlook.com</a:t>
            </a:r>
            <a:endParaRPr lang="en-US" sz="1100" dirty="0"/>
          </a:p>
          <a:p>
            <a:r>
              <a:rPr lang="en-US" sz="1100" dirty="0"/>
              <a:t>To: Marie Dubois (marie.dubois.demo@outlook.com) </a:t>
            </a:r>
          </a:p>
          <a:p>
            <a:r>
              <a:rPr lang="en-US" sz="1100" dirty="0"/>
              <a:t>Subject: Clarification Needed: November Volumes </a:t>
            </a:r>
          </a:p>
          <a:p>
            <a:r>
              <a:rPr lang="en-US" sz="1100" dirty="0"/>
              <a:t>Related Submission: SUB-202511-FRA-001 (France - November 2025) </a:t>
            </a:r>
            <a:br>
              <a:rPr lang="en-US" sz="1100" dirty="0"/>
            </a:br>
            <a:r>
              <a:rPr lang="en-US" sz="1100" dirty="0"/>
              <a:t>Message Body: Hi Marie, </a:t>
            </a:r>
            <a:br>
              <a:rPr lang="en-US" sz="1100" dirty="0"/>
            </a:br>
            <a:r>
              <a:rPr lang="en-US" sz="1100" dirty="0"/>
              <a:t>I'm reviewing your November submission and noticed that PM Cert volumes (125) </a:t>
            </a:r>
            <a:br>
              <a:rPr lang="en-US" sz="1100" dirty="0"/>
            </a:br>
            <a:r>
              <a:rPr lang="en-US" sz="1100" dirty="0"/>
              <a:t>are significantly below budget (150) and down 23% from October (162).  </a:t>
            </a:r>
            <a:br>
              <a:rPr lang="en-US" sz="1100" dirty="0"/>
            </a:br>
            <a:r>
              <a:rPr lang="en-US" sz="1100" dirty="0"/>
              <a:t>Could you please provide context for this variance? This will help me validate the submission. </a:t>
            </a:r>
          </a:p>
          <a:p>
            <a:endParaRPr lang="en-US" sz="1100" dirty="0"/>
          </a:p>
          <a:p>
            <a:r>
              <a:rPr lang="en-US" sz="1100" dirty="0"/>
              <a:t>Thank you, </a:t>
            </a:r>
          </a:p>
          <a:p>
            <a:r>
              <a:rPr lang="en-US" sz="1100" dirty="0"/>
              <a:t>Alice </a:t>
            </a:r>
          </a:p>
        </p:txBody>
      </p:sp>
    </p:spTree>
    <p:extLst>
      <p:ext uri="{BB962C8B-B14F-4D97-AF65-F5344CB8AC3E}">
        <p14:creationId xmlns:p14="http://schemas.microsoft.com/office/powerpoint/2010/main" val="13765776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BFE84-637C-23D5-725B-1127B0E09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1EDEF-44B3-08CC-9427-E0D338B46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756" y="127485"/>
            <a:ext cx="10515600" cy="554191"/>
          </a:xfrm>
        </p:spPr>
        <p:txBody>
          <a:bodyPr>
            <a:normAutofit/>
          </a:bodyPr>
          <a:lstStyle/>
          <a:p>
            <a:r>
              <a:rPr lang="en-US" sz="3200" dirty="0"/>
              <a:t>Screen 4: Communication Center - Technical Specs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BC2A6F-1A57-A43E-E1E4-7174E78E2A2C}"/>
              </a:ext>
            </a:extLst>
          </p:cNvPr>
          <p:cNvSpPr txBox="1"/>
          <p:nvPr/>
        </p:nvSpPr>
        <p:spPr>
          <a:xfrm>
            <a:off x="550606" y="681676"/>
            <a:ext cx="3431459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DATA SOURCES:</a:t>
            </a:r>
          </a:p>
          <a:p>
            <a:r>
              <a:rPr lang="en-US" sz="1000" dirty="0"/>
              <a:t>- </a:t>
            </a:r>
            <a:r>
              <a:rPr lang="en-US" sz="1000" dirty="0" err="1"/>
              <a:t>tbl_Communications</a:t>
            </a:r>
            <a:r>
              <a:rPr lang="en-US" sz="1000" dirty="0"/>
              <a:t> (all message history)</a:t>
            </a:r>
          </a:p>
          <a:p>
            <a:r>
              <a:rPr lang="en-US" sz="1000" dirty="0"/>
              <a:t>- </a:t>
            </a:r>
            <a:r>
              <a:rPr lang="en-US" sz="1000" dirty="0" err="1"/>
              <a:t>tbl_VolumeSubmissions</a:t>
            </a:r>
            <a:r>
              <a:rPr lang="en-US" sz="1000" dirty="0"/>
              <a:t> (for related submissions)</a:t>
            </a:r>
          </a:p>
          <a:p>
            <a:r>
              <a:rPr lang="en-US" sz="1000" dirty="0"/>
              <a:t>- </a:t>
            </a:r>
            <a:r>
              <a:rPr lang="en-US" sz="1000" dirty="0" err="1"/>
              <a:t>tbl_UserCountries</a:t>
            </a:r>
            <a:r>
              <a:rPr lang="en-US" sz="1000" dirty="0"/>
              <a:t> (for coordinator list)</a:t>
            </a:r>
          </a:p>
          <a:p>
            <a:r>
              <a:rPr lang="en-US" sz="1000" dirty="0"/>
              <a:t>- </a:t>
            </a:r>
            <a:r>
              <a:rPr lang="en-US" sz="1000" dirty="0" err="1"/>
              <a:t>tbl_Countries</a:t>
            </a:r>
            <a:r>
              <a:rPr lang="en-US" sz="1000" dirty="0"/>
              <a:t> (for country names)</a:t>
            </a:r>
          </a:p>
          <a:p>
            <a:r>
              <a:rPr lang="en-US" sz="1000" dirty="0"/>
              <a:t>- </a:t>
            </a:r>
            <a:r>
              <a:rPr lang="en-US" sz="1000" dirty="0" err="1"/>
              <a:t>tbl_EmailTemplates</a:t>
            </a:r>
            <a:r>
              <a:rPr lang="en-US" sz="1000" dirty="0"/>
              <a:t> (for message templates)</a:t>
            </a:r>
          </a:p>
          <a:p>
            <a:endParaRPr lang="en-US" sz="1000" dirty="0"/>
          </a:p>
          <a:p>
            <a:r>
              <a:rPr lang="en-US" sz="1000" dirty="0"/>
              <a:t>PAGE CONTEXT:</a:t>
            </a:r>
          </a:p>
          <a:p>
            <a:r>
              <a:rPr lang="en-US" sz="1000" dirty="0"/>
              <a:t>- Central hub for all analyst-coordinator communication</a:t>
            </a:r>
          </a:p>
          <a:p>
            <a:r>
              <a:rPr lang="en-US" sz="1000" dirty="0"/>
              <a:t>- Accessible from any screen via top navigation</a:t>
            </a:r>
          </a:p>
          <a:p>
            <a:r>
              <a:rPr lang="en-US" sz="1000" dirty="0"/>
              <a:t>- Tracks complete message history</a:t>
            </a:r>
          </a:p>
          <a:p>
            <a:r>
              <a:rPr lang="en-US" sz="1000" dirty="0"/>
              <a:t>- Supports bulk messaging for reminders</a:t>
            </a:r>
          </a:p>
          <a:p>
            <a:endParaRPr lang="en-US" sz="1000" dirty="0"/>
          </a:p>
          <a:p>
            <a:r>
              <a:rPr lang="en-US" sz="1000" dirty="0"/>
              <a:t>VIEW FILTERS:</a:t>
            </a:r>
          </a:p>
          <a:p>
            <a:endParaRPr lang="en-US" sz="1000" dirty="0"/>
          </a:p>
          <a:p>
            <a:r>
              <a:rPr lang="en-US" sz="1000" dirty="0"/>
              <a:t>View Dropdown:</a:t>
            </a:r>
          </a:p>
          <a:p>
            <a:r>
              <a:rPr lang="en-US" sz="1000" dirty="0"/>
              <a:t>- All Messages: Shows both sent and received</a:t>
            </a:r>
          </a:p>
          <a:p>
            <a:r>
              <a:rPr lang="en-US" sz="1000" dirty="0"/>
              <a:t>- Sent: Only messages sent by analyst</a:t>
            </a:r>
          </a:p>
          <a:p>
            <a:r>
              <a:rPr lang="en-US" sz="1000" dirty="0"/>
              <a:t>- Received: Only messages from coordinators</a:t>
            </a:r>
          </a:p>
          <a:p>
            <a:r>
              <a:rPr lang="en-US" sz="1000" dirty="0"/>
              <a:t>- Awaiting Response: Sent messages with no reply yet</a:t>
            </a:r>
          </a:p>
          <a:p>
            <a:endParaRPr lang="en-US" sz="1000" dirty="0"/>
          </a:p>
          <a:p>
            <a:r>
              <a:rPr lang="en-US" sz="1000" dirty="0"/>
              <a:t>Country Filter:</a:t>
            </a:r>
          </a:p>
          <a:p>
            <a:r>
              <a:rPr lang="en-US" sz="1000" dirty="0"/>
              <a:t>- Filters to messages related to specific country</a:t>
            </a:r>
          </a:p>
          <a:p>
            <a:r>
              <a:rPr lang="en-US" sz="1000" dirty="0"/>
              <a:t>- Useful when reviewing country-specific issues</a:t>
            </a:r>
          </a:p>
          <a:p>
            <a:endParaRPr lang="en-US" sz="1000" dirty="0"/>
          </a:p>
          <a:p>
            <a:r>
              <a:rPr lang="en-US" sz="1000" dirty="0"/>
              <a:t>Status Filter:</a:t>
            </a:r>
          </a:p>
          <a:p>
            <a:r>
              <a:rPr lang="en-US" sz="1000" dirty="0"/>
              <a:t>- Sent: Message delivered to coordinator</a:t>
            </a:r>
          </a:p>
          <a:p>
            <a:r>
              <a:rPr lang="en-US" sz="1000" dirty="0"/>
              <a:t>- Received: Response from coordinator</a:t>
            </a:r>
          </a:p>
          <a:p>
            <a:r>
              <a:rPr lang="en-US" sz="1000" dirty="0"/>
              <a:t>- Draft: Saved but not sent</a:t>
            </a:r>
          </a:p>
          <a:p>
            <a:r>
              <a:rPr lang="en-US" sz="1000" dirty="0"/>
              <a:t>- Failed: Delivery failure (rare)</a:t>
            </a:r>
          </a:p>
          <a:p>
            <a:endParaRPr lang="en-US" sz="1000" dirty="0"/>
          </a:p>
          <a:p>
            <a:r>
              <a:rPr lang="en-US" sz="1000" dirty="0"/>
              <a:t>Search:</a:t>
            </a:r>
          </a:p>
          <a:p>
            <a:r>
              <a:rPr lang="en-US" sz="1000" dirty="0"/>
              <a:t>- Searches subject line and message body</a:t>
            </a:r>
          </a:p>
          <a:p>
            <a:r>
              <a:rPr lang="en-US" sz="1000" dirty="0"/>
              <a:t>- Searches coordinator names</a:t>
            </a:r>
          </a:p>
          <a:p>
            <a:r>
              <a:rPr lang="en-US" sz="1000" dirty="0"/>
              <a:t>- Searches submission IDs</a:t>
            </a:r>
          </a:p>
          <a:p>
            <a:endParaRPr lang="en-US" sz="1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018180-BF40-A6C7-759C-2CDA5A4F3E0D}"/>
              </a:ext>
            </a:extLst>
          </p:cNvPr>
          <p:cNvSpPr txBox="1"/>
          <p:nvPr/>
        </p:nvSpPr>
        <p:spPr>
          <a:xfrm>
            <a:off x="3982065" y="681676"/>
            <a:ext cx="3431459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MESSAGES LIST TABLE:</a:t>
            </a:r>
          </a:p>
          <a:p>
            <a:endParaRPr lang="en-US" sz="1000" dirty="0"/>
          </a:p>
          <a:p>
            <a:r>
              <a:rPr lang="en-US" sz="1000" dirty="0"/>
              <a:t>Columns:</a:t>
            </a:r>
          </a:p>
          <a:p>
            <a:r>
              <a:rPr lang="en-US" sz="1000" dirty="0"/>
              <a:t>- Date/Time: When message sent/received (most recent first)</a:t>
            </a:r>
          </a:p>
          <a:p>
            <a:r>
              <a:rPr lang="en-US" sz="1000" dirty="0"/>
              <a:t>- To/From: Coordinator name (clickable - opens contact card)</a:t>
            </a:r>
          </a:p>
          <a:p>
            <a:r>
              <a:rPr lang="en-US" sz="1000" dirty="0"/>
              <a:t>- Country: Related country</a:t>
            </a:r>
          </a:p>
          <a:p>
            <a:r>
              <a:rPr lang="en-US" sz="1000" dirty="0"/>
              <a:t>- Subject: Message subject line (truncated if long)</a:t>
            </a:r>
          </a:p>
          <a:p>
            <a:r>
              <a:rPr lang="en-US" sz="1000" dirty="0"/>
              <a:t>- Status: Sent/Received/Awaiting Response/Draft</a:t>
            </a:r>
          </a:p>
          <a:p>
            <a:r>
              <a:rPr lang="en-US" sz="1000" dirty="0"/>
              <a:t>- Actions: View, Reply (if received)</a:t>
            </a:r>
          </a:p>
          <a:p>
            <a:endParaRPr lang="en-US" sz="1000" dirty="0"/>
          </a:p>
          <a:p>
            <a:r>
              <a:rPr lang="en-US" sz="1000" dirty="0"/>
              <a:t>Row Behavior:</a:t>
            </a:r>
          </a:p>
          <a:p>
            <a:r>
              <a:rPr lang="en-US" sz="1000" dirty="0"/>
              <a:t>- Click anywhere on row → Opens message detail panel</a:t>
            </a:r>
          </a:p>
          <a:p>
            <a:r>
              <a:rPr lang="en-US" sz="1000" dirty="0"/>
              <a:t>- Unread messages shown in bold</a:t>
            </a:r>
          </a:p>
          <a:p>
            <a:r>
              <a:rPr lang="en-US" sz="1000" dirty="0"/>
              <a:t>- High priority messages shown with 🔴 indicator</a:t>
            </a:r>
          </a:p>
          <a:p>
            <a:r>
              <a:rPr lang="en-US" sz="1000" dirty="0"/>
              <a:t>- Related submission ID shown in parentheses if applicable</a:t>
            </a:r>
          </a:p>
          <a:p>
            <a:endParaRPr lang="en-US" sz="1000" dirty="0"/>
          </a:p>
          <a:p>
            <a:r>
              <a:rPr lang="en-US" sz="1000" dirty="0"/>
              <a:t>MESSAGE DETAIL PANEL:</a:t>
            </a:r>
          </a:p>
          <a:p>
            <a:endParaRPr lang="en-US" sz="1000" dirty="0"/>
          </a:p>
          <a:p>
            <a:r>
              <a:rPr lang="en-US" sz="1000" dirty="0"/>
              <a:t>Shows When "View" Clicked:</a:t>
            </a:r>
          </a:p>
          <a:p>
            <a:r>
              <a:rPr lang="en-US" sz="1000" dirty="0"/>
              <a:t>- Full message header (date, from, to, subject)</a:t>
            </a:r>
          </a:p>
          <a:p>
            <a:r>
              <a:rPr lang="en-US" sz="1000" dirty="0"/>
              <a:t>- Related submission ID (clickable - opens submission detail)</a:t>
            </a:r>
          </a:p>
          <a:p>
            <a:r>
              <a:rPr lang="en-US" sz="1000" dirty="0"/>
              <a:t>- Complete message body (formatted HTML preserved)</a:t>
            </a:r>
          </a:p>
          <a:p>
            <a:r>
              <a:rPr lang="en-US" sz="1000" dirty="0"/>
              <a:t>- Attachments list (if any)</a:t>
            </a:r>
          </a:p>
          <a:p>
            <a:r>
              <a:rPr lang="en-US" sz="1000" dirty="0"/>
              <a:t>- Status and delivery info</a:t>
            </a:r>
          </a:p>
          <a:p>
            <a:r>
              <a:rPr lang="en-US" sz="1000" dirty="0"/>
              <a:t>- Action buttons: Reply, Forward, Close</a:t>
            </a:r>
          </a:p>
          <a:p>
            <a:endParaRPr lang="en-US" sz="1000" dirty="0"/>
          </a:p>
          <a:p>
            <a:r>
              <a:rPr lang="en-US" sz="1000" dirty="0"/>
              <a:t>Reply Function:</a:t>
            </a:r>
          </a:p>
          <a:p>
            <a:r>
              <a:rPr lang="en-US" sz="1000" dirty="0"/>
              <a:t>- Pre-populates "To:" with original sender</a:t>
            </a:r>
          </a:p>
          <a:p>
            <a:r>
              <a:rPr lang="en-US" sz="1000" dirty="0"/>
              <a:t>- Subject: "Re: [Original Subject]"</a:t>
            </a:r>
          </a:p>
          <a:p>
            <a:r>
              <a:rPr lang="en-US" sz="1000" dirty="0"/>
              <a:t>- Quotes original message below</a:t>
            </a:r>
          </a:p>
          <a:p>
            <a:r>
              <a:rPr lang="en-US" sz="1000" dirty="0"/>
              <a:t>- Same compose interface as new message</a:t>
            </a:r>
          </a:p>
          <a:p>
            <a:endParaRPr lang="en-US" sz="1000" dirty="0"/>
          </a:p>
          <a:p>
            <a:endParaRPr lang="en-US" sz="1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1E53AF-3A74-3BC3-F30B-AED5EC90EC5C}"/>
              </a:ext>
            </a:extLst>
          </p:cNvPr>
          <p:cNvSpPr txBox="1"/>
          <p:nvPr/>
        </p:nvSpPr>
        <p:spPr>
          <a:xfrm>
            <a:off x="7413524" y="681676"/>
            <a:ext cx="3431459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COMPOSE MESSAGE FORM:</a:t>
            </a:r>
          </a:p>
          <a:p>
            <a:endParaRPr lang="en-US" sz="1000" dirty="0"/>
          </a:p>
          <a:p>
            <a:r>
              <a:rPr lang="en-US" sz="1000" dirty="0"/>
              <a:t>To Field (Multi-Select):</a:t>
            </a:r>
          </a:p>
          <a:p>
            <a:r>
              <a:rPr lang="en-US" sz="1000" dirty="0"/>
              <a:t>- Dropdown showing all active coordinators</a:t>
            </a:r>
          </a:p>
          <a:p>
            <a:r>
              <a:rPr lang="en-US" sz="1000" dirty="0"/>
              <a:t>- Sorted by country name</a:t>
            </a:r>
          </a:p>
          <a:p>
            <a:r>
              <a:rPr lang="en-US" sz="1000" dirty="0"/>
              <a:t>- Shows: "[Coordinator Name] ([Country])"</a:t>
            </a:r>
          </a:p>
          <a:p>
            <a:r>
              <a:rPr lang="en-US" sz="1000" dirty="0"/>
              <a:t>- Multi-select enabled for bulk messages</a:t>
            </a:r>
          </a:p>
          <a:p>
            <a:r>
              <a:rPr lang="en-US" sz="1000" dirty="0"/>
              <a:t>- "Select All" option for broadcast messages</a:t>
            </a:r>
          </a:p>
          <a:p>
            <a:endParaRPr lang="en-US" sz="1000" dirty="0"/>
          </a:p>
          <a:p>
            <a:r>
              <a:rPr lang="en-US" sz="1000" dirty="0"/>
              <a:t>Related Submission Field:</a:t>
            </a:r>
          </a:p>
          <a:p>
            <a:r>
              <a:rPr lang="en-US" sz="1000" dirty="0"/>
              <a:t>- Optional link to specific submission</a:t>
            </a:r>
          </a:p>
          <a:p>
            <a:r>
              <a:rPr lang="en-US" sz="1000" dirty="0"/>
              <a:t>- Dropdown shows recent submissions</a:t>
            </a:r>
          </a:p>
          <a:p>
            <a:r>
              <a:rPr lang="en-US" sz="1000" dirty="0"/>
              <a:t>- If linked:</a:t>
            </a:r>
          </a:p>
          <a:p>
            <a:r>
              <a:rPr lang="en-US" sz="1000" dirty="0"/>
              <a:t>  * Automatically includes submission ID in subject</a:t>
            </a:r>
          </a:p>
          <a:p>
            <a:r>
              <a:rPr lang="en-US" sz="1000" dirty="0"/>
              <a:t>  * Creates record in </a:t>
            </a:r>
            <a:r>
              <a:rPr lang="en-US" sz="1000" dirty="0" err="1"/>
              <a:t>tbl_Communications</a:t>
            </a:r>
            <a:r>
              <a:rPr lang="en-US" sz="1000" dirty="0"/>
              <a:t> with </a:t>
            </a:r>
            <a:r>
              <a:rPr lang="en-US" sz="1000" dirty="0" err="1"/>
              <a:t>SubmissionID</a:t>
            </a:r>
            <a:endParaRPr lang="en-US" sz="1000" dirty="0"/>
          </a:p>
          <a:p>
            <a:endParaRPr lang="en-US" sz="1000" dirty="0"/>
          </a:p>
          <a:p>
            <a:r>
              <a:rPr lang="en-US" sz="1000" dirty="0"/>
              <a:t>Template Selection:</a:t>
            </a:r>
          </a:p>
          <a:p>
            <a:r>
              <a:rPr lang="en-US" sz="1000" dirty="0"/>
              <a:t>- Dropdown of predefined templates</a:t>
            </a:r>
          </a:p>
          <a:p>
            <a:r>
              <a:rPr lang="en-US" sz="1000" dirty="0"/>
              <a:t>- Selecting template pre-populates subject and body</a:t>
            </a:r>
          </a:p>
          <a:p>
            <a:r>
              <a:rPr lang="en-US" sz="1000" dirty="0"/>
              <a:t>- Placeholders auto-replaced:</a:t>
            </a:r>
          </a:p>
          <a:p>
            <a:r>
              <a:rPr lang="en-US" sz="1000" dirty="0"/>
              <a:t>  * [Coordinator Name] → Actual name</a:t>
            </a:r>
          </a:p>
          <a:p>
            <a:r>
              <a:rPr lang="en-US" sz="1000" dirty="0"/>
              <a:t>  * [Country] → Country name</a:t>
            </a:r>
          </a:p>
          <a:p>
            <a:r>
              <a:rPr lang="en-US" sz="1000" dirty="0"/>
              <a:t>  * [Month] → Submission month</a:t>
            </a:r>
          </a:p>
          <a:p>
            <a:r>
              <a:rPr lang="en-US" sz="1000" dirty="0"/>
              <a:t>  * [Analyst Name] → Alice Katt</a:t>
            </a:r>
          </a:p>
          <a:p>
            <a:r>
              <a:rPr lang="en-US" sz="1000" dirty="0"/>
              <a:t>  * [Submission ID] → If submission selected</a:t>
            </a:r>
          </a:p>
          <a:p>
            <a:r>
              <a:rPr lang="en-US" sz="1000" dirty="0"/>
              <a:t>  * [Deadline Date] → From </a:t>
            </a:r>
            <a:r>
              <a:rPr lang="en-US" sz="1000" dirty="0" err="1"/>
              <a:t>tbl_SystemConfig</a:t>
            </a:r>
            <a:endParaRPr lang="en-US" sz="1000" dirty="0"/>
          </a:p>
          <a:p>
            <a:endParaRPr lang="en-US" sz="1000" dirty="0"/>
          </a:p>
          <a:p>
            <a:r>
              <a:rPr lang="en-US" sz="1000" dirty="0"/>
              <a:t>Subject Field:</a:t>
            </a:r>
          </a:p>
          <a:p>
            <a:r>
              <a:rPr lang="en-US" sz="1000" dirty="0"/>
              <a:t>- Single line text (max 255 characters)</a:t>
            </a:r>
          </a:p>
          <a:p>
            <a:r>
              <a:rPr lang="en-US" sz="1000" dirty="0"/>
              <a:t>- Auto-populated if template selected</a:t>
            </a:r>
          </a:p>
          <a:p>
            <a:r>
              <a:rPr lang="en-US" sz="1000" dirty="0"/>
              <a:t>- Editable after template selection</a:t>
            </a:r>
          </a:p>
          <a:p>
            <a:endParaRPr lang="en-US" sz="1000" dirty="0"/>
          </a:p>
          <a:p>
            <a:r>
              <a:rPr lang="en-US" sz="1000" dirty="0"/>
              <a:t>Message Body:</a:t>
            </a:r>
          </a:p>
          <a:p>
            <a:r>
              <a:rPr lang="en-US" sz="1000" dirty="0"/>
              <a:t>- Multi-line text area (up to 5000 characters)</a:t>
            </a:r>
          </a:p>
          <a:p>
            <a:r>
              <a:rPr lang="en-US" sz="1000" dirty="0"/>
              <a:t>- Supports basic formatting (preserved in email)</a:t>
            </a:r>
          </a:p>
          <a:p>
            <a:r>
              <a:rPr lang="en-US" sz="1000" dirty="0"/>
              <a:t>- If template selected, shows pre-written text with placeholders replaced</a:t>
            </a:r>
          </a:p>
          <a:p>
            <a:r>
              <a:rPr lang="en-US" sz="1000" dirty="0"/>
              <a:t>- Fully editable</a:t>
            </a:r>
          </a:p>
          <a:p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7438875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04113-0313-883F-8B61-509786BA8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C4B7D-64CF-4BEF-97E0-B30F6016E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756" y="127485"/>
            <a:ext cx="10515600" cy="554191"/>
          </a:xfrm>
        </p:spPr>
        <p:txBody>
          <a:bodyPr>
            <a:normAutofit/>
          </a:bodyPr>
          <a:lstStyle/>
          <a:p>
            <a:r>
              <a:rPr lang="en-US" sz="3200" dirty="0"/>
              <a:t>Screen 4: Communication Center - Technical Specs (2)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F7ECA42-F903-1577-911C-3F24F9CDD864}"/>
              </a:ext>
            </a:extLst>
          </p:cNvPr>
          <p:cNvSpPr txBox="1"/>
          <p:nvPr/>
        </p:nvSpPr>
        <p:spPr>
          <a:xfrm>
            <a:off x="550606" y="681676"/>
            <a:ext cx="3431459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Attachments:</a:t>
            </a:r>
          </a:p>
          <a:p>
            <a:r>
              <a:rPr lang="en-US" sz="1000" dirty="0"/>
              <a:t>- Supports common file types (PDF, Excel, Word, images)</a:t>
            </a:r>
          </a:p>
          <a:p>
            <a:r>
              <a:rPr lang="en-US" sz="1000" dirty="0"/>
              <a:t>- Max 10MB per file</a:t>
            </a:r>
          </a:p>
          <a:p>
            <a:r>
              <a:rPr lang="en-US" sz="1000" dirty="0"/>
              <a:t>- Max 3 attachments per message</a:t>
            </a:r>
          </a:p>
          <a:p>
            <a:r>
              <a:rPr lang="en-US" sz="1000" dirty="0"/>
              <a:t>- Stored in SharePoint document library</a:t>
            </a:r>
          </a:p>
          <a:p>
            <a:endParaRPr lang="en-US" sz="1000" dirty="0"/>
          </a:p>
          <a:p>
            <a:r>
              <a:rPr lang="en-US" sz="1000" dirty="0"/>
              <a:t>Options:</a:t>
            </a:r>
          </a:p>
          <a:p>
            <a:r>
              <a:rPr lang="en-US" sz="1000" dirty="0"/>
              <a:t>- Send copy to me: BCC analyst on the message</a:t>
            </a:r>
          </a:p>
          <a:p>
            <a:r>
              <a:rPr lang="en-US" sz="1000" dirty="0"/>
              <a:t>- Mark as high priority: Adds 🔴 indicator, subject line gets "URGENT:"</a:t>
            </a:r>
          </a:p>
          <a:p>
            <a:endParaRPr lang="en-US" sz="1000" dirty="0"/>
          </a:p>
          <a:p>
            <a:r>
              <a:rPr lang="en-US" sz="1000" dirty="0"/>
              <a:t>SEND ACTION:</a:t>
            </a:r>
          </a:p>
          <a:p>
            <a:r>
              <a:rPr lang="en-US" sz="1000" dirty="0"/>
              <a:t>- Validates required fields (To, Subject, Message)</a:t>
            </a:r>
          </a:p>
          <a:p>
            <a:r>
              <a:rPr lang="en-US" sz="1000" dirty="0"/>
              <a:t>- Creates record in </a:t>
            </a:r>
            <a:r>
              <a:rPr lang="en-US" sz="1000" dirty="0" err="1"/>
              <a:t>tbl_Communications</a:t>
            </a:r>
            <a:endParaRPr lang="en-US" sz="1000" dirty="0"/>
          </a:p>
          <a:p>
            <a:r>
              <a:rPr lang="en-US" sz="1000" dirty="0"/>
              <a:t>- Sends email via Power Automate flow</a:t>
            </a:r>
          </a:p>
          <a:p>
            <a:r>
              <a:rPr lang="en-US" sz="1000" dirty="0"/>
              <a:t>- Updates status to "Sent"</a:t>
            </a:r>
          </a:p>
          <a:p>
            <a:r>
              <a:rPr lang="en-US" sz="1000" dirty="0"/>
              <a:t>- Shows confirmation: "Message sent to [X] coordinator(s)"</a:t>
            </a:r>
          </a:p>
          <a:p>
            <a:r>
              <a:rPr lang="en-US" sz="1000" dirty="0"/>
              <a:t>- Returns to message list (showing new message at top)</a:t>
            </a:r>
          </a:p>
          <a:p>
            <a:endParaRPr lang="en-US" sz="1000" dirty="0"/>
          </a:p>
          <a:p>
            <a:r>
              <a:rPr lang="en-US" sz="1000" dirty="0"/>
              <a:t>SAVE AS DRAFT:</a:t>
            </a:r>
          </a:p>
          <a:p>
            <a:r>
              <a:rPr lang="en-US" sz="1000" dirty="0"/>
              <a:t>- Saves with Status = "Draft"</a:t>
            </a:r>
          </a:p>
          <a:p>
            <a:r>
              <a:rPr lang="en-US" sz="1000" dirty="0"/>
              <a:t>- Accessible from view filter: "Drafts"</a:t>
            </a:r>
          </a:p>
          <a:p>
            <a:r>
              <a:rPr lang="en-US" sz="1000" dirty="0"/>
              <a:t>- Can edit and send later</a:t>
            </a:r>
          </a:p>
          <a:p>
            <a:r>
              <a:rPr lang="en-US" sz="1000" dirty="0"/>
              <a:t>- No email sent until "Send" clicked</a:t>
            </a:r>
          </a:p>
          <a:p>
            <a:endParaRPr lang="en-US" sz="1000" dirty="0"/>
          </a:p>
          <a:p>
            <a:endParaRPr lang="en-US" sz="1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DE661B-AA78-0056-3CEE-46C48F51723E}"/>
              </a:ext>
            </a:extLst>
          </p:cNvPr>
          <p:cNvSpPr txBox="1"/>
          <p:nvPr/>
        </p:nvSpPr>
        <p:spPr>
          <a:xfrm>
            <a:off x="3982065" y="681676"/>
            <a:ext cx="3431459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EMAIL TEMPLATES:</a:t>
            </a:r>
          </a:p>
          <a:p>
            <a:endParaRPr lang="en-US" sz="1000" dirty="0"/>
          </a:p>
          <a:p>
            <a:r>
              <a:rPr lang="en-US" sz="1000" dirty="0"/>
              <a:t>Template 1: Clarification - Variance Explanation</a:t>
            </a:r>
          </a:p>
          <a:p>
            <a:r>
              <a:rPr lang="en-US" sz="1000" dirty="0"/>
              <a:t>Subject: "Clarification Needed: [Month] Submission for [Country]"</a:t>
            </a:r>
          </a:p>
          <a:p>
            <a:r>
              <a:rPr lang="en-US" sz="1000" dirty="0"/>
              <a:t>Body:</a:t>
            </a:r>
          </a:p>
          <a:p>
            <a:r>
              <a:rPr lang="en-US" sz="1000" dirty="0"/>
              <a:t>"Hi [Coordinator Name],</a:t>
            </a:r>
          </a:p>
          <a:p>
            <a:endParaRPr lang="en-US" sz="1000" dirty="0"/>
          </a:p>
          <a:p>
            <a:r>
              <a:rPr lang="en-US" sz="1000" dirty="0"/>
              <a:t>I'm reviewing your [Month] submission (ID: [Submission ID]) and need some clarification.</a:t>
            </a:r>
          </a:p>
          <a:p>
            <a:endParaRPr lang="en-US" sz="1000" dirty="0"/>
          </a:p>
          <a:p>
            <a:r>
              <a:rPr lang="en-US" sz="1000" dirty="0"/>
              <a:t>[Specific issue - analyst fills in]</a:t>
            </a:r>
          </a:p>
          <a:p>
            <a:endParaRPr lang="en-US" sz="1000" dirty="0"/>
          </a:p>
          <a:p>
            <a:r>
              <a:rPr lang="en-US" sz="1000" dirty="0"/>
              <a:t>Could you please provide context? This will help me validate your submission.</a:t>
            </a:r>
          </a:p>
          <a:p>
            <a:endParaRPr lang="en-US" sz="1000" dirty="0"/>
          </a:p>
          <a:p>
            <a:r>
              <a:rPr lang="en-US" sz="1000" dirty="0"/>
              <a:t>Thank you,</a:t>
            </a:r>
          </a:p>
          <a:p>
            <a:r>
              <a:rPr lang="en-US" sz="1000" dirty="0"/>
              <a:t>[Analyst Name]"</a:t>
            </a:r>
          </a:p>
          <a:p>
            <a:endParaRPr lang="en-US" sz="1000" dirty="0"/>
          </a:p>
          <a:p>
            <a:r>
              <a:rPr lang="en-US" sz="1000" dirty="0"/>
              <a:t>Template 2: Reminder - Submission Deadline</a:t>
            </a:r>
          </a:p>
          <a:p>
            <a:r>
              <a:rPr lang="en-US" sz="1000" dirty="0"/>
              <a:t>Subject: "Reminder: [Month] Submission Deadline - [Deadline Date]"</a:t>
            </a:r>
          </a:p>
          <a:p>
            <a:r>
              <a:rPr lang="en-US" sz="1000" dirty="0"/>
              <a:t>Body:</a:t>
            </a:r>
          </a:p>
          <a:p>
            <a:r>
              <a:rPr lang="en-US" sz="1000" dirty="0"/>
              <a:t>"Hi [Coordinator Name],</a:t>
            </a:r>
          </a:p>
          <a:p>
            <a:endParaRPr lang="en-US" sz="1000" dirty="0"/>
          </a:p>
          <a:p>
            <a:r>
              <a:rPr lang="en-US" sz="1000" dirty="0"/>
              <a:t>This is a friendly reminder that the deadline for [Month] enrollment volume submissions is [Deadline Date] (3rd business day).</a:t>
            </a:r>
          </a:p>
          <a:p>
            <a:endParaRPr lang="en-US" sz="1000" dirty="0"/>
          </a:p>
          <a:p>
            <a:r>
              <a:rPr lang="en-US" sz="1000" dirty="0"/>
              <a:t>Your submission for [Country] has not been received yet. Please submit at your earliest convenience.</a:t>
            </a:r>
          </a:p>
          <a:p>
            <a:endParaRPr lang="en-US" sz="1000" dirty="0"/>
          </a:p>
          <a:p>
            <a:r>
              <a:rPr lang="en-US" sz="1000" dirty="0"/>
              <a:t>If you need assistance, please reply to this email.</a:t>
            </a:r>
          </a:p>
          <a:p>
            <a:endParaRPr lang="en-US" sz="1000" dirty="0"/>
          </a:p>
          <a:p>
            <a:r>
              <a:rPr lang="en-US" sz="1000" dirty="0"/>
              <a:t>Thank you,</a:t>
            </a:r>
          </a:p>
          <a:p>
            <a:r>
              <a:rPr lang="en-US" sz="1000" dirty="0"/>
              <a:t>[Analyst Name]"</a:t>
            </a:r>
          </a:p>
          <a:p>
            <a:endParaRPr lang="en-US" sz="1000" dirty="0"/>
          </a:p>
          <a:p>
            <a:endParaRPr lang="en-US" sz="1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AF8441-3E77-85F1-F99D-DB8C4167DFA4}"/>
              </a:ext>
            </a:extLst>
          </p:cNvPr>
          <p:cNvSpPr txBox="1"/>
          <p:nvPr/>
        </p:nvSpPr>
        <p:spPr>
          <a:xfrm>
            <a:off x="7413524" y="681676"/>
            <a:ext cx="3431459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Template 3: Thank You - Timely Submission</a:t>
            </a:r>
          </a:p>
          <a:p>
            <a:r>
              <a:rPr lang="en-US" sz="1000" dirty="0"/>
              <a:t>Subject: "Thank You: [Month] Submission Received"</a:t>
            </a:r>
          </a:p>
          <a:p>
            <a:r>
              <a:rPr lang="en-US" sz="1000" dirty="0"/>
              <a:t>Body:</a:t>
            </a:r>
          </a:p>
          <a:p>
            <a:r>
              <a:rPr lang="en-US" sz="1000" dirty="0"/>
              <a:t>"Hi [Coordinator Name],</a:t>
            </a:r>
          </a:p>
          <a:p>
            <a:endParaRPr lang="en-US" sz="1000" dirty="0"/>
          </a:p>
          <a:p>
            <a:r>
              <a:rPr lang="en-US" sz="1000" dirty="0"/>
              <a:t>Thank you for submitting your [Month] enrollment volumes for [Country] on time!</a:t>
            </a:r>
          </a:p>
          <a:p>
            <a:endParaRPr lang="en-US" sz="1000" dirty="0"/>
          </a:p>
          <a:p>
            <a:r>
              <a:rPr lang="en-US" sz="1000" dirty="0"/>
              <a:t>Your submission (ID: [Submission ID]) has been received and is being reviewed.</a:t>
            </a:r>
          </a:p>
          <a:p>
            <a:endParaRPr lang="en-US" sz="1000" dirty="0"/>
          </a:p>
          <a:p>
            <a:r>
              <a:rPr lang="en-US" sz="1000" dirty="0"/>
              <a:t>Thank you,</a:t>
            </a:r>
          </a:p>
          <a:p>
            <a:r>
              <a:rPr lang="en-US" sz="1000" dirty="0"/>
              <a:t>[Analyst Name]"</a:t>
            </a:r>
          </a:p>
          <a:p>
            <a:endParaRPr lang="en-US" sz="1000" dirty="0"/>
          </a:p>
          <a:p>
            <a:r>
              <a:rPr lang="en-US" sz="1000" dirty="0"/>
              <a:t>Template 4: Approval Notification</a:t>
            </a:r>
          </a:p>
          <a:p>
            <a:r>
              <a:rPr lang="en-US" sz="1000" dirty="0"/>
              <a:t>Subject: "Approved: [Month] Submission for [Country]"</a:t>
            </a:r>
          </a:p>
          <a:p>
            <a:r>
              <a:rPr lang="en-US" sz="1000" dirty="0"/>
              <a:t>Body:</a:t>
            </a:r>
          </a:p>
          <a:p>
            <a:r>
              <a:rPr lang="en-US" sz="1000" dirty="0"/>
              <a:t>"Hi [Coordinator Name],</a:t>
            </a:r>
          </a:p>
          <a:p>
            <a:endParaRPr lang="en-US" sz="1000" dirty="0"/>
          </a:p>
          <a:p>
            <a:r>
              <a:rPr lang="en-US" sz="1000" dirty="0"/>
              <a:t>Your [Month] enrollment volume submission for [Country] (ID: [Submission ID]) has been validated and approved.</a:t>
            </a:r>
          </a:p>
          <a:p>
            <a:endParaRPr lang="en-US" sz="1000" dirty="0"/>
          </a:p>
          <a:p>
            <a:r>
              <a:rPr lang="en-US" sz="1000" dirty="0"/>
              <a:t>The data is now available in reports.</a:t>
            </a:r>
          </a:p>
          <a:p>
            <a:endParaRPr lang="en-US" sz="1000" dirty="0"/>
          </a:p>
          <a:p>
            <a:r>
              <a:rPr lang="en-US" sz="1000" dirty="0"/>
              <a:t>Thank you,</a:t>
            </a:r>
          </a:p>
          <a:p>
            <a:r>
              <a:rPr lang="en-US" sz="1000" dirty="0"/>
              <a:t>[Analyst Name]"</a:t>
            </a:r>
          </a:p>
          <a:p>
            <a:endParaRPr lang="en-US" sz="1000" dirty="0"/>
          </a:p>
          <a:p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7966964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4EBD82-5F8C-F91B-EEF3-BB72AEDC0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7203C-5189-4A80-B47E-6E062C3CA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756" y="127485"/>
            <a:ext cx="10515600" cy="554191"/>
          </a:xfrm>
        </p:spPr>
        <p:txBody>
          <a:bodyPr>
            <a:normAutofit/>
          </a:bodyPr>
          <a:lstStyle/>
          <a:p>
            <a:r>
              <a:rPr lang="en-US" sz="3200" dirty="0"/>
              <a:t>Screen 4: Communication Center - Technical Specs (3)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69EFCDB-9446-19C6-396A-5CAB53C7F306}"/>
              </a:ext>
            </a:extLst>
          </p:cNvPr>
          <p:cNvSpPr txBox="1"/>
          <p:nvPr/>
        </p:nvSpPr>
        <p:spPr>
          <a:xfrm>
            <a:off x="550606" y="681676"/>
            <a:ext cx="3431459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Template 5: Flag Resolution Request</a:t>
            </a:r>
          </a:p>
          <a:p>
            <a:r>
              <a:rPr lang="en-US" sz="1000" dirty="0"/>
              <a:t>Subject: "Follow-up Needed: [Month] Submission"</a:t>
            </a:r>
          </a:p>
          <a:p>
            <a:r>
              <a:rPr lang="en-US" sz="1000" dirty="0"/>
              <a:t>Body:</a:t>
            </a:r>
          </a:p>
          <a:p>
            <a:r>
              <a:rPr lang="en-US" sz="1000" dirty="0"/>
              <a:t>"Hi [Coordinator Name],</a:t>
            </a:r>
          </a:p>
          <a:p>
            <a:endParaRPr lang="en-US" sz="1000" dirty="0"/>
          </a:p>
          <a:p>
            <a:r>
              <a:rPr lang="en-US" sz="1000" dirty="0"/>
              <a:t>Your [Month] submission for [Country] has been flagged for review due to: [Flag reason]</a:t>
            </a:r>
          </a:p>
          <a:p>
            <a:endParaRPr lang="en-US" sz="1000" dirty="0"/>
          </a:p>
          <a:p>
            <a:r>
              <a:rPr lang="en-US" sz="1000" dirty="0"/>
              <a:t>Please review and either confirm the volumes are correct or submit updated values.</a:t>
            </a:r>
          </a:p>
          <a:p>
            <a:endParaRPr lang="en-US" sz="1000" dirty="0"/>
          </a:p>
          <a:p>
            <a:r>
              <a:rPr lang="en-US" sz="1000" dirty="0"/>
              <a:t>Submission ID: [Submission ID]</a:t>
            </a:r>
          </a:p>
          <a:p>
            <a:endParaRPr lang="en-US" sz="1000" dirty="0"/>
          </a:p>
          <a:p>
            <a:r>
              <a:rPr lang="en-US" sz="1000" dirty="0"/>
              <a:t>Thank you,</a:t>
            </a:r>
          </a:p>
          <a:p>
            <a:r>
              <a:rPr lang="en-US" sz="1000" dirty="0"/>
              <a:t>[Analyst Name]"</a:t>
            </a:r>
          </a:p>
          <a:p>
            <a:endParaRPr lang="en-US" sz="1000" dirty="0"/>
          </a:p>
          <a:p>
            <a:r>
              <a:rPr lang="en-US" sz="1000" dirty="0"/>
              <a:t>BULK MESSAGING:</a:t>
            </a:r>
          </a:p>
          <a:p>
            <a:r>
              <a:rPr lang="en-US" sz="1000" dirty="0"/>
              <a:t>- Select multiple coordinators from "To:" dropdown</a:t>
            </a:r>
          </a:p>
          <a:p>
            <a:r>
              <a:rPr lang="en-US" sz="1000" dirty="0"/>
              <a:t>- Message sent to each individually (not group email)</a:t>
            </a:r>
          </a:p>
          <a:p>
            <a:r>
              <a:rPr lang="en-US" sz="1000" dirty="0"/>
              <a:t>- Each recipient sees only their name in "To:" field</a:t>
            </a:r>
          </a:p>
          <a:p>
            <a:r>
              <a:rPr lang="en-US" sz="1000" dirty="0"/>
              <a:t>- Placeholders replaced per recipient:</a:t>
            </a:r>
          </a:p>
          <a:p>
            <a:r>
              <a:rPr lang="en-US" sz="1000" dirty="0"/>
              <a:t>  * [Coordinator Name] → Individual name</a:t>
            </a:r>
          </a:p>
          <a:p>
            <a:r>
              <a:rPr lang="en-US" sz="1000" dirty="0"/>
              <a:t>  * [Country] → Individual country</a:t>
            </a:r>
          </a:p>
          <a:p>
            <a:r>
              <a:rPr lang="en-US" sz="1000" dirty="0"/>
              <a:t>- Creates separate </a:t>
            </a:r>
            <a:r>
              <a:rPr lang="en-US" sz="1000" dirty="0" err="1"/>
              <a:t>tbl_Communications</a:t>
            </a:r>
            <a:r>
              <a:rPr lang="en-US" sz="1000" dirty="0"/>
              <a:t> record per recipient</a:t>
            </a:r>
          </a:p>
          <a:p>
            <a:r>
              <a:rPr lang="en-US" sz="1000" dirty="0"/>
              <a:t>- Tracking: Shows "Sent to 15 coordinators" in message list</a:t>
            </a:r>
          </a:p>
          <a:p>
            <a:endParaRPr lang="en-US" sz="1000" dirty="0"/>
          </a:p>
          <a:p>
            <a:r>
              <a:rPr lang="en-US" sz="1000" dirty="0"/>
              <a:t>MESSAGE STATS:</a:t>
            </a:r>
          </a:p>
          <a:p>
            <a:r>
              <a:rPr lang="en-US" sz="1000" dirty="0"/>
              <a:t>- Calculated from </a:t>
            </a:r>
            <a:r>
              <a:rPr lang="en-US" sz="1000" dirty="0" err="1"/>
              <a:t>tbl_Communications</a:t>
            </a:r>
            <a:endParaRPr lang="en-US" sz="1000" dirty="0"/>
          </a:p>
          <a:p>
            <a:r>
              <a:rPr lang="en-US" sz="1000" dirty="0"/>
              <a:t>- Sent: Count where </a:t>
            </a:r>
            <a:r>
              <a:rPr lang="en-US" sz="1000" dirty="0" err="1"/>
              <a:t>FromUserID</a:t>
            </a:r>
            <a:r>
              <a:rPr lang="en-US" sz="1000" dirty="0"/>
              <a:t> = Alice AND </a:t>
            </a:r>
            <a:r>
              <a:rPr lang="en-US" sz="1000" dirty="0" err="1"/>
              <a:t>SentDate</a:t>
            </a:r>
            <a:r>
              <a:rPr lang="en-US" sz="1000" dirty="0"/>
              <a:t> within current month</a:t>
            </a:r>
          </a:p>
          <a:p>
            <a:r>
              <a:rPr lang="en-US" sz="1000" dirty="0"/>
              <a:t>- Received: Count where </a:t>
            </a:r>
            <a:r>
              <a:rPr lang="en-US" sz="1000" dirty="0" err="1"/>
              <a:t>ToUserID</a:t>
            </a:r>
            <a:r>
              <a:rPr lang="en-US" sz="1000" dirty="0"/>
              <a:t> = Alice AND </a:t>
            </a:r>
            <a:r>
              <a:rPr lang="en-US" sz="1000" dirty="0" err="1"/>
              <a:t>SentDate</a:t>
            </a:r>
            <a:r>
              <a:rPr lang="en-US" sz="1000" dirty="0"/>
              <a:t> within current month</a:t>
            </a:r>
          </a:p>
          <a:p>
            <a:r>
              <a:rPr lang="en-US" sz="1000" dirty="0"/>
              <a:t>- Awaiting Response: Sent messages with no reply (no matching received message with parent ID)</a:t>
            </a:r>
          </a:p>
          <a:p>
            <a:r>
              <a:rPr lang="en-US" sz="1000" dirty="0"/>
              <a:t>- Avg Response Time: AVG(</a:t>
            </a:r>
            <a:r>
              <a:rPr lang="en-US" sz="1000" dirty="0" err="1"/>
              <a:t>DateDiff</a:t>
            </a:r>
            <a:r>
              <a:rPr lang="en-US" sz="1000" dirty="0"/>
              <a:t>(</a:t>
            </a:r>
            <a:r>
              <a:rPr lang="en-US" sz="1000" dirty="0" err="1"/>
              <a:t>SentDate</a:t>
            </a:r>
            <a:r>
              <a:rPr lang="en-US" sz="1000" dirty="0"/>
              <a:t>, </a:t>
            </a:r>
            <a:r>
              <a:rPr lang="en-US" sz="1000" dirty="0" err="1"/>
              <a:t>ReplyDate</a:t>
            </a:r>
            <a:r>
              <a:rPr lang="en-US" sz="1000" dirty="0"/>
              <a:t>)) for messages with replies</a:t>
            </a:r>
          </a:p>
          <a:p>
            <a:endParaRPr lang="en-US" sz="1000" dirty="0"/>
          </a:p>
          <a:p>
            <a:endParaRPr lang="en-US" sz="1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AC7D8C-A905-DC22-7E8D-8A9BDC0992F8}"/>
              </a:ext>
            </a:extLst>
          </p:cNvPr>
          <p:cNvSpPr txBox="1"/>
          <p:nvPr/>
        </p:nvSpPr>
        <p:spPr>
          <a:xfrm>
            <a:off x="3982065" y="681676"/>
            <a:ext cx="3431459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PERFORMANCE CONSIDERATIONS:</a:t>
            </a:r>
          </a:p>
          <a:p>
            <a:r>
              <a:rPr lang="en-US" sz="1000" dirty="0"/>
              <a:t>- Load only recent 30 days of messages by default</a:t>
            </a:r>
          </a:p>
          <a:p>
            <a:r>
              <a:rPr lang="en-US" sz="1000" dirty="0"/>
              <a:t>- "Load older" button for historical search</a:t>
            </a:r>
          </a:p>
          <a:p>
            <a:r>
              <a:rPr lang="en-US" sz="1000" dirty="0"/>
              <a:t>- Paginate message list (20 per page)</a:t>
            </a:r>
          </a:p>
          <a:p>
            <a:r>
              <a:rPr lang="en-US" sz="1000" dirty="0"/>
              <a:t>- Cache coordinator list (rarely changes)</a:t>
            </a:r>
          </a:p>
          <a:p>
            <a:r>
              <a:rPr lang="en-US" sz="1000" dirty="0"/>
              <a:t>- Prefetch templates (small dataset)</a:t>
            </a:r>
          </a:p>
          <a:p>
            <a:endParaRPr lang="en-US" sz="1000" dirty="0"/>
          </a:p>
          <a:p>
            <a:r>
              <a:rPr lang="en-US" sz="1000" dirty="0"/>
              <a:t>EMAIL DELIVERY:</a:t>
            </a:r>
          </a:p>
          <a:p>
            <a:r>
              <a:rPr lang="en-US" sz="1000" dirty="0"/>
              <a:t>- Power Automate flow triggers when Communication record created with Status = "Sent"</a:t>
            </a:r>
          </a:p>
          <a:p>
            <a:r>
              <a:rPr lang="en-US" sz="1000" dirty="0"/>
              <a:t>- Email sent FROM: Analyst email (Alice) or shared mailbox</a:t>
            </a:r>
          </a:p>
          <a:p>
            <a:r>
              <a:rPr lang="en-US" sz="1000" dirty="0"/>
              <a:t>- Email sent TO: Coordinator email from </a:t>
            </a:r>
            <a:r>
              <a:rPr lang="en-US" sz="1000" dirty="0" err="1"/>
              <a:t>tbl_UserCountries</a:t>
            </a:r>
            <a:endParaRPr lang="en-US" sz="1000" dirty="0"/>
          </a:p>
          <a:p>
            <a:r>
              <a:rPr lang="en-US" sz="1000" dirty="0"/>
              <a:t>- Includes:</a:t>
            </a:r>
          </a:p>
          <a:p>
            <a:r>
              <a:rPr lang="en-US" sz="1000" dirty="0"/>
              <a:t>  * Professional email signature</a:t>
            </a:r>
          </a:p>
          <a:p>
            <a:r>
              <a:rPr lang="en-US" sz="1000" dirty="0"/>
              <a:t>  * Link to submission portal (if submission-related)</a:t>
            </a:r>
          </a:p>
          <a:p>
            <a:r>
              <a:rPr lang="en-US" sz="1000" dirty="0"/>
              <a:t>  * Reply-to analyst email</a:t>
            </a:r>
          </a:p>
          <a:p>
            <a:r>
              <a:rPr lang="en-US" sz="1000" dirty="0"/>
              <a:t>  * Unsubscribe option (for automated reminders only)</a:t>
            </a:r>
          </a:p>
          <a:p>
            <a:endParaRPr lang="en-US" sz="1000" dirty="0"/>
          </a:p>
          <a:p>
            <a:r>
              <a:rPr lang="en-US" sz="1000" dirty="0"/>
              <a:t>NOTIFICATION TO ANALYST:</a:t>
            </a:r>
          </a:p>
          <a:p>
            <a:r>
              <a:rPr lang="en-US" sz="1000" dirty="0"/>
              <a:t>- If coordinator replies via email:</a:t>
            </a:r>
          </a:p>
          <a:p>
            <a:r>
              <a:rPr lang="en-US" sz="1000" dirty="0"/>
              <a:t>  * Power Automate flow creates Communication record with Status = "Received"</a:t>
            </a:r>
          </a:p>
          <a:p>
            <a:r>
              <a:rPr lang="en-US" sz="1000" dirty="0"/>
              <a:t>  * Analyst receives browser notification "New message from [Coordinator]"</a:t>
            </a:r>
          </a:p>
          <a:p>
            <a:r>
              <a:rPr lang="en-US" sz="1000" dirty="0"/>
              <a:t>  * Message appears at top of message list</a:t>
            </a:r>
          </a:p>
          <a:p>
            <a:r>
              <a:rPr lang="en-US" sz="1000" dirty="0"/>
              <a:t>  * Unread indicator shown</a:t>
            </a:r>
          </a:p>
          <a:p>
            <a:endParaRPr lang="en-US" sz="1000" dirty="0"/>
          </a:p>
          <a:p>
            <a:r>
              <a:rPr lang="en-US" sz="1000" dirty="0"/>
              <a:t>INTEGRATION WITH OTHER SCREENS:</a:t>
            </a:r>
          </a:p>
          <a:p>
            <a:r>
              <a:rPr lang="en-US" sz="1000" dirty="0"/>
              <a:t>- From Review Queue: "Request Clarification" button opens compose form pre-populated</a:t>
            </a:r>
          </a:p>
          <a:p>
            <a:r>
              <a:rPr lang="en-US" sz="1000" dirty="0"/>
              <a:t>- From Submission Tracking: "Send Reminder" opens compose with template selected</a:t>
            </a:r>
          </a:p>
          <a:p>
            <a:r>
              <a:rPr lang="en-US" sz="1000" dirty="0"/>
              <a:t>- From any submission detail: "Message Coordinator" link opens compose</a:t>
            </a:r>
          </a:p>
          <a:p>
            <a:endParaRPr lang="en-US" sz="1000" dirty="0"/>
          </a:p>
          <a:p>
            <a:endParaRPr lang="en-US" sz="1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8F0590-A9B3-5D0C-5168-8B9B39321C68}"/>
              </a:ext>
            </a:extLst>
          </p:cNvPr>
          <p:cNvSpPr txBox="1"/>
          <p:nvPr/>
        </p:nvSpPr>
        <p:spPr>
          <a:xfrm>
            <a:off x="7413524" y="681676"/>
            <a:ext cx="3431459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AUDIT TRAIL:</a:t>
            </a:r>
          </a:p>
          <a:p>
            <a:r>
              <a:rPr lang="en-US" sz="1000" dirty="0"/>
              <a:t>- All messages logged in </a:t>
            </a:r>
            <a:r>
              <a:rPr lang="en-US" sz="1000" dirty="0" err="1"/>
              <a:t>tbl_Communications</a:t>
            </a:r>
            <a:r>
              <a:rPr lang="en-US" sz="1000" dirty="0"/>
              <a:t> (never deleted)</a:t>
            </a:r>
          </a:p>
          <a:p>
            <a:r>
              <a:rPr lang="en-US" sz="1000" dirty="0"/>
              <a:t>- Can generate report of analyst-coordinator communications</a:t>
            </a:r>
          </a:p>
          <a:p>
            <a:r>
              <a:rPr lang="en-US" sz="1000" dirty="0"/>
              <a:t>- Analytics: Response rates by country, common clarification topics</a:t>
            </a:r>
          </a:p>
          <a:p>
            <a:endParaRPr lang="en-US" sz="1000" dirty="0"/>
          </a:p>
          <a:p>
            <a:r>
              <a:rPr lang="en-US" sz="1000" dirty="0"/>
              <a:t>POWER APPS IMPLEMENTATION:</a:t>
            </a:r>
          </a:p>
          <a:p>
            <a:r>
              <a:rPr lang="en-US" sz="1000" dirty="0"/>
              <a:t>- Gallery control for message list</a:t>
            </a:r>
          </a:p>
          <a:p>
            <a:r>
              <a:rPr lang="en-US" sz="1000" dirty="0"/>
              <a:t>- Form control for compose (modal or full screen)</a:t>
            </a:r>
          </a:p>
          <a:p>
            <a:r>
              <a:rPr lang="en-US" sz="1000" dirty="0"/>
              <a:t>- Dropdown for templates: Items = </a:t>
            </a:r>
            <a:r>
              <a:rPr lang="en-US" sz="1000" dirty="0" err="1"/>
              <a:t>tbl_EmailTemplates</a:t>
            </a:r>
            <a:endParaRPr lang="en-US" sz="1000" dirty="0"/>
          </a:p>
          <a:p>
            <a:r>
              <a:rPr lang="en-US" sz="1000" dirty="0"/>
              <a:t>- Multi-select </a:t>
            </a:r>
            <a:r>
              <a:rPr lang="en-US" sz="1000" dirty="0" err="1"/>
              <a:t>Combobox</a:t>
            </a:r>
            <a:r>
              <a:rPr lang="en-US" sz="1000" dirty="0"/>
              <a:t> for recipients: Items = </a:t>
            </a:r>
            <a:r>
              <a:rPr lang="en-US" sz="1000" dirty="0" err="1"/>
              <a:t>tbl_UserCountries</a:t>
            </a:r>
            <a:endParaRPr lang="en-US" sz="1000" dirty="0"/>
          </a:p>
          <a:p>
            <a:r>
              <a:rPr lang="en-US" sz="1000" dirty="0"/>
              <a:t>- </a:t>
            </a:r>
            <a:r>
              <a:rPr lang="en-US" sz="1000" dirty="0" err="1"/>
              <a:t>OnSelect</a:t>
            </a:r>
            <a:r>
              <a:rPr lang="en-US" sz="1000" dirty="0"/>
              <a:t> for template: Patch context variables with template text</a:t>
            </a:r>
          </a:p>
          <a:p>
            <a:r>
              <a:rPr lang="en-US" sz="1000" dirty="0"/>
              <a:t>- String replacement: Substitute() function for placeholders</a:t>
            </a:r>
          </a:p>
          <a:p>
            <a:r>
              <a:rPr lang="en-US" sz="1000" dirty="0"/>
              <a:t>- Patch() to </a:t>
            </a:r>
            <a:r>
              <a:rPr lang="en-US" sz="1000" dirty="0" err="1"/>
              <a:t>tbl_Communications</a:t>
            </a:r>
            <a:r>
              <a:rPr lang="en-US" sz="1000" dirty="0"/>
              <a:t> when Send clicked</a:t>
            </a:r>
          </a:p>
          <a:p>
            <a:r>
              <a:rPr lang="en-US" sz="1000" dirty="0"/>
              <a:t>- Navigate() back to message list after send</a:t>
            </a:r>
          </a:p>
          <a:p>
            <a:r>
              <a:rPr lang="en-US" sz="1000" dirty="0"/>
              <a:t>- Filter gallery by view/country/status dropdowns</a:t>
            </a:r>
          </a:p>
          <a:p>
            <a:endParaRPr lang="en-US" sz="1000" dirty="0"/>
          </a:p>
          <a:p>
            <a:r>
              <a:rPr lang="en-US" sz="1000" dirty="0"/>
              <a:t>ACCESSIBILITY:</a:t>
            </a:r>
          </a:p>
          <a:p>
            <a:r>
              <a:rPr lang="en-US" sz="1000" dirty="0"/>
              <a:t>- Keyboard shortcuts: </a:t>
            </a:r>
            <a:r>
              <a:rPr lang="en-US" sz="1000" dirty="0" err="1"/>
              <a:t>Ctrl+N</a:t>
            </a:r>
            <a:r>
              <a:rPr lang="en-US" sz="1000" dirty="0"/>
              <a:t> for new message, Escape to close</a:t>
            </a:r>
          </a:p>
          <a:p>
            <a:r>
              <a:rPr lang="en-US" sz="1000" dirty="0"/>
              <a:t>- Screen reader announces new unread messages</a:t>
            </a:r>
          </a:p>
          <a:p>
            <a:r>
              <a:rPr lang="en-US" sz="1000" dirty="0"/>
              <a:t>- Tab order: Filters → Message list → Actions</a:t>
            </a:r>
          </a:p>
          <a:p>
            <a:r>
              <a:rPr lang="en-US" sz="1000" dirty="0"/>
              <a:t>- High contrast support for status indicators</a:t>
            </a:r>
          </a:p>
          <a:p>
            <a:endParaRPr lang="en-US" sz="1000" dirty="0"/>
          </a:p>
          <a:p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2281143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574</TotalTime>
  <Words>12689</Words>
  <Application>Microsoft Office PowerPoint</Application>
  <PresentationFormat>Widescreen</PresentationFormat>
  <Paragraphs>1957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Data Quality Dashboard - Wireframes</vt:lpstr>
      <vt:lpstr>Screen 1: Submission Tracking Overview</vt:lpstr>
      <vt:lpstr>Screen 1: Submission Tracking Overview - Technical Specs</vt:lpstr>
      <vt:lpstr>Screen 2: Review Queue</vt:lpstr>
      <vt:lpstr>Screen 2: Review Queue - Technical Specs</vt:lpstr>
      <vt:lpstr>Screen 2: Review Queue - Technical Specs (2)</vt:lpstr>
      <vt:lpstr>Screen 3: Manual Entry Form</vt:lpstr>
      <vt:lpstr>Screen 3: Manual Entry Form - Technical Specs</vt:lpstr>
      <vt:lpstr>Screen 3: Manual Entry Form- Technical Specs (2)</vt:lpstr>
      <vt:lpstr>Screen 4: Communication Center  (View Message)</vt:lpstr>
      <vt:lpstr>Screen 4: Communication Center - Technical Specs</vt:lpstr>
      <vt:lpstr>Screen 4: Communication Center - Technical Specs (2)</vt:lpstr>
      <vt:lpstr>Screen 4: Communication Center - Technical Specs (3)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Rolzhausen</dc:creator>
  <cp:lastModifiedBy>John Rolzhausen</cp:lastModifiedBy>
  <cp:revision>2</cp:revision>
  <dcterms:created xsi:type="dcterms:W3CDTF">2025-11-24T13:35:46Z</dcterms:created>
  <dcterms:modified xsi:type="dcterms:W3CDTF">2025-12-15T21:31:47Z</dcterms:modified>
</cp:coreProperties>
</file>