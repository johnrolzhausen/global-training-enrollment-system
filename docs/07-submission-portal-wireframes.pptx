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20F2C3-0B1A-4EC1-AF1A-8BFBF57D5442}" v="95" dt="2025-11-24T16:06:53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71194-8E21-4113-AD09-7A20562102B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782EF-3126-49E3-9D22-B519B2855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3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21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59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05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88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F7FD9-FF01-432E-7928-B670FC1A6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44C14-81CB-9BB4-F9C1-66FA1E39D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A1C40-2A55-F067-5548-18AD56F63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A989B-2BC6-3975-612A-A4E439AF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CCC6F-C207-4BBD-E58D-26DE7F4F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66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2ECDD-7686-F2D2-0B28-4B5CA3A6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A873E-4477-F7EB-4D0A-BF20E793C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38670-1A44-BA5B-CC10-8E7C93BEE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6496E-B075-1C3C-4E75-CDC9C904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23ACB-75F7-235B-127A-95E450A30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0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F708-B578-CF5C-2773-9F3D270C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FC7B2-9427-6C19-286E-DA5711DC5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F389B-F263-7BE8-CE36-E14BB7311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8CBDA-4DCC-83C6-84AD-553A76A18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8DF57-E89B-52B7-8241-2CE5CA41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25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719E1-7C37-AEC6-06BD-F47AC9849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C2481-72E8-3E16-BB69-A50FC678B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77EFD-96A7-DBE6-4746-49754D356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ED2A2-2EEF-F6E2-E93C-E2591BC1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102BA-9318-BA78-32D5-107ECD42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FA490-88ED-722A-A007-73DABD82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28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AE548-79D2-D08E-8742-0F07B0138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8288D-94DA-2175-A486-C083129C7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D8D95-255A-7448-22D4-43D2E3D18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D645F4-F8D9-4BFE-07DD-E7AEEB485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5A3E4-5362-1192-B7D3-86D077A51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FB8514-2369-D907-5B99-FF1031A0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0E7A10-0E1C-5FFE-F5C8-F166623F9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B22624-8DBC-3E2E-3D93-39E82977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29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4EAD-E5D5-84AC-1C16-A49F8238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50883-D165-6C5A-3BE1-48C17CB1B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B5907-5387-7BF8-7ACA-7BBAF0097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517B2-72EC-15CA-44A7-0556D7D0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4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21DF5-4150-CDFB-B957-DE1F344CA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E2C4B0-E5E7-5049-93B5-AB431009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2F40B-564D-A340-B3B5-48B42920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10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2B058-C4EA-85EB-2F36-AEE873260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A95C1-4EAF-E6DC-1D24-5EBE5948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BB48B-D80D-9878-072D-D5FF530F9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53E0B-91A7-B99F-F670-4597AB45B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B2AD3-6256-DB8D-C7ED-F4D2B432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51AA3-36B6-B36C-8E3E-F2E016A8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4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175A3-84E2-8ADD-8179-8EC850E37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D46E46-DAA3-5137-EF7F-1F77DB6EE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523FF-92AE-65D9-F86A-93D65996D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8CCBF-6CCD-639D-C3B1-7B403510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21D5F-0AAF-7C94-7889-13C209DE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BB664-4C0C-AF35-701C-819CEAAE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4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2BFA-3A34-5D01-84AD-0FB636D9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C7FCDF-D4DE-3712-7AD1-305F4CB79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ECA96-32A6-76D8-82D2-C277F37C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1BEC3-13A1-6EF5-F6ED-3CE498EBC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B16BE-ACFE-3BEB-0921-B2DC0760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3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40263-B485-3679-E0B4-542394608C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3B7FA-D30E-E806-1A65-60A6932A6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C9D56-3253-DBD5-F4A3-CD37834B1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B186E-1534-D374-1506-DAFD6F26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91857-41D5-854A-B2D7-3CA5E4006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39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0D8792-BC67-9092-D799-BBAEDBB5D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D5C4E-104A-E7D6-7282-D49E93A88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AD294-15DB-2A30-051B-6A593B6C5B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E815A-2AB8-B0B1-B2CC-3E3CF98BE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C00C4-F0F6-FB46-F2C8-5FEB1C250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0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jiwon.kim.demo@outlook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D438-6906-D9C9-0E77-9F81019FEE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Submission Portal - Wireframes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D00E6-CE73-442F-315F-EF02A928A6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Global Training Enrollment System - Screen Mockups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0A70E-ED90-0B44-8B38-33E1DE598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John D Rolzhausen     November 24, 2025</a:t>
            </a:r>
          </a:p>
        </p:txBody>
      </p:sp>
    </p:spTree>
    <p:extLst>
      <p:ext uri="{BB962C8B-B14F-4D97-AF65-F5344CB8AC3E}">
        <p14:creationId xmlns:p14="http://schemas.microsoft.com/office/powerpoint/2010/main" val="541631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468F-0DCF-3907-88A2-D68E41E3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 1: Welcome / User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CA14A-DF49-C8C3-3927-CA8B3C4DA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Entry point for country coordinators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7CD720-3F58-3785-B070-BFA513348373}"/>
              </a:ext>
            </a:extLst>
          </p:cNvPr>
          <p:cNvSpPr/>
          <p:nvPr/>
        </p:nvSpPr>
        <p:spPr>
          <a:xfrm>
            <a:off x="1056968" y="2795390"/>
            <a:ext cx="10078064" cy="3329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7AF63A-263E-4C20-DCB3-DD6BE56F9292}"/>
              </a:ext>
            </a:extLst>
          </p:cNvPr>
          <p:cNvSpPr/>
          <p:nvPr/>
        </p:nvSpPr>
        <p:spPr>
          <a:xfrm>
            <a:off x="1691148" y="2981998"/>
            <a:ext cx="5759245" cy="2956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Select Coordinator: [Choose your name ▼]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1BD16D-3726-CC52-E2B7-EB0B948FD96C}"/>
              </a:ext>
            </a:extLst>
          </p:cNvPr>
          <p:cNvSpPr txBox="1"/>
          <p:nvPr/>
        </p:nvSpPr>
        <p:spPr>
          <a:xfrm>
            <a:off x="1778408" y="3711902"/>
            <a:ext cx="2812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Select Coordinator: [Choose your name ▼]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1A581-D0F4-CEE2-A946-B2386B4FE9DA}"/>
              </a:ext>
            </a:extLst>
          </p:cNvPr>
          <p:cNvSpPr txBox="1"/>
          <p:nvPr/>
        </p:nvSpPr>
        <p:spPr>
          <a:xfrm>
            <a:off x="1778408" y="3999633"/>
            <a:ext cx="3629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Assigned Country ( read only) : [Displays after selection]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41C938-DF02-0DEA-01E1-04A9AE2B61EA}"/>
              </a:ext>
            </a:extLst>
          </p:cNvPr>
          <p:cNvSpPr/>
          <p:nvPr/>
        </p:nvSpPr>
        <p:spPr>
          <a:xfrm>
            <a:off x="1887793" y="5007412"/>
            <a:ext cx="1622323" cy="261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[ Start New Submission 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AAE938-6BD5-1D78-A1E3-F451C06A7204}"/>
              </a:ext>
            </a:extLst>
          </p:cNvPr>
          <p:cNvSpPr txBox="1"/>
          <p:nvPr/>
        </p:nvSpPr>
        <p:spPr>
          <a:xfrm>
            <a:off x="7664246" y="3493392"/>
            <a:ext cx="3190567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NOTES:</a:t>
            </a:r>
          </a:p>
          <a:p>
            <a:endParaRPr lang="en-US" sz="800" dirty="0"/>
          </a:p>
          <a:p>
            <a:r>
              <a:rPr lang="en-US" sz="800" dirty="0"/>
              <a:t>Data Sources:</a:t>
            </a:r>
          </a:p>
          <a:p>
            <a:r>
              <a:rPr lang="en-US" sz="800" dirty="0"/>
              <a:t>- User dropdown populated from </a:t>
            </a:r>
            <a:r>
              <a:rPr lang="en-US" sz="800" dirty="0" err="1"/>
              <a:t>tbl_UserCountries</a:t>
            </a:r>
            <a:endParaRPr lang="en-US" sz="800" dirty="0"/>
          </a:p>
          <a:p>
            <a:r>
              <a:rPr lang="en-US" sz="800" dirty="0"/>
              <a:t>- Shows: </a:t>
            </a:r>
            <a:r>
              <a:rPr lang="en-US" sz="800" dirty="0" err="1"/>
              <a:t>UserName</a:t>
            </a:r>
            <a:r>
              <a:rPr lang="en-US" sz="800" dirty="0"/>
              <a:t>, </a:t>
            </a:r>
            <a:r>
              <a:rPr lang="en-US" sz="800" dirty="0" err="1"/>
              <a:t>CountryID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Business Logic:</a:t>
            </a:r>
          </a:p>
          <a:p>
            <a:r>
              <a:rPr lang="en-US" sz="800" dirty="0"/>
              <a:t>- Dropdown filters to show only active users (</a:t>
            </a:r>
            <a:r>
              <a:rPr lang="en-US" sz="800" dirty="0" err="1"/>
              <a:t>EndDate</a:t>
            </a:r>
            <a:r>
              <a:rPr lang="en-US" sz="800" dirty="0"/>
              <a:t> is null)</a:t>
            </a:r>
          </a:p>
          <a:p>
            <a:r>
              <a:rPr lang="en-US" sz="800" dirty="0"/>
              <a:t>- After selection, displays assigned country name</a:t>
            </a:r>
          </a:p>
          <a:p>
            <a:r>
              <a:rPr lang="en-US" sz="800" dirty="0"/>
              <a:t>- Button disabled until user selected</a:t>
            </a:r>
          </a:p>
          <a:p>
            <a:endParaRPr lang="en-US" sz="800" dirty="0"/>
          </a:p>
          <a:p>
            <a:r>
              <a:rPr lang="en-US" sz="800" dirty="0"/>
              <a:t>User Context Simulation:</a:t>
            </a:r>
          </a:p>
          <a:p>
            <a:r>
              <a:rPr lang="en-US" sz="800" dirty="0"/>
              <a:t>- In production: Would use Azure AD User()</a:t>
            </a:r>
          </a:p>
          <a:p>
            <a:r>
              <a:rPr lang="en-US" sz="800" dirty="0"/>
              <a:t>- In dev: Dropdown simulates user selection</a:t>
            </a:r>
          </a:p>
          <a:p>
            <a:endParaRPr lang="en-US" sz="800" dirty="0"/>
          </a:p>
          <a:p>
            <a:r>
              <a:rPr lang="en-US" sz="800" dirty="0"/>
              <a:t>Next Screen:</a:t>
            </a:r>
          </a:p>
          <a:p>
            <a:r>
              <a:rPr lang="en-US" sz="800" dirty="0"/>
              <a:t>- Click "Start New Submission" → Screen 2 (Submission Form)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CCC5B8-29E0-11EF-B5ED-756C9C8C00BB}"/>
              </a:ext>
            </a:extLst>
          </p:cNvPr>
          <p:cNvSpPr txBox="1"/>
          <p:nvPr/>
        </p:nvSpPr>
        <p:spPr>
          <a:xfrm>
            <a:off x="1740309" y="3254894"/>
            <a:ext cx="56609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Welcome!</a:t>
            </a:r>
            <a:br>
              <a:rPr lang="en-US" sz="1100" dirty="0"/>
            </a:br>
            <a:r>
              <a:rPr lang="en-US" sz="1100" dirty="0"/>
              <a:t>Please select your coordinator profile to begin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FA8217-A33D-8EB0-DB57-532288DEC3CC}"/>
              </a:ext>
            </a:extLst>
          </p:cNvPr>
          <p:cNvSpPr txBox="1"/>
          <p:nvPr/>
        </p:nvSpPr>
        <p:spPr>
          <a:xfrm>
            <a:off x="1778408" y="4250402"/>
            <a:ext cx="28710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Country: [_______]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ADB9BC-6A21-0376-7232-6E021F557F7A}"/>
              </a:ext>
            </a:extLst>
          </p:cNvPr>
          <p:cNvSpPr txBox="1"/>
          <p:nvPr/>
        </p:nvSpPr>
        <p:spPr>
          <a:xfrm>
            <a:off x="1842315" y="5560220"/>
            <a:ext cx="43815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First time? Click your name from the dropdown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2CAA59-84F6-7CAA-91CD-C9A557B035D3}"/>
              </a:ext>
            </a:extLst>
          </p:cNvPr>
          <p:cNvSpPr/>
          <p:nvPr/>
        </p:nvSpPr>
        <p:spPr>
          <a:xfrm>
            <a:off x="1696063" y="2992098"/>
            <a:ext cx="5759245" cy="23439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F9DE44-7FFD-E0AA-C52A-66D694501628}"/>
              </a:ext>
            </a:extLst>
          </p:cNvPr>
          <p:cNvSpPr txBox="1"/>
          <p:nvPr/>
        </p:nvSpPr>
        <p:spPr>
          <a:xfrm>
            <a:off x="1686233" y="2970795"/>
            <a:ext cx="5710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🌍 Global Training Enrollment System</a:t>
            </a:r>
          </a:p>
        </p:txBody>
      </p:sp>
    </p:spTree>
    <p:extLst>
      <p:ext uri="{BB962C8B-B14F-4D97-AF65-F5344CB8AC3E}">
        <p14:creationId xmlns:p14="http://schemas.microsoft.com/office/powerpoint/2010/main" val="209109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DFE39-C9B0-68FA-BD24-0E281D1E5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8AB5-C290-B8FA-5E3D-D0FAEF3A2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4191"/>
          </a:xfrm>
        </p:spPr>
        <p:txBody>
          <a:bodyPr>
            <a:normAutofit fontScale="90000"/>
          </a:bodyPr>
          <a:lstStyle/>
          <a:p>
            <a:r>
              <a:rPr lang="en-US" dirty="0"/>
              <a:t>Screen 2: Submission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FC576-B021-E9C6-A5A6-B769531D8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9316"/>
            <a:ext cx="10515600" cy="5257647"/>
          </a:xfrm>
        </p:spPr>
        <p:txBody>
          <a:bodyPr/>
          <a:lstStyle/>
          <a:p>
            <a:r>
              <a:rPr lang="en-US" dirty="0"/>
              <a:t>Main data entry screen for monthly volumes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67D9D7-CF6F-1B7F-338B-20BB6E2D95A5}"/>
              </a:ext>
            </a:extLst>
          </p:cNvPr>
          <p:cNvSpPr/>
          <p:nvPr/>
        </p:nvSpPr>
        <p:spPr>
          <a:xfrm>
            <a:off x="245806" y="1506552"/>
            <a:ext cx="11700387" cy="46517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CD707A-7B6B-77F9-9405-1508C321E702}"/>
              </a:ext>
            </a:extLst>
          </p:cNvPr>
          <p:cNvSpPr/>
          <p:nvPr/>
        </p:nvSpPr>
        <p:spPr>
          <a:xfrm>
            <a:off x="540774" y="1588978"/>
            <a:ext cx="5759245" cy="43497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Select Coordinator: [Choose your name ▼]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B3AC35-4C5A-FBCC-D9F7-6975B270EDEB}"/>
              </a:ext>
            </a:extLst>
          </p:cNvPr>
          <p:cNvSpPr txBox="1"/>
          <p:nvPr/>
        </p:nvSpPr>
        <p:spPr>
          <a:xfrm>
            <a:off x="497144" y="1975153"/>
            <a:ext cx="2812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Submit Enrollment Volumes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231D95-6470-B40E-3D74-A5D67C9B0020}"/>
              </a:ext>
            </a:extLst>
          </p:cNvPr>
          <p:cNvSpPr txBox="1"/>
          <p:nvPr/>
        </p:nvSpPr>
        <p:spPr>
          <a:xfrm>
            <a:off x="510663" y="2231618"/>
            <a:ext cx="3629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Submission Month: [2025-11 ▼]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6E0162-E02B-2DF5-0193-C96462972903}"/>
              </a:ext>
            </a:extLst>
          </p:cNvPr>
          <p:cNvSpPr/>
          <p:nvPr/>
        </p:nvSpPr>
        <p:spPr>
          <a:xfrm>
            <a:off x="730660" y="5220643"/>
            <a:ext cx="1317523" cy="26161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[ Save Draft ]</a:t>
            </a:r>
            <a:endParaRPr lang="en-US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2163F6-B949-081B-003A-3D62CA8200A5}"/>
              </a:ext>
            </a:extLst>
          </p:cNvPr>
          <p:cNvSpPr txBox="1"/>
          <p:nvPr/>
        </p:nvSpPr>
        <p:spPr>
          <a:xfrm>
            <a:off x="6440745" y="1514148"/>
            <a:ext cx="267744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NOTES:</a:t>
            </a:r>
          </a:p>
          <a:p>
            <a:endParaRPr lang="en-US" sz="800" dirty="0"/>
          </a:p>
          <a:p>
            <a:r>
              <a:rPr lang="en-US" sz="800" dirty="0"/>
              <a:t>Data Sources:</a:t>
            </a:r>
          </a:p>
          <a:p>
            <a:r>
              <a:rPr lang="en-US" sz="800" dirty="0"/>
              <a:t>- Test types from: </a:t>
            </a:r>
            <a:r>
              <a:rPr lang="en-US" sz="800" dirty="0" err="1"/>
              <a:t>tbl_CountryTestTypes</a:t>
            </a:r>
            <a:endParaRPr lang="en-US" sz="800" dirty="0"/>
          </a:p>
          <a:p>
            <a:r>
              <a:rPr lang="en-US" sz="800" dirty="0"/>
              <a:t>  Filter: </a:t>
            </a:r>
            <a:r>
              <a:rPr lang="en-US" sz="800" dirty="0" err="1"/>
              <a:t>CountryID</a:t>
            </a:r>
            <a:r>
              <a:rPr lang="en-US" sz="800" dirty="0"/>
              <a:t> = Selected country AND </a:t>
            </a:r>
            <a:r>
              <a:rPr lang="en-US" sz="800" dirty="0" err="1"/>
              <a:t>IsActive</a:t>
            </a:r>
            <a:r>
              <a:rPr lang="en-US" sz="800" dirty="0"/>
              <a:t> = Yes</a:t>
            </a:r>
          </a:p>
          <a:p>
            <a:r>
              <a:rPr lang="en-US" sz="800" dirty="0"/>
              <a:t>- Existing submission from: </a:t>
            </a:r>
            <a:r>
              <a:rPr lang="en-US" sz="800" dirty="0" err="1"/>
              <a:t>tbl_VolumeSubmissions</a:t>
            </a:r>
            <a:endParaRPr lang="en-US" sz="800" dirty="0"/>
          </a:p>
          <a:p>
            <a:r>
              <a:rPr lang="en-US" sz="800" dirty="0"/>
              <a:t>  Filter: </a:t>
            </a:r>
            <a:r>
              <a:rPr lang="en-US" sz="800" dirty="0" err="1"/>
              <a:t>CountryID</a:t>
            </a:r>
            <a:r>
              <a:rPr lang="en-US" sz="800" dirty="0"/>
              <a:t> + </a:t>
            </a:r>
            <a:r>
              <a:rPr lang="en-US" sz="800" dirty="0" err="1"/>
              <a:t>SubmissionMonth</a:t>
            </a:r>
            <a:r>
              <a:rPr lang="en-US" sz="800" dirty="0"/>
              <a:t> (if editing draft)</a:t>
            </a:r>
          </a:p>
          <a:p>
            <a:endParaRPr lang="en-US" sz="800" dirty="0"/>
          </a:p>
          <a:p>
            <a:r>
              <a:rPr lang="en-US" sz="800" dirty="0"/>
              <a:t>Gallery/Table Logic:</a:t>
            </a:r>
          </a:p>
          <a:p>
            <a:r>
              <a:rPr lang="en-US" sz="800" dirty="0"/>
              <a:t>- One row per test type</a:t>
            </a:r>
          </a:p>
          <a:p>
            <a:r>
              <a:rPr lang="en-US" sz="800" dirty="0"/>
              <a:t>- Three input fields per row (Actual, Budget, Forecast)</a:t>
            </a:r>
          </a:p>
          <a:p>
            <a:r>
              <a:rPr lang="en-US" sz="800" dirty="0"/>
              <a:t>- Pre-populated if editing existing draft</a:t>
            </a:r>
          </a:p>
          <a:p>
            <a:r>
              <a:rPr lang="en-US" sz="800" dirty="0"/>
              <a:t>- Blank if new submission</a:t>
            </a:r>
          </a:p>
          <a:p>
            <a:endParaRPr lang="en-US" sz="800" dirty="0"/>
          </a:p>
          <a:p>
            <a:r>
              <a:rPr lang="en-US" sz="800" dirty="0"/>
              <a:t>Business Rules:</a:t>
            </a:r>
          </a:p>
          <a:p>
            <a:r>
              <a:rPr lang="en-US" sz="800" dirty="0"/>
              <a:t>- All volumes must be &gt;= 0</a:t>
            </a:r>
          </a:p>
          <a:p>
            <a:r>
              <a:rPr lang="en-US" sz="800" dirty="0"/>
              <a:t>- Volumes must be whole numbers (no decimals)</a:t>
            </a:r>
          </a:p>
          <a:p>
            <a:r>
              <a:rPr lang="en-US" sz="800" dirty="0"/>
              <a:t>- At least ONE volume field must be filled per row</a:t>
            </a:r>
          </a:p>
          <a:p>
            <a:r>
              <a:rPr lang="en-US" sz="800" dirty="0"/>
              <a:t>- If </a:t>
            </a:r>
            <a:r>
              <a:rPr lang="en-US" sz="800" dirty="0" err="1"/>
              <a:t>IsEstimate</a:t>
            </a:r>
            <a:r>
              <a:rPr lang="en-US" sz="800" dirty="0"/>
              <a:t> checked, </a:t>
            </a:r>
            <a:r>
              <a:rPr lang="en-US" sz="800" dirty="0" err="1"/>
              <a:t>EstimateReason</a:t>
            </a:r>
            <a:r>
              <a:rPr lang="en-US" sz="800" dirty="0"/>
              <a:t> required (min 20 chars)</a:t>
            </a:r>
          </a:p>
          <a:p>
            <a:endParaRPr lang="en-US" sz="800" dirty="0"/>
          </a:p>
          <a:p>
            <a:r>
              <a:rPr lang="en-US" sz="800" dirty="0"/>
              <a:t>Validation (Real-time):</a:t>
            </a:r>
          </a:p>
          <a:p>
            <a:r>
              <a:rPr lang="en-US" sz="800" dirty="0"/>
              <a:t>- Invalid entries show red border</a:t>
            </a:r>
          </a:p>
          <a:p>
            <a:r>
              <a:rPr lang="en-US" sz="800" dirty="0"/>
              <a:t>- Missing required fields show yellow highlight</a:t>
            </a:r>
          </a:p>
          <a:p>
            <a:r>
              <a:rPr lang="en-US" sz="800" dirty="0"/>
              <a:t>- Valid entries show green checkmark</a:t>
            </a:r>
          </a:p>
          <a:p>
            <a:r>
              <a:rPr lang="en-US" sz="800" dirty="0"/>
              <a:t>- Submit button disabled until all validation passes</a:t>
            </a:r>
          </a:p>
          <a:p>
            <a:endParaRPr lang="en-US" sz="800" dirty="0"/>
          </a:p>
          <a:p>
            <a:r>
              <a:rPr lang="en-US" sz="800" dirty="0"/>
              <a:t>Auto-Save:</a:t>
            </a:r>
          </a:p>
          <a:p>
            <a:r>
              <a:rPr lang="en-US" sz="800" dirty="0"/>
              <a:t>- Triggers every 2 minutes if changes detected</a:t>
            </a:r>
          </a:p>
          <a:p>
            <a:r>
              <a:rPr lang="en-US" sz="800" dirty="0"/>
              <a:t>- Updates </a:t>
            </a:r>
            <a:r>
              <a:rPr lang="en-US" sz="800" dirty="0" err="1"/>
              <a:t>LastModifiedDate</a:t>
            </a:r>
            <a:endParaRPr lang="en-US" sz="800" dirty="0"/>
          </a:p>
          <a:p>
            <a:r>
              <a:rPr lang="en-US" sz="800" dirty="0"/>
              <a:t>- Status remains "Draft" until Submit clicked</a:t>
            </a:r>
          </a:p>
          <a:p>
            <a:endParaRPr lang="en-US" sz="800" dirty="0"/>
          </a:p>
          <a:p>
            <a:endParaRPr lang="en-US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E142A6-41DE-A42A-A660-CAEE5A086BE8}"/>
              </a:ext>
            </a:extLst>
          </p:cNvPr>
          <p:cNvSpPr txBox="1"/>
          <p:nvPr/>
        </p:nvSpPr>
        <p:spPr>
          <a:xfrm>
            <a:off x="549993" y="1793277"/>
            <a:ext cx="5660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[ ← Back ]    Home &gt; New Submission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A5860-1A3D-187C-823D-4A271D63E983}"/>
              </a:ext>
            </a:extLst>
          </p:cNvPr>
          <p:cNvSpPr txBox="1"/>
          <p:nvPr/>
        </p:nvSpPr>
        <p:spPr>
          <a:xfrm>
            <a:off x="691941" y="5560220"/>
            <a:ext cx="43815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Select the month you’re reporting volumes for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13965C-ADB9-3238-AB23-A5273E1CB0C2}"/>
              </a:ext>
            </a:extLst>
          </p:cNvPr>
          <p:cNvSpPr/>
          <p:nvPr/>
        </p:nvSpPr>
        <p:spPr>
          <a:xfrm>
            <a:off x="540773" y="1603820"/>
            <a:ext cx="5759245" cy="23439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057F31-025B-5D9C-C824-44BE20DE4AE4}"/>
              </a:ext>
            </a:extLst>
          </p:cNvPr>
          <p:cNvSpPr txBox="1"/>
          <p:nvPr/>
        </p:nvSpPr>
        <p:spPr>
          <a:xfrm>
            <a:off x="500831" y="1615107"/>
            <a:ext cx="5710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Submitting as: Ji-Won Kim | Country: Republic of Korea |                                         [Logout]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48DCAA-640E-F4F4-4C93-C7F18D0AB32D}"/>
              </a:ext>
            </a:extLst>
          </p:cNvPr>
          <p:cNvSpPr/>
          <p:nvPr/>
        </p:nvSpPr>
        <p:spPr>
          <a:xfrm>
            <a:off x="608370" y="2459661"/>
            <a:ext cx="5625283" cy="26326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680CF-5B59-8BC6-B8D8-CE916567189E}"/>
              </a:ext>
            </a:extLst>
          </p:cNvPr>
          <p:cNvSpPr txBox="1"/>
          <p:nvPr/>
        </p:nvSpPr>
        <p:spPr>
          <a:xfrm>
            <a:off x="9118193" y="1506552"/>
            <a:ext cx="278437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Submit Action:</a:t>
            </a:r>
          </a:p>
          <a:p>
            <a:r>
              <a:rPr lang="en-US" sz="800" dirty="0"/>
              <a:t>- Validates all fields</a:t>
            </a:r>
          </a:p>
          <a:p>
            <a:r>
              <a:rPr lang="en-US" sz="800" dirty="0"/>
              <a:t>- Changes Status from "Draft" to "Submitted"</a:t>
            </a:r>
          </a:p>
          <a:p>
            <a:r>
              <a:rPr lang="en-US" sz="800" dirty="0"/>
              <a:t>- Sets </a:t>
            </a:r>
            <a:r>
              <a:rPr lang="en-US" sz="800" dirty="0" err="1"/>
              <a:t>SubmittedDate</a:t>
            </a:r>
            <a:r>
              <a:rPr lang="en-US" sz="800" dirty="0"/>
              <a:t>, </a:t>
            </a:r>
            <a:r>
              <a:rPr lang="en-US" sz="800" dirty="0" err="1"/>
              <a:t>SubmittedByEmail</a:t>
            </a:r>
            <a:r>
              <a:rPr lang="en-US" sz="800" dirty="0"/>
              <a:t>, </a:t>
            </a:r>
            <a:r>
              <a:rPr lang="en-US" sz="800" dirty="0" err="1"/>
              <a:t>SubmittedByName</a:t>
            </a:r>
            <a:endParaRPr lang="en-US" sz="800" dirty="0"/>
          </a:p>
          <a:p>
            <a:r>
              <a:rPr lang="en-US" sz="800" dirty="0"/>
              <a:t>- Navigates to Screen 3 (Confirmation)</a:t>
            </a:r>
          </a:p>
          <a:p>
            <a:endParaRPr lang="en-US" sz="800" dirty="0"/>
          </a:p>
          <a:p>
            <a:r>
              <a:rPr lang="en-US" sz="800" dirty="0"/>
              <a:t>Cancel Action:</a:t>
            </a:r>
          </a:p>
          <a:p>
            <a:r>
              <a:rPr lang="en-US" sz="800" dirty="0"/>
              <a:t>- Confirms "Discard changes?" if unsaved edits exist</a:t>
            </a:r>
          </a:p>
          <a:p>
            <a:r>
              <a:rPr lang="en-US" sz="800" dirty="0"/>
              <a:t>- Returns to Screen 1 (Welcome)</a:t>
            </a:r>
          </a:p>
          <a:p>
            <a:endParaRPr lang="en-US" sz="800" dirty="0"/>
          </a:p>
          <a:p>
            <a:r>
              <a:rPr lang="en-US" sz="800" dirty="0"/>
              <a:t>Save Draft Action:</a:t>
            </a:r>
          </a:p>
          <a:p>
            <a:r>
              <a:rPr lang="en-US" sz="800" dirty="0"/>
              <a:t>- Immediately saves current state</a:t>
            </a:r>
          </a:p>
          <a:p>
            <a:r>
              <a:rPr lang="en-US" sz="800" dirty="0"/>
              <a:t>- Shows "Saved!" toast notification</a:t>
            </a:r>
          </a:p>
          <a:p>
            <a:r>
              <a:rPr lang="en-US" sz="800" dirty="0"/>
              <a:t>- Keeps user on form to continue editing</a:t>
            </a:r>
          </a:p>
          <a:p>
            <a:endParaRPr lang="en-US" sz="800" dirty="0"/>
          </a:p>
          <a:p>
            <a:r>
              <a:rPr lang="en-US" sz="800" dirty="0"/>
              <a:t>Next Screens:</a:t>
            </a:r>
          </a:p>
          <a:p>
            <a:r>
              <a:rPr lang="en-US" sz="800" dirty="0"/>
              <a:t>- Click "Submit" → Screen 3 (Confirmation)</a:t>
            </a:r>
          </a:p>
          <a:p>
            <a:r>
              <a:rPr lang="en-US" sz="800" dirty="0"/>
              <a:t>- Click "Cancel" or "Back" → Screen 1 (Welcome)</a:t>
            </a:r>
          </a:p>
          <a:p>
            <a:endParaRPr lang="en-US" sz="800" dirty="0"/>
          </a:p>
          <a:p>
            <a:r>
              <a:rPr lang="en-US" sz="800" dirty="0"/>
              <a:t>Power Apps Implementation Notes:</a:t>
            </a:r>
          </a:p>
          <a:p>
            <a:r>
              <a:rPr lang="en-US" sz="800" dirty="0"/>
              <a:t>- Gallery control for test type rows</a:t>
            </a:r>
          </a:p>
          <a:p>
            <a:r>
              <a:rPr lang="en-US" sz="800" dirty="0"/>
              <a:t>- Combo box for month selector</a:t>
            </a:r>
          </a:p>
          <a:p>
            <a:r>
              <a:rPr lang="en-US" sz="800" dirty="0"/>
              <a:t>- Text input controls for volume fields</a:t>
            </a:r>
          </a:p>
          <a:p>
            <a:r>
              <a:rPr lang="en-US" sz="800" dirty="0"/>
              <a:t>- Patch() function for auto-save and submit</a:t>
            </a:r>
          </a:p>
          <a:p>
            <a:r>
              <a:rPr lang="en-US" sz="800" dirty="0"/>
              <a:t>- Filter() for dynamic test type loading</a:t>
            </a:r>
          </a:p>
          <a:p>
            <a:endParaRPr lang="en-US" sz="800" dirty="0"/>
          </a:p>
          <a:p>
            <a:r>
              <a:rPr lang="en-US" sz="800" dirty="0"/>
              <a:t>Scrolling Behavior:</a:t>
            </a:r>
          </a:p>
          <a:p>
            <a:r>
              <a:rPr lang="en-US" sz="800" dirty="0"/>
              <a:t>- If more than 3 test types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5D8B57-C5DF-6033-65FF-80251E0AFEBE}"/>
              </a:ext>
            </a:extLst>
          </p:cNvPr>
          <p:cNvSpPr txBox="1"/>
          <p:nvPr/>
        </p:nvSpPr>
        <p:spPr>
          <a:xfrm>
            <a:off x="549993" y="2345228"/>
            <a:ext cx="5625283" cy="283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+----------------------------------+---------------+---------------+----------------+</a:t>
            </a:r>
          </a:p>
          <a:p>
            <a:r>
              <a:rPr lang="en-US" sz="1050" dirty="0"/>
              <a:t>| Test Type                        | Actual Volume | Budget Volume | Forecast Volume|</a:t>
            </a:r>
          </a:p>
          <a:p>
            <a:r>
              <a:rPr lang="en-US" sz="1050" dirty="0"/>
              <a:t>+----------------------------------+---------------+---------------+----------------+</a:t>
            </a:r>
            <a:br>
              <a:rPr lang="en-US" sz="1050" dirty="0"/>
            </a:br>
            <a:br>
              <a:rPr lang="en-US" sz="1050" dirty="0"/>
            </a:br>
            <a:r>
              <a:rPr lang="en-US" sz="1050" dirty="0"/>
              <a:t>| Leadership Fundamentals          | [____450____] | [____500____] | [____475_____] |</a:t>
            </a:r>
          </a:p>
          <a:p>
            <a:r>
              <a:rPr lang="en-US" sz="1050" dirty="0"/>
              <a:t>| Data Analytics Essentials        | [____320____] | [____350____] | [____340_____] |</a:t>
            </a:r>
          </a:p>
          <a:p>
            <a:r>
              <a:rPr lang="en-US" sz="1050" dirty="0"/>
              <a:t>| Project Management Cert Prep     | [____125____] | [____150____] | [____130_____] |</a:t>
            </a:r>
          </a:p>
          <a:p>
            <a:r>
              <a:rPr lang="en-US" sz="1050" dirty="0"/>
              <a:t>+----------------------------------+---------------+---------------+----------------+</a:t>
            </a:r>
            <a:br>
              <a:rPr lang="en-US" sz="1050" dirty="0"/>
            </a:br>
            <a:br>
              <a:rPr lang="en-US" sz="1050" dirty="0"/>
            </a:br>
            <a:r>
              <a:rPr lang="en-US" sz="1050" dirty="0"/>
              <a:t>* All fields accept whole numbers only (0-999999)</a:t>
            </a:r>
          </a:p>
          <a:p>
            <a:endParaRPr lang="en-US" sz="1050" dirty="0"/>
          </a:p>
          <a:p>
            <a:r>
              <a:rPr lang="en-US" sz="1050" dirty="0"/>
              <a:t>☐ This submission contains estimated data    Reason: [_________________________________]</a:t>
            </a:r>
          </a:p>
          <a:p>
            <a:r>
              <a:rPr lang="en-US" sz="1050" dirty="0"/>
              <a:t>    (Required if estimated data is checked)</a:t>
            </a:r>
            <a:br>
              <a:rPr lang="en-US" sz="1050" dirty="0"/>
            </a:br>
            <a:br>
              <a:rPr lang="en-US" sz="1050" dirty="0"/>
            </a:br>
            <a:r>
              <a:rPr lang="en-US" sz="1050" dirty="0"/>
              <a:t>✓ Valid entry: 450</a:t>
            </a:r>
          </a:p>
          <a:p>
            <a:r>
              <a:rPr lang="en-US" sz="1050" dirty="0"/>
              <a:t>⚠ Missing: (empty field highlighted in yellow)</a:t>
            </a:r>
          </a:p>
          <a:p>
            <a:r>
              <a:rPr lang="en-US" sz="1050" dirty="0"/>
              <a:t>✗ Invalid: -50 (negative numbers not allowed)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0EA5596-F24F-9930-7CC2-979C8086D751}"/>
              </a:ext>
            </a:extLst>
          </p:cNvPr>
          <p:cNvSpPr/>
          <p:nvPr/>
        </p:nvSpPr>
        <p:spPr>
          <a:xfrm>
            <a:off x="2278013" y="5230444"/>
            <a:ext cx="1317523" cy="2616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[ Cancel ]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A44297-673C-0C9D-A2C3-FE6A1180050D}"/>
              </a:ext>
            </a:extLst>
          </p:cNvPr>
          <p:cNvSpPr/>
          <p:nvPr/>
        </p:nvSpPr>
        <p:spPr>
          <a:xfrm>
            <a:off x="3883743" y="5250078"/>
            <a:ext cx="1317523" cy="261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[ Submit Volumes ]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79496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A6C48-E8B1-B519-A306-341407288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0A3C-2C8F-0502-6FEE-0FA3CD14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4191"/>
          </a:xfrm>
        </p:spPr>
        <p:txBody>
          <a:bodyPr>
            <a:normAutofit fontScale="90000"/>
          </a:bodyPr>
          <a:lstStyle/>
          <a:p>
            <a:r>
              <a:rPr lang="en-US" dirty="0"/>
              <a:t>Screen 3: Confirmation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EAAEB-CD0F-3137-1A27-ECE4E7ACA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9316"/>
            <a:ext cx="10515600" cy="5257647"/>
          </a:xfrm>
        </p:spPr>
        <p:txBody>
          <a:bodyPr/>
          <a:lstStyle/>
          <a:p>
            <a:r>
              <a:rPr lang="en-US" dirty="0"/>
              <a:t>Success screen after volume submission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C9AD05-4C6B-BE92-3B4D-0302E519F14C}"/>
              </a:ext>
            </a:extLst>
          </p:cNvPr>
          <p:cNvSpPr/>
          <p:nvPr/>
        </p:nvSpPr>
        <p:spPr>
          <a:xfrm>
            <a:off x="245806" y="1506552"/>
            <a:ext cx="11700387" cy="48936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50BB94-AA6E-9637-0544-3A86D6605F3B}"/>
              </a:ext>
            </a:extLst>
          </p:cNvPr>
          <p:cNvSpPr/>
          <p:nvPr/>
        </p:nvSpPr>
        <p:spPr>
          <a:xfrm>
            <a:off x="540774" y="1588977"/>
            <a:ext cx="5759245" cy="46938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Select Coordinator: [Choose your name ▼]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2917A4-7A5C-97E0-7721-94751BF68232}"/>
              </a:ext>
            </a:extLst>
          </p:cNvPr>
          <p:cNvSpPr/>
          <p:nvPr/>
        </p:nvSpPr>
        <p:spPr>
          <a:xfrm>
            <a:off x="691941" y="5032667"/>
            <a:ext cx="1317523" cy="26161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[ Submit Another Month 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9E9A72-9460-0C98-4407-3AF79B119A49}"/>
              </a:ext>
            </a:extLst>
          </p:cNvPr>
          <p:cNvSpPr txBox="1"/>
          <p:nvPr/>
        </p:nvSpPr>
        <p:spPr>
          <a:xfrm>
            <a:off x="6440745" y="1514148"/>
            <a:ext cx="267744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NOTES:</a:t>
            </a:r>
          </a:p>
          <a:p>
            <a:endParaRPr lang="en-US" sz="800" dirty="0"/>
          </a:p>
          <a:p>
            <a:r>
              <a:rPr lang="en-US" sz="800" dirty="0"/>
              <a:t>Data Displayed:</a:t>
            </a:r>
          </a:p>
          <a:p>
            <a:r>
              <a:rPr lang="en-US" sz="800" dirty="0"/>
              <a:t>- Submission ID: Auto-generated (format: SUB-YYYYMM-</a:t>
            </a:r>
            <a:r>
              <a:rPr lang="en-US" sz="800" dirty="0" err="1"/>
              <a:t>CountryCode</a:t>
            </a:r>
            <a:r>
              <a:rPr lang="en-US" sz="800" dirty="0"/>
              <a:t>-###)</a:t>
            </a:r>
          </a:p>
          <a:p>
            <a:r>
              <a:rPr lang="en-US" sz="800" dirty="0"/>
              <a:t>- All details from </a:t>
            </a:r>
            <a:r>
              <a:rPr lang="en-US" sz="800" dirty="0" err="1"/>
              <a:t>tbl_VolumeSubmissions</a:t>
            </a:r>
            <a:r>
              <a:rPr lang="en-US" sz="800" dirty="0"/>
              <a:t> record just created</a:t>
            </a:r>
          </a:p>
          <a:p>
            <a:r>
              <a:rPr lang="en-US" sz="800" dirty="0"/>
              <a:t>- Test types with volumes submitted</a:t>
            </a:r>
          </a:p>
          <a:p>
            <a:endParaRPr lang="en-US" sz="800" dirty="0"/>
          </a:p>
          <a:p>
            <a:r>
              <a:rPr lang="en-US" sz="800" dirty="0"/>
              <a:t>Business Logic:</a:t>
            </a:r>
          </a:p>
          <a:p>
            <a:r>
              <a:rPr lang="en-US" sz="800" dirty="0"/>
              <a:t>- This screen shows AFTER successful Patch() to </a:t>
            </a:r>
            <a:r>
              <a:rPr lang="en-US" sz="800" dirty="0" err="1"/>
              <a:t>tbl_VolumeSubmissions</a:t>
            </a:r>
            <a:endParaRPr lang="en-US" sz="800" dirty="0"/>
          </a:p>
          <a:p>
            <a:r>
              <a:rPr lang="en-US" sz="800" dirty="0"/>
              <a:t>- Status has been changed from "Draft" to "Submitted"</a:t>
            </a:r>
          </a:p>
          <a:p>
            <a:r>
              <a:rPr lang="en-US" sz="800" dirty="0"/>
              <a:t>- </a:t>
            </a:r>
            <a:r>
              <a:rPr lang="en-US" sz="800" dirty="0" err="1"/>
              <a:t>SubmittedDate</a:t>
            </a:r>
            <a:r>
              <a:rPr lang="en-US" sz="800" dirty="0"/>
              <a:t>, </a:t>
            </a:r>
            <a:r>
              <a:rPr lang="en-US" sz="800" dirty="0" err="1"/>
              <a:t>SubmittedByEmail</a:t>
            </a:r>
            <a:r>
              <a:rPr lang="en-US" sz="800" dirty="0"/>
              <a:t>, </a:t>
            </a:r>
            <a:r>
              <a:rPr lang="en-US" sz="800" dirty="0" err="1"/>
              <a:t>SubmittedByName</a:t>
            </a:r>
            <a:r>
              <a:rPr lang="en-US" sz="800" dirty="0"/>
              <a:t> populated</a:t>
            </a:r>
          </a:p>
          <a:p>
            <a:r>
              <a:rPr lang="en-US" sz="800" dirty="0"/>
              <a:t>- Confirmation email triggered by Power Automate flow</a:t>
            </a:r>
          </a:p>
          <a:p>
            <a:endParaRPr lang="en-US" sz="800" dirty="0"/>
          </a:p>
          <a:p>
            <a:r>
              <a:rPr lang="en-US" sz="800" dirty="0"/>
              <a:t>Submission ID Generation:</a:t>
            </a:r>
          </a:p>
          <a:p>
            <a:r>
              <a:rPr lang="en-US" sz="800" dirty="0"/>
              <a:t>- Format: SUB-[</a:t>
            </a:r>
            <a:r>
              <a:rPr lang="en-US" sz="800" dirty="0" err="1"/>
              <a:t>SubmissionMonth</a:t>
            </a:r>
            <a:r>
              <a:rPr lang="en-US" sz="800" dirty="0"/>
              <a:t>]-[</a:t>
            </a:r>
            <a:r>
              <a:rPr lang="en-US" sz="800" dirty="0" err="1"/>
              <a:t>CountryCode</a:t>
            </a:r>
            <a:r>
              <a:rPr lang="en-US" sz="800" dirty="0"/>
              <a:t>]-[Sequential]</a:t>
            </a:r>
          </a:p>
          <a:p>
            <a:r>
              <a:rPr lang="en-US" sz="800" dirty="0"/>
              <a:t>- Example: SUB-202511-KOR-001</a:t>
            </a:r>
          </a:p>
          <a:p>
            <a:r>
              <a:rPr lang="en-US" sz="800" dirty="0"/>
              <a:t>- Stored in </a:t>
            </a:r>
            <a:r>
              <a:rPr lang="en-US" sz="800" dirty="0" err="1"/>
              <a:t>tbl_VolumeSubmissions.Title</a:t>
            </a:r>
            <a:r>
              <a:rPr lang="en-US" sz="800" dirty="0"/>
              <a:t> field</a:t>
            </a:r>
          </a:p>
          <a:p>
            <a:endParaRPr lang="en-US" sz="800" dirty="0"/>
          </a:p>
          <a:p>
            <a:r>
              <a:rPr lang="en-US" sz="800" dirty="0"/>
              <a:t>Email Notification:</a:t>
            </a:r>
          </a:p>
          <a:p>
            <a:r>
              <a:rPr lang="en-US" sz="800" dirty="0"/>
              <a:t>- Triggered by Power Automate when Status = "Submitted"</a:t>
            </a:r>
          </a:p>
          <a:p>
            <a:r>
              <a:rPr lang="en-US" sz="800" dirty="0"/>
              <a:t>- Sent to </a:t>
            </a:r>
            <a:r>
              <a:rPr lang="en-US" sz="800" dirty="0" err="1"/>
              <a:t>SubmittedByEmail</a:t>
            </a:r>
            <a:endParaRPr lang="en-US" sz="800" dirty="0"/>
          </a:p>
          <a:p>
            <a:r>
              <a:rPr lang="en-US" sz="800" dirty="0"/>
              <a:t>- Contains: Submission ID, summary, PDF receipt attachment</a:t>
            </a:r>
          </a:p>
          <a:p>
            <a:r>
              <a:rPr lang="en-US" sz="800" dirty="0"/>
              <a:t>- Template: "Thank you for submitting volumes for [Month]"</a:t>
            </a:r>
          </a:p>
          <a:p>
            <a:endParaRPr lang="en-US" sz="800" dirty="0"/>
          </a:p>
          <a:p>
            <a:r>
              <a:rPr lang="en-US" sz="800" dirty="0"/>
              <a:t>PDF Receipt:</a:t>
            </a:r>
          </a:p>
          <a:p>
            <a:r>
              <a:rPr lang="en-US" sz="800" dirty="0"/>
              <a:t>- Generated on-demand when user clicks button</a:t>
            </a:r>
          </a:p>
          <a:p>
            <a:r>
              <a:rPr lang="en-US" sz="800" dirty="0"/>
              <a:t>- Contains all submission details</a:t>
            </a:r>
          </a:p>
          <a:p>
            <a:r>
              <a:rPr lang="en-US" sz="800" dirty="0"/>
              <a:t>- Option to save/print for records</a:t>
            </a:r>
          </a:p>
          <a:p>
            <a:r>
              <a:rPr lang="en-US" sz="800" dirty="0"/>
              <a:t>- Uses submission ID as filename</a:t>
            </a:r>
          </a:p>
          <a:p>
            <a:endParaRPr lang="en-US" sz="800" dirty="0"/>
          </a:p>
          <a:p>
            <a:endParaRPr lang="en-US" sz="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1EBDCC-F73E-BA28-0565-7E241A743862}"/>
              </a:ext>
            </a:extLst>
          </p:cNvPr>
          <p:cNvSpPr txBox="1"/>
          <p:nvPr/>
        </p:nvSpPr>
        <p:spPr>
          <a:xfrm>
            <a:off x="615742" y="5384683"/>
            <a:ext cx="43815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What happens next?</a:t>
            </a:r>
          </a:p>
          <a:p>
            <a:r>
              <a:rPr lang="en-US" sz="1050" dirty="0"/>
              <a:t>    • Your submission will be reviewed by the data quality team</a:t>
            </a:r>
          </a:p>
          <a:p>
            <a:r>
              <a:rPr lang="en-US" sz="1050" dirty="0"/>
              <a:t>    • You'll receive an email notification once validated</a:t>
            </a:r>
          </a:p>
          <a:p>
            <a:r>
              <a:rPr lang="en-US" sz="1050" dirty="0"/>
              <a:t>    • Check your submission history to see status updates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453291-01C7-6E3F-C7C5-7B398709626F}"/>
              </a:ext>
            </a:extLst>
          </p:cNvPr>
          <p:cNvSpPr/>
          <p:nvPr/>
        </p:nvSpPr>
        <p:spPr>
          <a:xfrm>
            <a:off x="540773" y="1603820"/>
            <a:ext cx="5759245" cy="23439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0F4B18-526D-B4A5-9F7A-8CFBAA0F130F}"/>
              </a:ext>
            </a:extLst>
          </p:cNvPr>
          <p:cNvSpPr txBox="1"/>
          <p:nvPr/>
        </p:nvSpPr>
        <p:spPr>
          <a:xfrm>
            <a:off x="500831" y="1615107"/>
            <a:ext cx="5710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Submitting as: Ji-Won Kim | Country: Republic of Korea |                                         [Logout]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F7D3A-E1AE-7302-1ED2-23BA361E72F8}"/>
              </a:ext>
            </a:extLst>
          </p:cNvPr>
          <p:cNvSpPr/>
          <p:nvPr/>
        </p:nvSpPr>
        <p:spPr>
          <a:xfrm>
            <a:off x="585631" y="1886747"/>
            <a:ext cx="5625283" cy="27237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96FF3-1413-94C7-05C6-3B51629D47E4}"/>
              </a:ext>
            </a:extLst>
          </p:cNvPr>
          <p:cNvSpPr txBox="1"/>
          <p:nvPr/>
        </p:nvSpPr>
        <p:spPr>
          <a:xfrm>
            <a:off x="9118193" y="1506552"/>
            <a:ext cx="278437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Button Actions:</a:t>
            </a:r>
          </a:p>
          <a:p>
            <a:r>
              <a:rPr lang="en-US" sz="800" dirty="0"/>
              <a:t>1. "Submit Another Month":</a:t>
            </a:r>
          </a:p>
          <a:p>
            <a:r>
              <a:rPr lang="en-US" sz="800" dirty="0"/>
              <a:t>   - Returns to Screen 2 (Submission Form)</a:t>
            </a:r>
          </a:p>
          <a:p>
            <a:r>
              <a:rPr lang="en-US" sz="800" dirty="0"/>
              <a:t>   - Clears form / resets to new submission</a:t>
            </a:r>
          </a:p>
          <a:p>
            <a:r>
              <a:rPr lang="en-US" sz="800" dirty="0"/>
              <a:t>   - Pre-selects same country if single-country user</a:t>
            </a:r>
          </a:p>
          <a:p>
            <a:endParaRPr lang="en-US" sz="800" dirty="0"/>
          </a:p>
          <a:p>
            <a:r>
              <a:rPr lang="en-US" sz="800" dirty="0"/>
              <a:t>2. "View Submission History":</a:t>
            </a:r>
          </a:p>
          <a:p>
            <a:r>
              <a:rPr lang="en-US" sz="800" dirty="0"/>
              <a:t>   - Navigates to Screen 4 (History View)</a:t>
            </a:r>
          </a:p>
          <a:p>
            <a:r>
              <a:rPr lang="en-US" sz="800" dirty="0"/>
              <a:t>   - Shows all past submissions for this user's country</a:t>
            </a:r>
          </a:p>
          <a:p>
            <a:endParaRPr lang="en-US" sz="800" dirty="0"/>
          </a:p>
          <a:p>
            <a:r>
              <a:rPr lang="en-US" sz="800" dirty="0"/>
              <a:t>3. "Done / Return Home":</a:t>
            </a:r>
          </a:p>
          <a:p>
            <a:r>
              <a:rPr lang="en-US" sz="800" dirty="0"/>
              <a:t>   - Returns to Screen 1 (Welcome)</a:t>
            </a:r>
          </a:p>
          <a:p>
            <a:r>
              <a:rPr lang="en-US" sz="800" dirty="0"/>
              <a:t>   - Resets all variables</a:t>
            </a:r>
          </a:p>
          <a:p>
            <a:r>
              <a:rPr lang="en-US" sz="800" dirty="0"/>
              <a:t>   - User can logout or start another task</a:t>
            </a:r>
          </a:p>
          <a:p>
            <a:endParaRPr lang="en-US" sz="800" dirty="0"/>
          </a:p>
          <a:p>
            <a:r>
              <a:rPr lang="en-US" sz="800" dirty="0"/>
              <a:t>Data Quality Team Notification:</a:t>
            </a:r>
          </a:p>
          <a:p>
            <a:r>
              <a:rPr lang="en-US" sz="800" dirty="0"/>
              <a:t>- Separate Power Automate flow notifies analyst</a:t>
            </a:r>
          </a:p>
          <a:p>
            <a:r>
              <a:rPr lang="en-US" sz="800" dirty="0"/>
              <a:t>- Email sent to data quality team email address</a:t>
            </a:r>
          </a:p>
          <a:p>
            <a:r>
              <a:rPr lang="en-US" sz="800" dirty="0"/>
              <a:t>- Subject: "New Submission Pending Review: [Country] - [Month]"</a:t>
            </a:r>
          </a:p>
          <a:p>
            <a:endParaRPr lang="en-US" sz="800" dirty="0"/>
          </a:p>
          <a:p>
            <a:r>
              <a:rPr lang="en-US" sz="800" dirty="0"/>
              <a:t>Status Workflow:</a:t>
            </a:r>
          </a:p>
          <a:p>
            <a:r>
              <a:rPr lang="en-US" sz="800" dirty="0"/>
              <a:t>- Current: "Submitted"</a:t>
            </a:r>
          </a:p>
          <a:p>
            <a:r>
              <a:rPr lang="en-US" sz="800" dirty="0"/>
              <a:t>- Next: "</a:t>
            </a:r>
            <a:r>
              <a:rPr lang="en-US" sz="800" dirty="0" err="1"/>
              <a:t>Pending_Review</a:t>
            </a:r>
            <a:r>
              <a:rPr lang="en-US" sz="800" dirty="0"/>
              <a:t>" (when analyst opens it)</a:t>
            </a:r>
          </a:p>
          <a:p>
            <a:r>
              <a:rPr lang="en-US" sz="800" dirty="0"/>
              <a:t>- Then: "Validated" or "Flagged" (after analyst review)</a:t>
            </a:r>
          </a:p>
          <a:p>
            <a:r>
              <a:rPr lang="en-US" sz="800" dirty="0"/>
              <a:t>- Final: "Approved"</a:t>
            </a:r>
          </a:p>
          <a:p>
            <a:endParaRPr lang="en-US" sz="800" dirty="0"/>
          </a:p>
          <a:p>
            <a:r>
              <a:rPr lang="en-US" sz="800" dirty="0"/>
              <a:t>User Can Still Edit?</a:t>
            </a:r>
          </a:p>
          <a:p>
            <a:r>
              <a:rPr lang="en-US" sz="800" dirty="0"/>
              <a:t>- No - once submitted, coordinators cannot edit</a:t>
            </a:r>
          </a:p>
          <a:p>
            <a:r>
              <a:rPr lang="en-US" sz="800" dirty="0"/>
              <a:t>- Must contact data quality analyst for corrections</a:t>
            </a:r>
          </a:p>
          <a:p>
            <a:r>
              <a:rPr lang="en-US" sz="800" dirty="0"/>
              <a:t>- This prevents changing data after submission</a:t>
            </a:r>
          </a:p>
          <a:p>
            <a:r>
              <a:rPr lang="en-US" sz="800" dirty="0"/>
              <a:t>- Audit trail maintained in </a:t>
            </a:r>
            <a:r>
              <a:rPr lang="en-US" sz="800" dirty="0" err="1"/>
              <a:t>tbl_SubmissionHistory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Power Apps Implementation Notes:</a:t>
            </a:r>
          </a:p>
          <a:p>
            <a:r>
              <a:rPr lang="en-US" sz="800" dirty="0"/>
              <a:t>- Use Navigate(</a:t>
            </a:r>
            <a:r>
              <a:rPr lang="en-US" sz="800" dirty="0" err="1"/>
              <a:t>ConfirmationScreen</a:t>
            </a:r>
            <a:r>
              <a:rPr lang="en-US" sz="800" dirty="0"/>
              <a:t>, </a:t>
            </a:r>
            <a:r>
              <a:rPr lang="en-US" sz="800" dirty="0" err="1"/>
              <a:t>ScreenTransition.None</a:t>
            </a:r>
            <a:r>
              <a:rPr lang="en-US" sz="800" dirty="0"/>
              <a:t>)</a:t>
            </a:r>
          </a:p>
          <a:p>
            <a:r>
              <a:rPr lang="en-US" sz="800" dirty="0"/>
              <a:t>- Pass submission ID as context variable</a:t>
            </a:r>
          </a:p>
          <a:p>
            <a:r>
              <a:rPr lang="en-US" sz="800" dirty="0"/>
              <a:t>- Use Concurrent() to trigger email flow and update status</a:t>
            </a:r>
          </a:p>
          <a:p>
            <a:r>
              <a:rPr lang="en-US" sz="800" dirty="0"/>
              <a:t>- Reset form variables before returning to entry screen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DA43E3-A580-47D1-FDF7-030DEB85F648}"/>
              </a:ext>
            </a:extLst>
          </p:cNvPr>
          <p:cNvSpPr/>
          <p:nvPr/>
        </p:nvSpPr>
        <p:spPr>
          <a:xfrm>
            <a:off x="2236833" y="5021515"/>
            <a:ext cx="1317523" cy="26161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[ View Submission History ]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A848AD0-4A2F-2BC4-7AB4-A24DE636EFFF}"/>
              </a:ext>
            </a:extLst>
          </p:cNvPr>
          <p:cNvSpPr/>
          <p:nvPr/>
        </p:nvSpPr>
        <p:spPr>
          <a:xfrm>
            <a:off x="3849324" y="5012956"/>
            <a:ext cx="1317523" cy="2616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[ Done / Return Home ]</a:t>
            </a:r>
            <a:r>
              <a:rPr lang="en-US" sz="800" dirty="0"/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35011E-38D9-6895-7E57-552E26003CD1}"/>
              </a:ext>
            </a:extLst>
          </p:cNvPr>
          <p:cNvSpPr txBox="1"/>
          <p:nvPr/>
        </p:nvSpPr>
        <p:spPr>
          <a:xfrm>
            <a:off x="610831" y="1886747"/>
            <a:ext cx="53653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✓ Submission Successful!</a:t>
            </a:r>
            <a:br>
              <a:rPr lang="en-US" sz="2000" b="1" dirty="0"/>
            </a:br>
            <a:r>
              <a:rPr lang="en-US" sz="1400" dirty="0"/>
              <a:t>Your enrollment volumes have been submitted successfully</a:t>
            </a:r>
            <a:endParaRPr lang="en-US" sz="20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EF1A32-1FE2-C5F4-A893-6DF42A1B668A}"/>
              </a:ext>
            </a:extLst>
          </p:cNvPr>
          <p:cNvSpPr/>
          <p:nvPr/>
        </p:nvSpPr>
        <p:spPr>
          <a:xfrm>
            <a:off x="737725" y="2479342"/>
            <a:ext cx="5365340" cy="204349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Submission Confirmation</a:t>
            </a:r>
            <a:b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Submission ID: SUB-202511-KOR-001</a:t>
            </a:r>
          </a:p>
          <a:p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Country: Republic of Korea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Submission Month: November 2025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Submitted By: Ji-Won Kim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Submitted On: November 24, 2025 at 10:15 AM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Test Types Submitted: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• Leadership Fundamentals (Actual: 450, Budget: 500, Forecast: 475)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• Data Analytics Essentials (Actual: 320, Budget: 350, Forecast: 340)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• Project Management Cert Prep (Actual: 125, Budget: 150, Forecast: 130)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Total Test Types: 3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Status: Submitted (Pending Validation)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9FF375-3E40-F7C2-0FAD-3CD9AB2D4BA4}"/>
              </a:ext>
            </a:extLst>
          </p:cNvPr>
          <p:cNvSpPr txBox="1"/>
          <p:nvPr/>
        </p:nvSpPr>
        <p:spPr>
          <a:xfrm>
            <a:off x="570579" y="4611687"/>
            <a:ext cx="5600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📧 A confirmation email has been sent to </a:t>
            </a:r>
            <a:r>
              <a:rPr lang="en-US" sz="800" dirty="0">
                <a:hlinkClick r:id="rId3"/>
              </a:rPr>
              <a:t>jiwon.kim.demo@outlook.com</a:t>
            </a:r>
            <a:br>
              <a:rPr lang="en-US" sz="800" dirty="0"/>
            </a:br>
            <a:r>
              <a:rPr lang="en-US" sz="800" dirty="0"/>
              <a:t>     [ Download PDF Receipt ]</a:t>
            </a:r>
          </a:p>
        </p:txBody>
      </p:sp>
    </p:spTree>
    <p:extLst>
      <p:ext uri="{BB962C8B-B14F-4D97-AF65-F5344CB8AC3E}">
        <p14:creationId xmlns:p14="http://schemas.microsoft.com/office/powerpoint/2010/main" val="3467722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C1AA4-3D78-1DAC-9F47-3A1A7C72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986A-48D7-FE60-326D-5761F00A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78" y="333963"/>
            <a:ext cx="10515600" cy="554191"/>
          </a:xfrm>
        </p:spPr>
        <p:txBody>
          <a:bodyPr>
            <a:normAutofit fontScale="90000"/>
          </a:bodyPr>
          <a:lstStyle/>
          <a:p>
            <a:r>
              <a:rPr lang="en-US" dirty="0"/>
              <a:t>Screen 4: Submission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2AD9E-B2F2-D73D-E047-C834F9D1E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9316"/>
            <a:ext cx="10515600" cy="567555"/>
          </a:xfrm>
        </p:spPr>
        <p:txBody>
          <a:bodyPr/>
          <a:lstStyle/>
          <a:p>
            <a:r>
              <a:rPr lang="en-US" dirty="0"/>
              <a:t>View past submissions and status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3337EA-4CBF-78D4-A90B-4AC8AAA120E1}"/>
              </a:ext>
            </a:extLst>
          </p:cNvPr>
          <p:cNvSpPr/>
          <p:nvPr/>
        </p:nvSpPr>
        <p:spPr>
          <a:xfrm>
            <a:off x="245806" y="1506552"/>
            <a:ext cx="11700387" cy="51793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2CA347-2964-2DE0-E314-2B0838FBEF5D}"/>
              </a:ext>
            </a:extLst>
          </p:cNvPr>
          <p:cNvSpPr/>
          <p:nvPr/>
        </p:nvSpPr>
        <p:spPr>
          <a:xfrm>
            <a:off x="540774" y="1588978"/>
            <a:ext cx="5759245" cy="49038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Select Coordinator: [Choose your name ▼]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6EADC-8101-1CDE-8FB3-51BAB8DC53DD}"/>
              </a:ext>
            </a:extLst>
          </p:cNvPr>
          <p:cNvSpPr txBox="1"/>
          <p:nvPr/>
        </p:nvSpPr>
        <p:spPr>
          <a:xfrm>
            <a:off x="497144" y="1975153"/>
            <a:ext cx="2812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Submission History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6EA23E-3481-2923-B63E-7C65A236FBA6}"/>
              </a:ext>
            </a:extLst>
          </p:cNvPr>
          <p:cNvSpPr txBox="1"/>
          <p:nvPr/>
        </p:nvSpPr>
        <p:spPr>
          <a:xfrm>
            <a:off x="512197" y="2171806"/>
            <a:ext cx="56738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View all your past volume submissions and their current status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8C13204-E8F0-6710-CBA9-206DC095A8D4}"/>
              </a:ext>
            </a:extLst>
          </p:cNvPr>
          <p:cNvSpPr/>
          <p:nvPr/>
        </p:nvSpPr>
        <p:spPr>
          <a:xfrm>
            <a:off x="2102254" y="4940527"/>
            <a:ext cx="1317523" cy="26161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[ Save Draft 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A1B598-3395-F5E9-E842-48268CD87709}"/>
              </a:ext>
            </a:extLst>
          </p:cNvPr>
          <p:cNvSpPr txBox="1"/>
          <p:nvPr/>
        </p:nvSpPr>
        <p:spPr>
          <a:xfrm>
            <a:off x="6440745" y="1514148"/>
            <a:ext cx="2677447" cy="5247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" dirty="0"/>
              <a:t>NOTES:</a:t>
            </a:r>
          </a:p>
          <a:p>
            <a:endParaRPr lang="en-US" sz="650" dirty="0"/>
          </a:p>
          <a:p>
            <a:r>
              <a:rPr lang="en-US" sz="650" dirty="0"/>
              <a:t>Data Source:</a:t>
            </a:r>
          </a:p>
          <a:p>
            <a:r>
              <a:rPr lang="en-US" sz="650" dirty="0"/>
              <a:t>- </a:t>
            </a:r>
            <a:r>
              <a:rPr lang="en-US" sz="650" dirty="0" err="1"/>
              <a:t>tbl_VolumeSubmissions</a:t>
            </a:r>
            <a:endParaRPr lang="en-US" sz="650" dirty="0"/>
          </a:p>
          <a:p>
            <a:r>
              <a:rPr lang="en-US" sz="650" dirty="0"/>
              <a:t>- Filter: </a:t>
            </a:r>
            <a:r>
              <a:rPr lang="en-US" sz="650" dirty="0" err="1"/>
              <a:t>CountryID</a:t>
            </a:r>
            <a:r>
              <a:rPr lang="en-US" sz="650" dirty="0"/>
              <a:t> = User's assigned country</a:t>
            </a:r>
          </a:p>
          <a:p>
            <a:r>
              <a:rPr lang="en-US" sz="650" dirty="0"/>
              <a:t>- Order by: </a:t>
            </a:r>
            <a:r>
              <a:rPr lang="en-US" sz="650" dirty="0" err="1"/>
              <a:t>SubmittedDate</a:t>
            </a:r>
            <a:r>
              <a:rPr lang="en-US" sz="650" dirty="0"/>
              <a:t> DESC (most recent first)</a:t>
            </a:r>
          </a:p>
          <a:p>
            <a:r>
              <a:rPr lang="en-US" sz="650" dirty="0"/>
              <a:t>- Include: All statuses except </a:t>
            </a:r>
            <a:r>
              <a:rPr lang="en-US" sz="650" dirty="0" err="1"/>
              <a:t>IsDeleted</a:t>
            </a:r>
            <a:r>
              <a:rPr lang="en-US" sz="650" dirty="0"/>
              <a:t> = Yes</a:t>
            </a:r>
          </a:p>
          <a:p>
            <a:endParaRPr lang="en-US" sz="650" dirty="0"/>
          </a:p>
          <a:p>
            <a:r>
              <a:rPr lang="en-US" sz="650" dirty="0"/>
              <a:t>Table Columns:</a:t>
            </a:r>
          </a:p>
          <a:p>
            <a:r>
              <a:rPr lang="en-US" sz="650" dirty="0"/>
              <a:t>- Submission ID: Title field from </a:t>
            </a:r>
            <a:r>
              <a:rPr lang="en-US" sz="650" dirty="0" err="1"/>
              <a:t>tbl_VolumeSubmissions</a:t>
            </a:r>
            <a:endParaRPr lang="en-US" sz="650" dirty="0"/>
          </a:p>
          <a:p>
            <a:r>
              <a:rPr lang="en-US" sz="650" dirty="0"/>
              <a:t>- Month: </a:t>
            </a:r>
            <a:r>
              <a:rPr lang="en-US" sz="650" dirty="0" err="1"/>
              <a:t>SubmissionMonth</a:t>
            </a:r>
            <a:r>
              <a:rPr lang="en-US" sz="650" dirty="0"/>
              <a:t> (displayed as "Month Year")</a:t>
            </a:r>
          </a:p>
          <a:p>
            <a:r>
              <a:rPr lang="en-US" sz="650" dirty="0"/>
              <a:t>- Submitted: </a:t>
            </a:r>
            <a:r>
              <a:rPr lang="en-US" sz="650" dirty="0" err="1"/>
              <a:t>SubmittedDate</a:t>
            </a:r>
            <a:r>
              <a:rPr lang="en-US" sz="650" dirty="0"/>
              <a:t> (formatted as MM/DD/YY)</a:t>
            </a:r>
          </a:p>
          <a:p>
            <a:r>
              <a:rPr lang="en-US" sz="650" dirty="0"/>
              <a:t>- Test Types: Count of distinct </a:t>
            </a:r>
            <a:r>
              <a:rPr lang="en-US" sz="650" dirty="0" err="1"/>
              <a:t>TestTypeIDs</a:t>
            </a:r>
            <a:r>
              <a:rPr lang="en-US" sz="650" dirty="0"/>
              <a:t> in submission</a:t>
            </a:r>
          </a:p>
          <a:p>
            <a:r>
              <a:rPr lang="en-US" sz="650" dirty="0"/>
              <a:t>- Status: Current workflow status</a:t>
            </a:r>
          </a:p>
          <a:p>
            <a:r>
              <a:rPr lang="en-US" sz="650" dirty="0"/>
              <a:t>- Actions: Dynamic buttons based on status</a:t>
            </a:r>
          </a:p>
          <a:p>
            <a:endParaRPr lang="en-US" sz="650" dirty="0"/>
          </a:p>
          <a:p>
            <a:r>
              <a:rPr lang="en-US" sz="650" dirty="0"/>
              <a:t>Filter Logic:</a:t>
            </a:r>
          </a:p>
          <a:p>
            <a:r>
              <a:rPr lang="en-US" sz="650" dirty="0"/>
              <a:t>- Month dropdown: Populated from distinct </a:t>
            </a:r>
            <a:r>
              <a:rPr lang="en-US" sz="650" dirty="0" err="1"/>
              <a:t>SubmissionMonth</a:t>
            </a:r>
            <a:r>
              <a:rPr lang="en-US" sz="650" dirty="0"/>
              <a:t> values</a:t>
            </a:r>
          </a:p>
          <a:p>
            <a:r>
              <a:rPr lang="en-US" sz="650" dirty="0"/>
              <a:t>- Status dropdown: Approved, Validated, Flagged, Submitted, Draft</a:t>
            </a:r>
          </a:p>
          <a:p>
            <a:r>
              <a:rPr lang="en-US" sz="650" dirty="0"/>
              <a:t>- Year dropdown: Populated from distinct years in data</a:t>
            </a:r>
          </a:p>
          <a:p>
            <a:r>
              <a:rPr lang="en-US" sz="650" dirty="0"/>
              <a:t>- Filters apply in combination (AND logic)</a:t>
            </a:r>
          </a:p>
          <a:p>
            <a:r>
              <a:rPr lang="en-US" sz="650" dirty="0"/>
              <a:t>- Search: Searches Submission ID and Month fields</a:t>
            </a:r>
          </a:p>
          <a:p>
            <a:endParaRPr lang="en-US" sz="650" dirty="0"/>
          </a:p>
          <a:p>
            <a:r>
              <a:rPr lang="en-US" sz="650" dirty="0"/>
              <a:t>Status Display:</a:t>
            </a:r>
          </a:p>
          <a:p>
            <a:r>
              <a:rPr lang="en-US" sz="650" dirty="0"/>
              <a:t>- Use colored badges for visual scanning</a:t>
            </a:r>
          </a:p>
          <a:p>
            <a:r>
              <a:rPr lang="en-US" sz="650" dirty="0"/>
              <a:t>- Approved: Green</a:t>
            </a:r>
          </a:p>
          <a:p>
            <a:r>
              <a:rPr lang="en-US" sz="650" dirty="0"/>
              <a:t>- Validated: Yellow</a:t>
            </a:r>
          </a:p>
          <a:p>
            <a:r>
              <a:rPr lang="en-US" sz="650" dirty="0"/>
              <a:t>- Flagged: Orange/Red</a:t>
            </a:r>
          </a:p>
          <a:p>
            <a:r>
              <a:rPr lang="en-US" sz="650" dirty="0"/>
              <a:t>- Submitted: Blue</a:t>
            </a:r>
          </a:p>
          <a:p>
            <a:r>
              <a:rPr lang="en-US" sz="650" dirty="0"/>
              <a:t>- Draft: Gray</a:t>
            </a:r>
          </a:p>
          <a:p>
            <a:endParaRPr lang="en-US" sz="650" dirty="0"/>
          </a:p>
          <a:p>
            <a:r>
              <a:rPr lang="en-US" sz="650" dirty="0"/>
              <a:t>Action Buttons (Context-Sensitive):</a:t>
            </a:r>
          </a:p>
          <a:p>
            <a:r>
              <a:rPr lang="en-US" sz="650" dirty="0"/>
              <a:t>1. [View]: Always available</a:t>
            </a:r>
          </a:p>
          <a:p>
            <a:r>
              <a:rPr lang="en-US" sz="650" dirty="0"/>
              <a:t>   - Opens read-only detail view</a:t>
            </a:r>
          </a:p>
          <a:p>
            <a:r>
              <a:rPr lang="en-US" sz="650" dirty="0"/>
              <a:t>   - Shows same info as confirmation screen</a:t>
            </a:r>
          </a:p>
          <a:p>
            <a:r>
              <a:rPr lang="en-US" sz="650" dirty="0"/>
              <a:t>   </a:t>
            </a:r>
          </a:p>
          <a:p>
            <a:r>
              <a:rPr lang="en-US" sz="650" dirty="0"/>
              <a:t>2. [Download]: Available for Approved/Validated</a:t>
            </a:r>
          </a:p>
          <a:p>
            <a:r>
              <a:rPr lang="en-US" sz="650" dirty="0"/>
              <a:t>   - Downloads PDF receipt</a:t>
            </a:r>
          </a:p>
          <a:p>
            <a:r>
              <a:rPr lang="en-US" sz="650" dirty="0"/>
              <a:t>   - Same PDF as confirmation screen</a:t>
            </a:r>
            <a:br>
              <a:rPr lang="en-US" sz="650" dirty="0"/>
            </a:br>
            <a:br>
              <a:rPr lang="en-US" sz="650" dirty="0"/>
            </a:br>
            <a:r>
              <a:rPr lang="en-US" sz="650" dirty="0"/>
              <a:t>3. [Resolve]: Available for Flagged only</a:t>
            </a:r>
          </a:p>
          <a:p>
            <a:r>
              <a:rPr lang="en-US" sz="650" dirty="0"/>
              <a:t>   - Shows flag details</a:t>
            </a:r>
          </a:p>
          <a:p>
            <a:r>
              <a:rPr lang="en-US" sz="650" dirty="0"/>
              <a:t>   - Allows coordinator to add response/clarification</a:t>
            </a:r>
          </a:p>
          <a:p>
            <a:r>
              <a:rPr lang="en-US" sz="650" dirty="0"/>
              <a:t>   - Sends notification to analyst</a:t>
            </a:r>
            <a:br>
              <a:rPr lang="en-US" sz="650" dirty="0"/>
            </a:br>
            <a:br>
              <a:rPr lang="en-US" sz="650" dirty="0"/>
            </a:br>
            <a:r>
              <a:rPr lang="en-US" sz="600" dirty="0"/>
              <a:t>Row Click Behavior:</a:t>
            </a:r>
          </a:p>
          <a:p>
            <a:r>
              <a:rPr lang="en-US" sz="600" dirty="0"/>
              <a:t>- Click anywhere on row (except buttons) → View details</a:t>
            </a:r>
          </a:p>
          <a:p>
            <a:r>
              <a:rPr lang="en-US" sz="600" dirty="0"/>
              <a:t>- Hover effect to show it's clickable</a:t>
            </a:r>
          </a:p>
          <a:p>
            <a:endParaRPr lang="en-US" sz="650" dirty="0"/>
          </a:p>
          <a:p>
            <a:endParaRPr lang="en-US" sz="700" dirty="0"/>
          </a:p>
          <a:p>
            <a:endParaRPr lang="en-US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B3265D-625F-F6DC-A06E-98603A63CBC2}"/>
              </a:ext>
            </a:extLst>
          </p:cNvPr>
          <p:cNvSpPr txBox="1"/>
          <p:nvPr/>
        </p:nvSpPr>
        <p:spPr>
          <a:xfrm>
            <a:off x="478710" y="1803166"/>
            <a:ext cx="5660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[ ← Back ]    Home &gt; Submission History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2A2791-E280-3DB8-2075-BE4D7802D69C}"/>
              </a:ext>
            </a:extLst>
          </p:cNvPr>
          <p:cNvSpPr/>
          <p:nvPr/>
        </p:nvSpPr>
        <p:spPr>
          <a:xfrm>
            <a:off x="540773" y="1603820"/>
            <a:ext cx="5759245" cy="23439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E66B93-C8D1-3660-0A92-43C5D5F7BD15}"/>
              </a:ext>
            </a:extLst>
          </p:cNvPr>
          <p:cNvSpPr txBox="1"/>
          <p:nvPr/>
        </p:nvSpPr>
        <p:spPr>
          <a:xfrm>
            <a:off x="500831" y="1615107"/>
            <a:ext cx="5710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Submitting as: Ji-Won Kim | Country: Republic of Korea |                                         [Logout]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CD58B5-D537-0F78-8CC0-5594209548E5}"/>
              </a:ext>
            </a:extLst>
          </p:cNvPr>
          <p:cNvSpPr/>
          <p:nvPr/>
        </p:nvSpPr>
        <p:spPr>
          <a:xfrm>
            <a:off x="608370" y="2459661"/>
            <a:ext cx="5625283" cy="22970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A99E5-FB16-413D-EA42-E3712356A182}"/>
              </a:ext>
            </a:extLst>
          </p:cNvPr>
          <p:cNvSpPr txBox="1"/>
          <p:nvPr/>
        </p:nvSpPr>
        <p:spPr>
          <a:xfrm>
            <a:off x="9118193" y="1506552"/>
            <a:ext cx="2784370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Pagination:</a:t>
            </a:r>
          </a:p>
          <a:p>
            <a:r>
              <a:rPr lang="en-US" sz="700" dirty="0"/>
              <a:t>- Show 5-10 rows per page</a:t>
            </a:r>
          </a:p>
          <a:p>
            <a:r>
              <a:rPr lang="en-US" sz="700" dirty="0"/>
              <a:t>- Calculate total pages</a:t>
            </a:r>
          </a:p>
          <a:p>
            <a:r>
              <a:rPr lang="en-US" sz="700" dirty="0"/>
              <a:t>- Enable Previous/Next buttons based on current page</a:t>
            </a:r>
          </a:p>
          <a:p>
            <a:r>
              <a:rPr lang="en-US" sz="700" dirty="0"/>
              <a:t>- Option: "Show All" for power users</a:t>
            </a:r>
          </a:p>
          <a:p>
            <a:endParaRPr lang="en-US" sz="700" dirty="0"/>
          </a:p>
          <a:p>
            <a:r>
              <a:rPr lang="en-US" sz="700" dirty="0"/>
              <a:t>Empty State:</a:t>
            </a:r>
          </a:p>
          <a:p>
            <a:r>
              <a:rPr lang="en-US" sz="700" dirty="0"/>
              <a:t>- Shown when Filter() returns no results</a:t>
            </a:r>
          </a:p>
          <a:p>
            <a:r>
              <a:rPr lang="en-US" sz="700" dirty="0"/>
              <a:t>- Friendly message encouraging first submission</a:t>
            </a:r>
          </a:p>
          <a:p>
            <a:r>
              <a:rPr lang="en-US" sz="700" dirty="0"/>
              <a:t>- Clear call-to-action button</a:t>
            </a:r>
          </a:p>
          <a:p>
            <a:endParaRPr lang="en-US" sz="700" dirty="0"/>
          </a:p>
          <a:p>
            <a:r>
              <a:rPr lang="en-US" sz="700" dirty="0"/>
              <a:t>Export to Excel:</a:t>
            </a:r>
          </a:p>
          <a:p>
            <a:r>
              <a:rPr lang="en-US" sz="700" dirty="0"/>
              <a:t>- Exports currently filtered/visible data</a:t>
            </a:r>
          </a:p>
          <a:p>
            <a:r>
              <a:rPr lang="en-US" sz="700" dirty="0"/>
              <a:t>- Includes: ID, Month, Submitted Date, Status</a:t>
            </a:r>
          </a:p>
          <a:p>
            <a:r>
              <a:rPr lang="en-US" sz="700" dirty="0"/>
              <a:t>- Filename: "</a:t>
            </a:r>
            <a:r>
              <a:rPr lang="en-US" sz="700" dirty="0" err="1"/>
              <a:t>SubmissionHistory</a:t>
            </a:r>
            <a:r>
              <a:rPr lang="en-US" sz="700" dirty="0"/>
              <a:t>_[</a:t>
            </a:r>
            <a:r>
              <a:rPr lang="en-US" sz="700" dirty="0" err="1"/>
              <a:t>CountryCode</a:t>
            </a:r>
            <a:r>
              <a:rPr lang="en-US" sz="700" dirty="0"/>
              <a:t>]_[Date].xlsx"</a:t>
            </a:r>
          </a:p>
          <a:p>
            <a:r>
              <a:rPr lang="en-US" sz="700" dirty="0"/>
              <a:t>- Opens save dialog or auto-downloads</a:t>
            </a:r>
          </a:p>
          <a:p>
            <a:endParaRPr lang="en-US" sz="700" dirty="0"/>
          </a:p>
          <a:p>
            <a:r>
              <a:rPr lang="en-US" sz="700" dirty="0"/>
              <a:t>Submit New Volumes Button:</a:t>
            </a:r>
          </a:p>
          <a:p>
            <a:r>
              <a:rPr lang="en-US" sz="700" dirty="0"/>
              <a:t>- Navigates to Screen 2 (Submission Form)</a:t>
            </a:r>
          </a:p>
          <a:p>
            <a:r>
              <a:rPr lang="en-US" sz="700" dirty="0"/>
              <a:t>- Pre-selects current month if not already submitted</a:t>
            </a:r>
          </a:p>
          <a:p>
            <a:r>
              <a:rPr lang="en-US" sz="700" dirty="0"/>
              <a:t>- Most common action from history screen</a:t>
            </a:r>
          </a:p>
          <a:p>
            <a:endParaRPr lang="en-US" sz="700" dirty="0"/>
          </a:p>
          <a:p>
            <a:r>
              <a:rPr lang="en-US" sz="700" dirty="0"/>
              <a:t>Performance Considerations:</a:t>
            </a:r>
          </a:p>
          <a:p>
            <a:r>
              <a:rPr lang="en-US" sz="700" dirty="0"/>
              <a:t>- For users with 100+ submissions:</a:t>
            </a:r>
          </a:p>
          <a:p>
            <a:r>
              <a:rPr lang="en-US" sz="700" dirty="0"/>
              <a:t>  - Default to last 12 months</a:t>
            </a:r>
          </a:p>
          <a:p>
            <a:r>
              <a:rPr lang="en-US" sz="700" dirty="0"/>
              <a:t>  - Pagination is critical</a:t>
            </a:r>
          </a:p>
          <a:p>
            <a:r>
              <a:rPr lang="en-US" sz="700" dirty="0"/>
              <a:t>  - Consider delegable queries</a:t>
            </a:r>
          </a:p>
          <a:p>
            <a:r>
              <a:rPr lang="en-US" sz="700" dirty="0"/>
              <a:t>  - Load additional data on demand</a:t>
            </a:r>
          </a:p>
          <a:p>
            <a:endParaRPr lang="en-US" sz="700" dirty="0"/>
          </a:p>
          <a:p>
            <a:r>
              <a:rPr lang="en-US" sz="700" dirty="0"/>
              <a:t>Power Apps Implementation:</a:t>
            </a:r>
          </a:p>
          <a:p>
            <a:r>
              <a:rPr lang="en-US" sz="700" dirty="0"/>
              <a:t>- Gallery control with Items = Filter(</a:t>
            </a:r>
            <a:r>
              <a:rPr lang="en-US" sz="700" dirty="0" err="1"/>
              <a:t>tbl_VolumeSubmissions</a:t>
            </a:r>
            <a:r>
              <a:rPr lang="en-US" sz="700" dirty="0"/>
              <a:t>...)</a:t>
            </a:r>
          </a:p>
          <a:p>
            <a:r>
              <a:rPr lang="en-US" sz="700" dirty="0"/>
              <a:t>- Sort(Filter(...), </a:t>
            </a:r>
            <a:r>
              <a:rPr lang="en-US" sz="700" dirty="0" err="1"/>
              <a:t>SubmittedDate</a:t>
            </a:r>
            <a:r>
              <a:rPr lang="en-US" sz="700" dirty="0"/>
              <a:t>, Descending)</a:t>
            </a:r>
          </a:p>
          <a:p>
            <a:r>
              <a:rPr lang="en-US" sz="700" dirty="0"/>
              <a:t>- Use delegation-friendly operators</a:t>
            </a:r>
          </a:p>
          <a:p>
            <a:r>
              <a:rPr lang="en-US" sz="700" dirty="0"/>
              <a:t>- Cache filtered results in collection if needed</a:t>
            </a:r>
          </a:p>
          <a:p>
            <a:r>
              <a:rPr lang="en-US" sz="700" dirty="0"/>
              <a:t>- Combo boxes for filter dropdowns</a:t>
            </a:r>
          </a:p>
          <a:p>
            <a:endParaRPr lang="en-US" sz="700" dirty="0"/>
          </a:p>
          <a:p>
            <a:r>
              <a:rPr lang="en-US" sz="700" dirty="0"/>
              <a:t>Navigation:</a:t>
            </a:r>
          </a:p>
          <a:p>
            <a:r>
              <a:rPr lang="en-US" sz="700" dirty="0"/>
              <a:t>- View button: Navigate(</a:t>
            </a:r>
            <a:r>
              <a:rPr lang="en-US" sz="700" dirty="0" err="1"/>
              <a:t>DetailScreen</a:t>
            </a:r>
            <a:r>
              <a:rPr lang="en-US" sz="700" dirty="0"/>
              <a:t>, </a:t>
            </a:r>
            <a:r>
              <a:rPr lang="en-US" sz="700" dirty="0" err="1"/>
              <a:t>ScreenTransition.None</a:t>
            </a:r>
            <a:r>
              <a:rPr lang="en-US" sz="700" dirty="0"/>
              <a:t>, {</a:t>
            </a:r>
            <a:r>
              <a:rPr lang="en-US" sz="700" dirty="0" err="1"/>
              <a:t>SelectedSubmission</a:t>
            </a:r>
            <a:r>
              <a:rPr lang="en-US" sz="700" dirty="0"/>
              <a:t>: </a:t>
            </a:r>
            <a:r>
              <a:rPr lang="en-US" sz="700" dirty="0" err="1"/>
              <a:t>ThisItem</a:t>
            </a:r>
            <a:r>
              <a:rPr lang="en-US" sz="700" dirty="0"/>
              <a:t>})</a:t>
            </a:r>
          </a:p>
          <a:p>
            <a:r>
              <a:rPr lang="en-US" sz="700" dirty="0"/>
              <a:t>- Submit New: Navigate(</a:t>
            </a:r>
            <a:r>
              <a:rPr lang="en-US" sz="700" dirty="0" err="1"/>
              <a:t>SubmissionFormScreen</a:t>
            </a:r>
            <a:r>
              <a:rPr lang="en-US" sz="700" dirty="0"/>
              <a:t>)</a:t>
            </a:r>
          </a:p>
          <a:p>
            <a:r>
              <a:rPr lang="en-US" sz="700" dirty="0"/>
              <a:t>- Back: Navigate(</a:t>
            </a:r>
            <a:r>
              <a:rPr lang="en-US" sz="700" dirty="0" err="1"/>
              <a:t>WelcomeScreen</a:t>
            </a:r>
            <a:r>
              <a:rPr lang="en-US" sz="700" dirty="0"/>
              <a:t>)</a:t>
            </a:r>
          </a:p>
          <a:p>
            <a:endParaRPr lang="en-US" sz="700" dirty="0"/>
          </a:p>
          <a:p>
            <a:r>
              <a:rPr lang="en-US" sz="700" dirty="0"/>
              <a:t>Mobile Considerations:</a:t>
            </a:r>
          </a:p>
          <a:p>
            <a:r>
              <a:rPr lang="en-US" sz="700" dirty="0"/>
              <a:t>- Table becomes vertical cards on narrow screens</a:t>
            </a:r>
          </a:p>
          <a:p>
            <a:r>
              <a:rPr lang="en-US" sz="700" dirty="0"/>
              <a:t>- Fewer columns visible</a:t>
            </a:r>
          </a:p>
          <a:p>
            <a:r>
              <a:rPr lang="en-US" sz="700" dirty="0"/>
              <a:t>- Swipe for actions instead of buttons</a:t>
            </a:r>
          </a:p>
          <a:p>
            <a:r>
              <a:rPr lang="en-US" sz="700" dirty="0"/>
              <a:t>- Filter panel collapses to dropdown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60570C-A68D-9E02-C519-1A58002E29DC}"/>
              </a:ext>
            </a:extLst>
          </p:cNvPr>
          <p:cNvSpPr txBox="1"/>
          <p:nvPr/>
        </p:nvSpPr>
        <p:spPr>
          <a:xfrm>
            <a:off x="607136" y="2464209"/>
            <a:ext cx="5625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Filter by:    Month: [All ▼]    Status: [All ▼]    Year: [2025 ▼]    [🔍 Search]</a:t>
            </a:r>
            <a:br>
              <a:rPr lang="en-US" sz="800" dirty="0"/>
            </a:br>
            <a:br>
              <a:rPr lang="en-US" sz="800" dirty="0"/>
            </a:br>
            <a:r>
              <a:rPr lang="en-US" sz="800" dirty="0"/>
              <a:t>Showing 12 submissions from the past 12 months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B17A592-994A-6037-5584-96DBCB98349F}"/>
              </a:ext>
            </a:extLst>
          </p:cNvPr>
          <p:cNvSpPr/>
          <p:nvPr/>
        </p:nvSpPr>
        <p:spPr>
          <a:xfrm>
            <a:off x="607136" y="4940527"/>
            <a:ext cx="1317523" cy="261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[ Submit Volumes 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20D29-CC33-8E79-DD7B-B9B4A7E9DE1F}"/>
              </a:ext>
            </a:extLst>
          </p:cNvPr>
          <p:cNvSpPr txBox="1"/>
          <p:nvPr/>
        </p:nvSpPr>
        <p:spPr>
          <a:xfrm>
            <a:off x="563506" y="2927450"/>
            <a:ext cx="56252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+----------------+---------------+-----------+------------+----------+------------------+</a:t>
            </a:r>
          </a:p>
          <a:p>
            <a:r>
              <a:rPr lang="en-US" sz="800" dirty="0"/>
              <a:t>| Submission ID  | Month         | Submitted | Test Types | Status   | Actions          |</a:t>
            </a:r>
          </a:p>
          <a:p>
            <a:r>
              <a:rPr lang="en-US" sz="800" dirty="0"/>
              <a:t>+----------------+---------------+-----------+------------+----------+------------------+</a:t>
            </a:r>
            <a:br>
              <a:rPr lang="en-US" sz="800" dirty="0"/>
            </a:br>
            <a:r>
              <a:rPr lang="en-US" sz="800" dirty="0"/>
              <a:t>| SUB-202511-KOR | November 2025 | 11/24/25  | 3          | Approved | [View] [Download]|</a:t>
            </a:r>
          </a:p>
          <a:p>
            <a:r>
              <a:rPr lang="en-US" sz="800" dirty="0"/>
              <a:t>| SUB-202510-KOR | October 2025  | 11/03/25  | 3          | Approved | [View] [Download]|</a:t>
            </a:r>
          </a:p>
          <a:p>
            <a:r>
              <a:rPr lang="en-US" sz="800" dirty="0"/>
              <a:t>| SUB-202509-KOR | September 2025| 10/02/25  | 3          | Validated| [View] [Download]|</a:t>
            </a:r>
          </a:p>
          <a:p>
            <a:r>
              <a:rPr lang="en-US" sz="800" dirty="0"/>
              <a:t>| SUB-202508-KOR | August 2025   | 09/03/25  | 3          | Flagged  | [View] [Resolve] |</a:t>
            </a:r>
          </a:p>
          <a:p>
            <a:r>
              <a:rPr lang="en-US" sz="800" dirty="0"/>
              <a:t>| SUB-202507-KOR | July 2025     | 08/04/25  | 2          | Approved | [View] [Download]|</a:t>
            </a:r>
          </a:p>
          <a:p>
            <a:r>
              <a:rPr lang="en-US" sz="800" dirty="0"/>
              <a:t>+----------------+---------------+-----------+------------+----------+------------------+</a:t>
            </a:r>
            <a:br>
              <a:rPr lang="en-US" sz="800" dirty="0"/>
            </a:br>
            <a:r>
              <a:rPr lang="en-US" sz="800" dirty="0"/>
              <a:t>Status Legend:</a:t>
            </a:r>
          </a:p>
          <a:p>
            <a:r>
              <a:rPr lang="en-US" sz="800" dirty="0"/>
              <a:t>🟢 Approved - Ready for reporting  🟡 Validated - Reviewed, pending approval</a:t>
            </a:r>
          </a:p>
          <a:p>
            <a:r>
              <a:rPr lang="en-US" sz="800" dirty="0"/>
              <a:t>🟠 Flagged - Needs attention 🔵 Submitted - Awaiting review ⚪ Draft - Not submitted</a:t>
            </a:r>
            <a:br>
              <a:rPr lang="en-US" sz="800" dirty="0"/>
            </a:br>
            <a:br>
              <a:rPr lang="en-US" sz="800" dirty="0"/>
            </a:br>
            <a:r>
              <a:rPr lang="en-US" sz="800" dirty="0"/>
              <a:t>Showing 1-5 of 12         [ ← Previous ]  Page 1 of 3  [ Next → ]</a:t>
            </a:r>
            <a:endParaRPr lang="en-US" sz="10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2B873F-C79B-AA16-6A93-5CDBBDE20210}"/>
              </a:ext>
            </a:extLst>
          </p:cNvPr>
          <p:cNvSpPr txBox="1"/>
          <p:nvPr/>
        </p:nvSpPr>
        <p:spPr>
          <a:xfrm>
            <a:off x="607136" y="5247342"/>
            <a:ext cx="5407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If No Submissions:</a:t>
            </a:r>
          </a:p>
          <a:p>
            <a:r>
              <a:rPr lang="en-US" sz="800" dirty="0"/>
              <a:t>────────────────────</a:t>
            </a:r>
          </a:p>
          <a:p>
            <a:r>
              <a:rPr lang="en-US" sz="800" dirty="0"/>
              <a:t>  📋</a:t>
            </a:r>
          </a:p>
          <a:p>
            <a:r>
              <a:rPr lang="en-US" sz="800" dirty="0"/>
              <a:t>  No submissions yet</a:t>
            </a:r>
          </a:p>
          <a:p>
            <a:r>
              <a:rPr lang="en-US" sz="800" dirty="0"/>
              <a:t>  </a:t>
            </a:r>
          </a:p>
          <a:p>
            <a:r>
              <a:rPr lang="en-US" sz="800" dirty="0"/>
              <a:t>  You haven't submitted any volumes yet.</a:t>
            </a:r>
          </a:p>
          <a:p>
            <a:r>
              <a:rPr lang="en-US" sz="800" dirty="0"/>
              <a:t>  Click "Submit New Volumes" to get started.</a:t>
            </a:r>
          </a:p>
          <a:p>
            <a:r>
              <a:rPr lang="en-US" sz="800" dirty="0"/>
              <a:t>  </a:t>
            </a:r>
          </a:p>
          <a:p>
            <a:r>
              <a:rPr lang="en-US" sz="800" dirty="0"/>
              <a:t>  [ Submit New Volumes ]</a:t>
            </a:r>
          </a:p>
        </p:txBody>
      </p:sp>
    </p:spTree>
    <p:extLst>
      <p:ext uri="{BB962C8B-B14F-4D97-AF65-F5344CB8AC3E}">
        <p14:creationId xmlns:p14="http://schemas.microsoft.com/office/powerpoint/2010/main" val="343244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2767</Words>
  <Application>Microsoft Office PowerPoint</Application>
  <PresentationFormat>Widescreen</PresentationFormat>
  <Paragraphs>424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Submission Portal - Wireframes</vt:lpstr>
      <vt:lpstr>Screen 1: Welcome / User Selection</vt:lpstr>
      <vt:lpstr>Screen 2: Submission Form</vt:lpstr>
      <vt:lpstr>Screen 3: Confirmation</vt:lpstr>
      <vt:lpstr>Screen 4: Submission History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Rolzhausen</dc:creator>
  <cp:lastModifiedBy>John Rolzhausen</cp:lastModifiedBy>
  <cp:revision>2</cp:revision>
  <dcterms:created xsi:type="dcterms:W3CDTF">2025-11-24T13:35:46Z</dcterms:created>
  <dcterms:modified xsi:type="dcterms:W3CDTF">2025-11-24T16:13:21Z</dcterms:modified>
</cp:coreProperties>
</file>